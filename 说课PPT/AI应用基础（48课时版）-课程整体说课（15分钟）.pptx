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开场30秒：报课程名+学时+面向岗位，说明说课八个环节。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框架页30秒：指读八环节与分钟归属，评委可对照打分表。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过渡：从专业人才培养方案说起。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定位页90秒：念性质定位一句，指读岗位链与证书衔接。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学情：起点/差异/对策三段，40秒。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学情三问：先讲共性起点，再讲差异，落到对策。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摸底数据卡：25%跟做保底、40%基础完成、25%标准达成、10%进阶拓展——ABCD分层就是为此设计。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目标页90秒：点读关键动词（掌握/能/养成），对应工单验收口径。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内容：模块化+剧情递进，2分钟。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模块表：自上而下讲剧情递进，每个模块挂接两江智造剧情线。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架构图：自下而上讲'数据→模型→应用'的递进逻辑，每个方块对应一周工单。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设计：六步法+ABCD+理实一体，90秒。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六步法：资讯计划课前线上完成——课堂从决策直接开始，实施占比50%。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四支柱：逐个点读——理实一体是形，ABCD是序，剧情是魂，数字化是翼。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情境说书60秒：以第1周为例讲剧情如何驱动任务。抛问'如果是你，第一步干什么？'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资源：五层资料+虚拟产线，40秒。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资源页40秒：24个notebook+13个微课+12份工单+12个starter+虚拟产线五件套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评价：过程80+结果20，90秒。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权重：过程性80%——每周工单即考；期末20%综合答辩。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评分细则：四级量表对应ABCD分层，每个等级有明确达标线。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三级质检：强调'讲得清才算会'——防抄防混。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特色：60秒收束。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特色页：点读岗课赛证创+思政+虚拟产线+分层四个亮点。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成果数据卡：41份工单+72个PPT+64个notebook+35个微课，全部可再生成。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成效页：报达标率与诊改机制，回扣定位一句话收束。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结束：感谢评委，恳请指导。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107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课程整体说课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107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48学时 · 大二 · 第5-16周（12周×4课时） · 说课时长15分钟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说课人：专业教学团队 · 依据：课程标准+授课计划+48学时实施方案 · 载体：重庆两江智造集团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说课框架（八环节 · 15分钟）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000" y="17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6000" y="18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000" y="21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性质·岗位·证书·衔接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6000" y="17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6000" y="18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000" y="21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学情分析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6000" y="2600000"/>
            <a:ext cx="32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起点·差异·对策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000" y="17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6000" y="18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000" y="21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知识·能力·素质三维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000" y="34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6000" y="35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000" y="38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内容与结构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00" y="4300000"/>
            <a:ext cx="32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模块化·剧情递进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6000" y="34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6000" y="35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000" y="38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教学设计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六步法·ABCD分层·理实一体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6000" y="34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6000" y="35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000" y="38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教学资源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五层资料·虚拟产线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000" y="51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36000" y="52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000" y="55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考核评价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过程80%·三级质检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6000" y="51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6000" y="52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6000" y="55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特色与成效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岗课赛证创·诊改闭环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6000" y="5120000"/>
            <a:ext cx="3520000" cy="15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6000" y="5300000"/>
            <a:ext cx="324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15分钟 · 八环节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6000" y="5760000"/>
            <a:ext cx="324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定位→学情→目标→内容→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设计→资源→评价→特色成效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为什么开这门课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1000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专业核心课程扩展版：48课时覆盖'数据处理→机器学习→深度学习→视觉→大模型→智能体'全谱系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6000" y="1880000"/>
            <a:ext cx="21000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6000" y="1880000"/>
            <a:ext cx="21000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学时学分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48学时（理论24+实训24）· 3学分 · 第5-16周（12周×4课时，Python开课4周后即第5周开课）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56000" y="1880000"/>
            <a:ext cx="21000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6000" y="1880000"/>
            <a:ext cx="2100000" cy="56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 → 本课 →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学情分析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学生是谁·差异在哪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学情分析：起点 · 差异 · 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0" cy="9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1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19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起点：大二，Python开课4周后即第5周开课，有Pandas/NumPy基础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00000"/>
            <a:ext cx="1500000" cy="9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2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30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差异：ML/DL/大模型经验两极分化，GPU资源有限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1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100000"/>
            <a:ext cx="1500000" cy="95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对策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000" y="41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对策：CPU优先全流程可跑+ABCD分层+虚拟产线零硬件门槛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" y="5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0475B6"/>
                </a:solidFill>
                <a:latin typeface="微软雅黑"/>
              </a:rPr>
              <a:t>→ 下一页：入学摸底分层数据，ABCD四层动态升降就是为此设计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入学摸底分层占比（%）· ABCD每4周动态升降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D层·学徒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C层·操作员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B层·组长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700000"/>
            <a:ext cx="14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A层·师傅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分层依据：入学摸底+第2周课堂观察；动态升降保公平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三维目标·可测可评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课程目标（三维可测可评）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掌握数据清洗与特征工程方法，掌握分类/集成/神经网络原理与调优…（共1条，对应工单验收口径）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能独立完成12个工单的端到端实现与评估，能做参数级工程权衡并留痕…（共1条，对应周工单+代码审查）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数据诚信与工程纪律（课程思政如盐入水）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内容与结构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教什么·怎么编排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模块化任务结构（岗课赛证融通）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3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02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0" y="1900000"/>
            <a:ext cx="2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0" y="20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周次·学时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1900000"/>
            <a:ext cx="4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2020000"/>
            <a:ext cx="4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任务内容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60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7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M1 数据处理与特征工程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0" y="260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000" y="27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第1-2周·8课时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260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27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M1-1a清洗质检；M1-1b特征优化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22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32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M2 机器学习与神经网络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0" y="322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0" y="332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第3-6周·16课时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22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0" y="332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分类/XGBoost/MLP/CNN竞标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84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394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M3 视觉与迁移学习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00000" y="384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0000" y="394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第7-8周·8课时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0" y="384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0000" y="394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ResNet小样本；YOLO实时检测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46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56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M4 NLP与大模型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0000" y="446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0" y="456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第9-10周·8课时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0000" y="446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0000" y="456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LLM故障诊断；RAG知识库问答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508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518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M5 多智能体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00000" y="508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0000" y="518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第11周·8课时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0000" y="508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0000" y="518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多智能体检修调度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000" y="570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000" y="58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综合答辩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00000" y="570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00000" y="58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第12周·4课时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0000" y="570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0000" y="58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综合项目答辩（预答辩+正式）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000" y="644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12周全谱系递进：数据→ML→DL→视觉→大模型→智能体→答辩，M1-1a至Z共12工单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课程内容架构（自下而上）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智能体层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多智能体调度(W11)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综合答辩(W12)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大模型层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LLM故障诊断(W9)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RAG知识库(W10)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视觉层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ResNet迁移(W7)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YOLO检测(W8)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分类/XGBoost(W3-4)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MLP/CNN竞标(W5-6)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清洗与特征(W1-2)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570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7575" y="576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泵站日志/缺陷图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怎么教·怎么学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教学流程设计（80分钟时间盒）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课前线上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微课+预习快问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决策矩阵·组内定方案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方案理由入工单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40′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分层做任务·双师巡诊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自检+互查签字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当堂评分+24h反馈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600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80分钟时间盒（4课时周两次课分摊）· 完整六步法课堂化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教学设计四支柱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教学设计四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理实一体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双创中心302实训室 · 讲演做一体化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ABCD分层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A进阶拓展费曼带徒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剧情载体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重庆两江智造集团12周剧情 · 真实生产关切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数字赋能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微课+notebook预习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10600000" cy="33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00" y="2740000"/>
            <a:ext cx="10100000" cy="3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剧情载体示例（第1周）：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用什么教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教学资源五层导览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教学资源五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课程文件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课程标准+授课计划 · 教学方案+分层工单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授课PPT每页讲稿 · starter代码框架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线上资源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微课知识卡+数字人版 · Jupyter实训notebook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实训环境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软件指南照做版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教材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任越美《Python程序设计 · 项目化教程》活页式 · 基础项目式教程》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考核评价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怎么考·怎么反馈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评价权重（%）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过程性·周工单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代码审查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4840000"/>
            <a:ext cx="1400000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42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学习投入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期末综合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A层·师傅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B层·组长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C层·操作员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D层·学徒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三级质检与诊改闭环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自检：工单达标自评（勾选ABCD层）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互查：组长签字——讲得清才算会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抽查：教师按ABCD分层抽人答辩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反馈：24小时内工单批注退回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诊改：周达标率连续两次&lt;70%触发台账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08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特色与成效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可复制亮点·量化成果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课程特色（可复制可推广）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岗课赛证创五维融通：W6竞标答辩制对标竞赛评审；W12答辩对标技能大赛'人工智能应用'赛项…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课程思政如盐入水：总目标：可信AI与制造强国——模型要有据可查，指标不许造假…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零硬件虚拟产线：数据生成/故障模拟/缺陷库/知识库/生产模拟五件套离线可跑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ABCD四层动态升降：每4周评一次，保底不封顶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mock LLM本地化：不联网也能教大模型应用（Prompt+RAG可信问答）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课程资源建设成果（份）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805556"/>
            <a:ext cx="1400000" cy="15944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245556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分层工单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授课PPT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911112"/>
            <a:ext cx="1400000" cy="2488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2351112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Jupyter实训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038889"/>
            <a:ext cx="1400000" cy="1361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47888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微课视频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全部与工单/课标同源自动同步——改一处全链更新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教学成效与持续改进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12工单全员D级以上达标率≥90%，答辩优秀率≥35%（扩展班口径）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三级闭环：学生评教+督导听课+企业反馈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学习投入：课前微课观看率≥85%，实训任务当堂完成率≥90%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课证赛贯通：1+X证书考核对标课内工单，W6竞标/W12答辩对标技能大赛规程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课程标准年度修订：对齐1+X大纲与载体案例库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四层教学文件开课前交叉校验（课标/计划/方案/工单）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AI应用基础（48课时版）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81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补充条款A：安全规范一票否决（红线条款）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044000"/>
            <a:ext cx="81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/>
              <a:t>本条款与「五、学习评价」联动生效：下列任一红线一经查实，对应评价项直接计0，且综合成绩判为不及格，不因其他项高分而抵消。</a:t>
            </a:r>
          </a:p>
          <a:p>
            <a:pPr>
              <a:spcAft>
                <a:spcPts val="700"/>
              </a:spcAft>
            </a:pPr>
            <a:r>
              <a:rPr sz="1300"/>
              <a:t>一票否决与学生工单「安全规范重申」五项打勾栏、教师签字栏逐条对应，任一环节缺签字即视为未完成安全准入。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81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安全红线五条（与课标补充条款A同源·逐条对应工单打勾栏）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044000"/>
            <a:ext cx="81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/>
              <a:t>红线一（安全准入缺失）：未完成任务工单「安全规范重申」五项逐条打勾并由本人签字的，不得通电上机操作；擅自操作者当次课过程性得分计0，该工单按未提交处理。</a:t>
            </a:r>
          </a:p>
          <a:p>
            <a:pPr>
              <a:spcAft>
                <a:spcPts val="700"/>
              </a:spcAft>
            </a:pPr>
            <a:r>
              <a:rPr sz="1200"/>
              <a:t>红线二（带电违规作业）：未断电即插拔电源线、网线或设备端口，私自更换插排、超功率接入大功率用电器，或擅自合闸送电的，立即中止实训并移出工位，综合成绩判为不及格。</a:t>
            </a:r>
          </a:p>
          <a:p>
            <a:pPr>
              <a:spcAft>
                <a:spcPts val="700"/>
              </a:spcAft>
            </a:pPr>
            <a:r>
              <a:rPr sz="1200"/>
              <a:t>红线三（异常未停止）：遇到冒烟、异味、异响、打火、外壳带电感或设备发热异常时，未立即停止操作、未断开本工位电源并报告指导教师而继续作业的，中止实训并计入安全违规台账。</a:t>
            </a:r>
          </a:p>
          <a:p>
            <a:pPr>
              <a:spcAft>
                <a:spcPts val="700"/>
              </a:spcAft>
            </a:pPr>
            <a:r>
              <a:rPr sz="1200"/>
              <a:t>红线四（数据与诚信违规）：未经授权拷贝或外传企业真实数据、未脱敏样本，将涉密材料上传公网仓库，伪造运行截图、代打卡、伪造他人提交与组内贡献记录的，中止实训、该项计0并报送学院处理。</a:t>
            </a:r>
          </a:p>
          <a:p>
            <a:pPr>
              <a:spcAft>
                <a:spcPts val="700"/>
              </a:spcAft>
            </a:pPr>
            <a:r>
              <a:rPr sz="1200"/>
              <a:t>红线五（6S与设备爱护缺失）：实训结束不执行整理、整顿、清扫、清洁、素养、安全六项，离场时未断电、未归位工具与耗材的，当次课6S项计0；累计3次触发者取消评优资格。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