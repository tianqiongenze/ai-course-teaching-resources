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开场30秒：报课程名+学时+面向岗位，说明说课八个环节。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框架页30秒：指读八环节与分钟归属，评委可对照打分表。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过渡：从专业人才培养方案说起。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定位页90秒：念性质定位一句，指读岗位链与证书衔接。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学情：起点/差异/对策三段，40秒。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学情三问：先讲共性起点，再讲差异，落到对策。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摸底数据卡：25%跟做保底、40%基础完成、25%标准达成、10%进阶拓展——ABCD分层就是为此设计。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目标页90秒：点读关键动词（掌握/能/养成），对应工单验收口径。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内容：模块化+剧情递进，2分钟。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模块表：自上而下讲剧情递进，每个模块挂接两江智造剧情线。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架构图：自下而上讲'数据→模型→应用'的递进逻辑，每个方块对应一周工单。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设计：六步法+ABCD+理实一体，90秒。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六步法：资讯计划课前线上完成——课堂从决策直接开始，实施占比50%。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四支柱：逐个点读——理实一体是形，ABCD是序，剧情是魂，数字化是翼。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情境说书60秒：以第1周为例讲剧情如何驱动任务。抛问'如果是你，第一步干什么？'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资源：五层资料+虚拟产线，40秒。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资源页40秒：24个notebook+12个微课+12份工单+12个starter全覆盖12周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评价：过程80+结果20，90秒。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权重：过程性80%——每周工单即考；期末20%综合答辩。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评分细则：四级量表对应ABCD分层，每个等级有明确达标线。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三级质检：强调'讲得清才算会'——防抄防混。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特色：60秒收束。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特色页：点读岗课赛证创+思政+虚拟产线+分层四个亮点。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成果数据卡：41份工单+72个PPT+64个notebook+35个微课，全部可再生成。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成效页：报达标率与诊改机制，回扣定位一句话收束。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结束：感谢评委，恳请指导。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Python编程基础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107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课程整体说课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107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48学时 · 大一新生 · 第1-12周 · 说课时长15分钟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说课人：专业教学团队 · 依据：课程标准+授课计划+48学时实施方案 · 载体：重庆两江智造集团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说课框架（八环节 · 15分钟）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36000" y="1720000"/>
            <a:ext cx="352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6000" y="1720000"/>
            <a:ext cx="3520000" cy="3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6000" y="1760000"/>
            <a:ext cx="13000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36000" y="1800000"/>
            <a:ext cx="190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约2′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6000" y="2170000"/>
            <a:ext cx="32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课程定位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6000" y="2600000"/>
            <a:ext cx="322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性质·岗位·证书·衔接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36000" y="1720000"/>
            <a:ext cx="352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36000" y="1720000"/>
            <a:ext cx="3520000" cy="3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6000" y="1760000"/>
            <a:ext cx="13000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36000" y="1800000"/>
            <a:ext cx="190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约1′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6000" y="2170000"/>
            <a:ext cx="32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学情分析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6000" y="2600000"/>
            <a:ext cx="322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起点·差异·对策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6000" y="1720000"/>
            <a:ext cx="352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6000" y="1720000"/>
            <a:ext cx="3520000" cy="3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6000" y="1760000"/>
            <a:ext cx="13000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36000" y="1800000"/>
            <a:ext cx="190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约2′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6000" y="2170000"/>
            <a:ext cx="32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课程目标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6000" y="2600000"/>
            <a:ext cx="322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知识·能力·素质三维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6000" y="3420000"/>
            <a:ext cx="352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6000" y="3420000"/>
            <a:ext cx="3520000" cy="3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6000" y="3460000"/>
            <a:ext cx="13000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36000" y="3500000"/>
            <a:ext cx="190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约3′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6000" y="3870000"/>
            <a:ext cx="32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内容与结构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000" y="4300000"/>
            <a:ext cx="322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模块化·剧情递进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36000" y="3420000"/>
            <a:ext cx="352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36000" y="3420000"/>
            <a:ext cx="3520000" cy="3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96000" y="3460000"/>
            <a:ext cx="13000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36000" y="3500000"/>
            <a:ext cx="190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约3′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96000" y="3870000"/>
            <a:ext cx="32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教学设计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96000" y="4300000"/>
            <a:ext cx="322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六步法·ABCD分层·理实一体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36000" y="3420000"/>
            <a:ext cx="352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36000" y="3420000"/>
            <a:ext cx="3520000" cy="3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96000" y="3460000"/>
            <a:ext cx="13000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6000" y="3500000"/>
            <a:ext cx="190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约1′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96000" y="3870000"/>
            <a:ext cx="32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教学资源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96000" y="4300000"/>
            <a:ext cx="322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五层资料·虚拟产线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6000" y="5120000"/>
            <a:ext cx="352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36000" y="5120000"/>
            <a:ext cx="3520000" cy="3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6000" y="5160000"/>
            <a:ext cx="13000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07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36000" y="5200000"/>
            <a:ext cx="190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约2′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6000" y="5570000"/>
            <a:ext cx="32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考核评价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6000" y="6000000"/>
            <a:ext cx="322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过程80%·三级质检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36000" y="5120000"/>
            <a:ext cx="352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336000" y="5120000"/>
            <a:ext cx="3520000" cy="3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496000" y="5160000"/>
            <a:ext cx="13000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08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36000" y="5200000"/>
            <a:ext cx="190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约1′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96000" y="5570000"/>
            <a:ext cx="32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特色与成效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96000" y="6000000"/>
            <a:ext cx="322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岗课赛证创·诊改闭环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136000" y="5120000"/>
            <a:ext cx="3520000" cy="15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76000" y="5300000"/>
            <a:ext cx="324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微软雅黑"/>
              </a:rPr>
              <a:t>15分钟 · 八环节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76000" y="5760000"/>
            <a:ext cx="324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0475B6"/>
                </a:solidFill>
                <a:latin typeface="微软雅黑"/>
              </a:rPr>
              <a:t>定位→学情→目标→内容→</a:t>
            </a:r>
          </a:p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0475B6"/>
                </a:solidFill>
                <a:latin typeface="微软雅黑"/>
              </a:rPr>
              <a:t>设计→资源→评价→特色成效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为什么开这门课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课程定位：Python编程基础（课程标准摘录）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1000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1000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1000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18400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本课程是工业互联网应用专业的核心基础课程，旨在培养面向零编程基础或基础薄弱大一新生的Python编程能力，特别是面向对象编程思想、第三方库应用和工业数据处理能力。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2836000" y="1880000"/>
            <a:ext cx="21000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36000" y="1880000"/>
            <a:ext cx="21000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36000" y="2030000"/>
            <a:ext cx="21000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66000" y="2540000"/>
            <a:ext cx="18400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工业数据采集技术员、边缘计算运维员、工业网络实施与运维工程师、工业互联网平台运维员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46000" y="1880000"/>
            <a:ext cx="21000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46000" y="1880000"/>
            <a:ext cx="21000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46000" y="2030000"/>
            <a:ext cx="21000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学时学分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76000" y="2540000"/>
            <a:ext cx="18400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48学时（理论24+实训24）· 3学分 · 第1-12周（大一新生）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56000" y="1880000"/>
            <a:ext cx="21000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256000" y="1880000"/>
            <a:ext cx="21000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56000" y="2030000"/>
            <a:ext cx="21000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86000" y="2540000"/>
            <a:ext cx="18400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Python开发职业技能等级证书（工信部）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66000" y="1880000"/>
            <a:ext cx="21000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466000" y="1880000"/>
            <a:ext cx="2100000" cy="56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66000" y="2030000"/>
            <a:ext cx="21000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96000" y="2540000"/>
            <a:ext cx="18400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计算机文化基础 → 本课 → AI应用基础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学情分析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学生是谁·差异在哪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学情分析：起点 · 差异 · 对策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9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0" cy="9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160000"/>
            <a:ext cx="138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起点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00000" y="1900000"/>
            <a:ext cx="9000000" cy="9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起点：大一新生，多数零Python基础（W4-11零基础口径），有C语言或Office经验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00000"/>
            <a:ext cx="10900000" cy="9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00000"/>
            <a:ext cx="1500000" cy="9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260000"/>
            <a:ext cx="138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差异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00000" y="3000000"/>
            <a:ext cx="9000000" cy="9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差异：入学摸底分四档，ABCD分层动态升降（每4周）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100000"/>
            <a:ext cx="10900000" cy="9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100000"/>
            <a:ext cx="1500000" cy="95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60000"/>
            <a:ext cx="138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对策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00000" y="4100000"/>
            <a:ext cx="9000000" cy="9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对策：starter防挫败+微课课前预习+双师带教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0000" y="5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1">
                <a:solidFill>
                  <a:srgbClr val="0475B6"/>
                </a:solidFill>
                <a:latin typeface="微软雅黑"/>
              </a:rPr>
              <a:t>→ 下一页：入学摸底分层数据，ABCD四层动态升降就是为此设计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入学摸底分层占比（%）· ABCD每4周动态升降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3650000"/>
            <a:ext cx="1400000" cy="17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30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D层·学徒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2600000"/>
            <a:ext cx="1400000" cy="28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C层·操作员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650000"/>
            <a:ext cx="1400000" cy="17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0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B层·组长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700000"/>
            <a:ext cx="1400000" cy="7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A层·师傅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分层依据：入学摸底+第2周课堂观察；动态升降保公平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三维目标·可测可评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课程目标（三维可测可评）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1.Python语言基础：基本语法、数据类型、运算符与表达式；控制流逻辑；函数定义与调用。…（共6条，对应工单验收口径）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1.编程能力：独立编写200-800行规范代码；设计类并实现继承多态；第12周达到PEP 8规范率9…（共5条，对应周工单+代码审查）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1.职业素养：严谨的编码习惯与工匠精神；数据安全与隐私保护意识；工程伦理。（课程思政如盐入水）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内容与结构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教什么·怎么编排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模块化任务结构（岗课赛证融通）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2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模块</a:t>
            </a:r>
          </a:p>
        </p:txBody>
      </p:sp>
      <p:sp>
        <p:nvSpPr>
          <p:cNvPr id="7" name="Rectangle 6"/>
          <p:cNvSpPr/>
          <p:nvPr/>
        </p:nvSpPr>
        <p:spPr>
          <a:xfrm>
            <a:off x="4000000" y="2000000"/>
            <a:ext cx="22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00000" y="212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周次·学时</a:t>
            </a:r>
          </a:p>
        </p:txBody>
      </p:sp>
      <p:sp>
        <p:nvSpPr>
          <p:cNvPr id="9" name="Rectangle 8"/>
          <p:cNvSpPr/>
          <p:nvPr/>
        </p:nvSpPr>
        <p:spPr>
          <a:xfrm>
            <a:off x="6200000" y="2000000"/>
            <a:ext cx="4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00000" y="2120000"/>
            <a:ext cx="4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任务内容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200000" cy="11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3010000"/>
            <a:ext cx="32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模块0 Python基础与面向对象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00000" y="2700000"/>
            <a:ext cx="2200000" cy="11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00000" y="3010000"/>
            <a:ext cx="22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第1-6周 · 24课时(12理12实)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00000" y="2700000"/>
            <a:ext cx="4400000" cy="11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00000" y="3010000"/>
            <a:ext cx="4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环境搭建、变量与数据类型；条件判断、循环与函数；设备类设计与继承体系；异常捕获与日志。工单：设备参数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800000"/>
            <a:ext cx="3200000" cy="110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4110000"/>
            <a:ext cx="32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模块1 数据结构、第三方库与网络编程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00000" y="3800000"/>
            <a:ext cx="2200000" cy="110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00000" y="4110000"/>
            <a:ext cx="22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第7-12周 · 24课时(12理12实)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00000" y="3800000"/>
            <a:ext cx="4400000" cy="110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00000" y="4110000"/>
            <a:ext cx="4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容器与正则解析；CSV/JSON清洗；故障分析词云报告；图像标注与PDF日报；Modbus+MQTT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000" y="502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12周剧情递进：告警系统→设备类→健壮采集→数据报告→综合项目，每周1工单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课程内容架构（自下而上）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2200000" cy="8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040000"/>
            <a:ext cx="22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综合应用层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000" y="186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10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40000" y="192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工业互联网采集(W11)</a:t>
            </a:r>
          </a:p>
        </p:txBody>
      </p:sp>
      <p:sp>
        <p:nvSpPr>
          <p:cNvPr id="9" name="Rectangle 8"/>
          <p:cNvSpPr/>
          <p:nvPr/>
        </p:nvSpPr>
        <p:spPr>
          <a:xfrm>
            <a:off x="8001000" y="1860000"/>
            <a:ext cx="393192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10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37575" y="1920000"/>
            <a:ext cx="3858768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综合项目(W12)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2760000"/>
            <a:ext cx="220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3000000"/>
            <a:ext cx="22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报告与文档层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000" y="282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0000" y="288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故障分析报告(W9)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1000" y="2820000"/>
            <a:ext cx="393192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37575" y="2880000"/>
            <a:ext cx="3858768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图像处理报告(W10)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3720000"/>
            <a:ext cx="2200000" cy="8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3960000"/>
            <a:ext cx="22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数据进阶层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000" y="378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40000" y="384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格式转换(W7)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01000" y="3780000"/>
            <a:ext cx="393192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37575" y="3840000"/>
            <a:ext cx="3858768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文件处理(W8)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0000" y="4680000"/>
            <a:ext cx="2200000" cy="88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000" y="4920000"/>
            <a:ext cx="22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面向对象层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000" y="4740000"/>
            <a:ext cx="3346666" cy="760000"/>
          </a:xfrm>
          <a:prstGeom prst="rect">
            <a:avLst/>
          </a:prstGeom>
          <a:solidFill>
            <a:srgbClr val="F3F6FD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40000" y="4800000"/>
            <a:ext cx="3266666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类设计(W4)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66666" y="4740000"/>
            <a:ext cx="3346666" cy="760000"/>
          </a:xfrm>
          <a:prstGeom prst="rect">
            <a:avLst/>
          </a:prstGeom>
          <a:solidFill>
            <a:srgbClr val="F3F6FD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06666" y="4800000"/>
            <a:ext cx="3266666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继承体系(W5)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133332" y="4740000"/>
            <a:ext cx="1801368" cy="760000"/>
          </a:xfrm>
          <a:prstGeom prst="rect">
            <a:avLst/>
          </a:prstGeom>
          <a:solidFill>
            <a:srgbClr val="F3F6FD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73332" y="4800000"/>
            <a:ext cx="1755648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健壮采集(W6)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0000" y="5640000"/>
            <a:ext cx="2200000" cy="8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0000" y="5880000"/>
            <a:ext cx="22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语法基础层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000" y="570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10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40000" y="576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变量与初始化(W1)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01000" y="5700000"/>
            <a:ext cx="393192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10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37575" y="5760000"/>
            <a:ext cx="3858768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分支循环告警(W2-3)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000" y="1800000"/>
            <a:ext cx="20000" cy="470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27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教学设计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怎么教·怎么学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27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教学流程设计（80分钟时间盒）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课前线上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微课+预习快问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计划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决策矩阵·组内定方案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方案理由入工单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40′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分层做任务·双师巡诊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自检+互查签字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当堂评分+24h反馈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600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80分钟时间盒（4课时周两次课分摊）· 完整六步法课堂化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27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教学设计四支柱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教学设计四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支柱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理实一体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双创中心302实训室 · 讲演做一体化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ABCD分层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A进阶拓展费曼带徒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剧情载体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重庆两江智造集团12周剧情 · 真实生产关切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数字赋能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虚拟产线五件套 · 微课+notebook预习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27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10600000" cy="33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0000" y="2740000"/>
            <a:ext cx="10100000" cy="30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剧情载体示例（第1周）：入职第一天，王主任把小郑领到中控室：'十台注塑机的铭牌参数还在Excel里躺了三年。'你的第一份工作不是写大程序——工单0.1：用Python把设备参数存进程序、打出一张像样的数字台账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27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教学资源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用什么教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27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教学资源五层导览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教学资源五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课程文件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课程标准+授课计划 · 教学方案+分层工单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课堂资料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授课PPT每页讲稿 · starter代码框架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线上资源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微课知识卡+数字人版 · Jupyter实训notebook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实训环境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虚拟产线五件套 · 软件指南照做版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教材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任越美《Python程序设计 · 项目化教程》活页式 · 基础项目式教程》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27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考核评价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怎么考·怎么反馈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27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评价权重（%）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过程性·周工单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4280000"/>
            <a:ext cx="1400000" cy="112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372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代码审查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4840000"/>
            <a:ext cx="1400000" cy="56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42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学习投入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280000"/>
            <a:ext cx="1400000" cy="112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372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期末综合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27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A层·师傅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B层·组长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C层·操作员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D层·学徒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27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三级质检与诊改闭环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自检：工单达标自评（勾选ABCD层）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互查：组长签字——讲得清才算会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抽查：教师按ABCD分层抽人答辩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反馈：24小时内工单批注退回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诊改：周达标率连续两次&lt;70%触发台账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27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08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特色与成效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可复制亮点·量化成果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27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课程特色（可复制可推广）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岗课赛证创五维融通：优秀层任务对标蓝桥杯Python程序设计组与省级程序设计赛；W12综合项目按竞赛评审制组织答辩…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课程思政如盐入水：总目标：工匠精神立码——规范命名、报错必究、版本可溯；做诚实的工程师…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零硬件虚拟产线：数据生成/故障模拟/缺陷库/知识库/生产模拟五件套离线可跑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ABCD四层动态升降：每4周评一次，保底不封顶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配套资料与工单/PPT同源自动同步，改一处全链更新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27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课程资源建设成果（份）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3805556"/>
            <a:ext cx="1400000" cy="15944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3245556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分层工单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2600000"/>
            <a:ext cx="1400000" cy="28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72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授课PPT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2911112"/>
            <a:ext cx="1400000" cy="24888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2351112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Jupyter实训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038889"/>
            <a:ext cx="1400000" cy="13611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3478889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微课视频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全部与工单/课标同源自动同步——改一处全链更新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27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教学成效与持续改进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周达标率≥90%，期末综合项目一次通过率≥85%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三级闭环：学生评教+督导听课+企业反馈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学习投入：课前微课观看率≥85%，实训任务当堂完成率≥90%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课证赛贯通：1+X证书考核对标课内工单，W6竞标/W12答辩对标技能大赛规程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1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0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课程标准年度修订：对齐1+X大纲与载体案例库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8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7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四层教学文件开课前交叉校验（课标/计划/方案/工单）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27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