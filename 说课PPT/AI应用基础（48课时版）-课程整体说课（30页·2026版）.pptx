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869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AI </a:t>
            </a:r>
            <a:r>
              <a:rPr lang="zh-CN" sz="4400" b="1">
                <a:solidFill>
                  <a:srgbClr val="FFFFFF"/>
                </a:solidFill>
                <a:latin typeface="微软雅黑" panose="020B0503020204020204" charset="-122"/>
              </a:rPr>
              <a:t>技术</a:t>
            </a:r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应用基础（48课时版）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2331720"/>
            <a:ext cx="1463040" cy="54864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C8D4E4"/>
                </a:solidFill>
                <a:latin typeface="微软雅黑" panose="020B0503020204020204" charset="-122"/>
              </a:rPr>
              <a:t>课 程 整 体 说 课</a:t>
            </a:r>
            <a:endParaRPr sz="2600" b="0">
              <a:solidFill>
                <a:srgbClr val="C8D4E4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A6A6"/>
                </a:solidFill>
                <a:latin typeface="微软雅黑" panose="020B0503020204020204" charset="-122"/>
              </a:rPr>
              <a:t>48 学时 · 3 学分 · 第7周起（跳过第8、9周）· 第10-20周 · 12周×4课时 · 大一 · 说课时长 15 分钟</a:t>
            </a:r>
            <a:endParaRPr sz="1500" b="0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0515600" cy="1051560"/>
          </a:xfrm>
          <a:prstGeom prst="roundRect">
            <a:avLst/>
          </a:prstGeom>
          <a:solidFill>
            <a:srgbClr val="0B1438"/>
          </a:solidFill>
          <a:ln w="12700">
            <a:solidFill>
              <a:srgbClr val="2A3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9768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8C4D8"/>
                </a:solidFill>
                <a:latin typeface="微软雅黑" panose="020B0503020204020204" charset="-122"/>
              </a:rPr>
              <a:t>剧情载体：重庆两江智造集团 · 设备智能运维中心</a:t>
            </a:r>
            <a:endParaRPr sz="1300" b="0">
              <a:solidFill>
                <a:srgbClr val="B8C4D8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B8C4D8"/>
                </a:solidFill>
                <a:latin typeface="微软雅黑" panose="020B0503020204020204" charset="-122"/>
              </a:rPr>
              <a:t>课程代码 B46010304X ｜ 教材：人工智能应用基础项目式教程（程显毅 等）</a:t>
            </a:r>
            <a:endParaRPr sz="1300" b="0">
              <a:solidFill>
                <a:srgbClr val="B8C4D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97B5"/>
                </a:solidFill>
                <a:latin typeface="微软雅黑" panose="020B0503020204020204" charset="-122"/>
              </a:rPr>
              <a:t>重庆现代制造职业学院 ｜ 智能控制学院 · 工业互联网应用专业教学团队</a:t>
            </a:r>
            <a:endParaRPr sz="12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说课框架（八环节 · 15 分钟）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以「为什么开 → 教什么 → 怎么教 → 怎么评」为主线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0" y="1444752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2′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1947672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课程定位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441448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性质·岗位·证书·衔接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1417320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444752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1444752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1.5′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47872" y="1947672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学情分析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47872" y="2441448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起点·差异·对策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1417320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417320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444752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279" y="1444752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1.5′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82512" y="1947672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课程目标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82512" y="2441448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知识·能力·素质三维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52560" y="1417320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0" y="1417320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444752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0" y="1444752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2′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17152" y="1947672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内容与结构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17152" y="2441448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五模块 12 工单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3822191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822191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4962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86000" y="3849624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3′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3232" y="4352544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教学设计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3232" y="4846320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六步法·ABCD·剧情载体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83280" y="3822191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83280" y="3822191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384962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20640" y="3849624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1.5′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47872" y="4352544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教学资源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47872" y="4846320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五层资源体系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17920" y="3822191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7920" y="3822191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84962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55279" y="3849624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2.5′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82512" y="4352544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考核评价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82512" y="4846320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平时40+表现10+项目30+期末20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052560" y="3822191"/>
            <a:ext cx="2651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52560" y="3822191"/>
            <a:ext cx="2651760" cy="38404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3849624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789920" y="3849624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217152" y="4352544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10328"/>
                </a:solidFill>
                <a:latin typeface="微软雅黑" panose="020B0503020204020204" charset="-122"/>
              </a:rPr>
              <a:t>特色与成效</a:t>
            </a:r>
            <a:endParaRPr sz="17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17152" y="4846320"/>
            <a:ext cx="2322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五维融通·量化成果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01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课程定位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为什么开这门课 · 为谁而开 · 上与下的衔接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3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课程基本信息（课程标准摘录）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数据来源：工业互联网专业《AI应用基础（48课时版）》课程标准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4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  <a:gridCol w="1645920"/>
                <a:gridCol w="3886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课程代码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B46010304X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开课学院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智能控制学院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课程名称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AI 应用基础（48课时版）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学分 / 总学时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3 学分 / 48 学时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理论 / 实训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24 学时 / 24 学时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课时标准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每课时 40 分钟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开课时间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第7周起（跳过第8、9周）
第10-20周 · 12周×4课时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开课方式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与《Python 编程基础》并行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面向岗位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AI应用工程师 · 智能系统设计员
工业视觉系统开发员 · 工业互联网数据分析师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使用教材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《人工智能应用基础项目式教程》
程显毅 等 · 机械工业出版社 2025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课程定位：性质 · 岗位 · 证书 · 衔接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岗课赛证创五维融通，服务智能制造数字化转型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5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课程性质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专业核心课程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扩展版（48课时）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覆盖「数据处理→机器学习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→深度学习→视觉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→大模型→智能体」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全链路，理实一体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90138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0138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面向岗位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73018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① AI 应用工程师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② 智能系统设计员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③ 工业视觉系统开发员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④ 工业互联网数据分析师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对接设备智能运维中心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真实业务场景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1636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5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对接证书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14516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对接 1+X 相关职业技能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等级标准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对标技能大赛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「人工智能应用」赛项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竞赛项目转化为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课堂竞标与答辩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73134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73134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4574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课程衔接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56013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前续：Python 编程基础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（第 4 周起并行）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后续：Python 程序设计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（项目实战）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数据 → 模型 → 部署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能力递进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02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学情分析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学生是谁 · 差异在哪 · 我们怎么办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6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学情分析：起点 · 差异 · 对策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面向大一扩展班的差异化设计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7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548640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40080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起点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31520" y="2029967"/>
            <a:ext cx="3166872" cy="1889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大</a:t>
            </a:r>
            <a:r>
              <a:rPr lang="zh-CN" sz="1200" b="0">
                <a:solidFill>
                  <a:srgbClr val="44546A"/>
                </a:solidFill>
                <a:latin typeface="微软雅黑" panose="020B0503020204020204" charset="-122"/>
              </a:rPr>
              <a:t>一</a:t>
            </a: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学生，第 </a:t>
            </a:r>
            <a:r>
              <a:rPr lang="en-US" sz="1200" b="0">
                <a:solidFill>
                  <a:srgbClr val="44546A"/>
                </a:solidFill>
                <a:latin typeface="微软雅黑" panose="020B0503020204020204" charset="-122"/>
              </a:rPr>
              <a:t>7</a:t>
            </a: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周起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与《Python 编程基础》并行开课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已具备：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· 变量/条件/循环/函数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· Pandas / NumPy 基础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· 双创中心 302 实训环境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37304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337304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428744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差异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20184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ML / DL / 大模型经验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两极分化明显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· 少数学生有自学与竞赛基础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· 多数零基础、畏难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· GPU 资源有限（以 CPU 为主）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125968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125968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217408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对策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308847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① ABCD 四层分层任务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② 合成数据 + CPU 离线可跑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③ 双解互验降低理解门槛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④ 剧情载体降低陌生感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⑤ 游戏化互动提升参与度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入学摸底分层占比（%）· ABCD 每 4 周动态升降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分层依据：入学摸底 + 第 2 周课堂观察；动态升降保障公平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8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0A6A6"/>
                </a:solidFill>
                <a:latin typeface="微软雅黑" panose="020B0503020204020204" charset="-122"/>
              </a:rPr>
              <a:t>25%</a:t>
            </a:r>
            <a:endParaRPr sz="40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D 层 · 学徒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跟做保底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≥60 分达标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01568" y="14173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7276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0A6A6"/>
                </a:solidFill>
                <a:latin typeface="微软雅黑" panose="020B0503020204020204" charset="-122"/>
              </a:rPr>
              <a:t>40%</a:t>
            </a:r>
            <a:endParaRPr sz="40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01568" y="24871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C 层 · 操作员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4448" y="2907792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独立完成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≥70 分达标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57276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0A6A6"/>
                </a:solidFill>
                <a:latin typeface="微软雅黑" panose="020B0503020204020204" charset="-122"/>
              </a:rPr>
              <a:t>25%</a:t>
            </a:r>
            <a:endParaRPr sz="40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54496" y="24871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B 层 · 组长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7376" y="2907792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全功能+规范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≥80 分达标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07424" y="14173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57276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5670F"/>
                </a:solidFill>
                <a:latin typeface="微软雅黑" panose="020B0503020204020204" charset="-122"/>
              </a:rPr>
              <a:t>10%</a:t>
            </a:r>
            <a:endParaRPr sz="40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07424" y="24871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10328"/>
                </a:solidFill>
                <a:latin typeface="微软雅黑" panose="020B0503020204020204" charset="-122"/>
              </a:rPr>
              <a:t>A 层 · 师傅</a:t>
            </a:r>
            <a:endParaRPr sz="15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90303" y="2907792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进阶拓展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≥90 分达标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3977639"/>
            <a:ext cx="11109960" cy="16002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分层不是贴标签，而是「同题不同标」：同一份工单设置及格线与优秀线，D 层跟做即可达标，A 层需完成进阶拓展并做 2 分钟费曼展示。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每 4 周依据工单达标情况动态升降，避免「一次分层定终身」。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03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课程目标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三维目标 · 可测可评 · 与工单和考核一一对应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9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课程目标（三维可测可评）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每条目标均落到具体工单与考核证据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10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326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知识目标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31668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掌握数据清洗与特征工程方法；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掌握分类 / 集成 / 神经网络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原理与调优；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掌握视觉检测、迁移学习、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大模型与 RAG 的基本原理；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理解多智能体调度思想。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37304" y="1371600"/>
            <a:ext cx="35326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7304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744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能力目标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0184" y="2029967"/>
            <a:ext cx="31668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能独立完成 12 个工单的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端到端实现与评估；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能做参数级工程权衡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并留痕（精度-工时两本账）；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能交付可复现的工程化项目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并完成答辩。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5968" y="1371600"/>
            <a:ext cx="3532632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5968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素质目标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8847" y="2029967"/>
            <a:ext cx="31668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可信 AI 与制造强国：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模型要有据可查，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指标不许造假；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数据素养与工程伦理；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团队协作与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「讲得清才算会」。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11109960" cy="109728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33806"/>
                </a:solidFill>
                <a:latin typeface="微软雅黑" panose="020B0503020204020204" charset="-122"/>
              </a:rPr>
              <a:t>研究与创新 / 可持续发展：课程设「决策矩阵」与「竞标答辩」环节，鼓励学生在约束下做权衡与创新；课后以微课+分层任务支持自主拓展。</a:t>
            </a:r>
            <a:endParaRPr sz="1300" b="0">
              <a:solidFill>
                <a:srgbClr val="63380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目标 — 工单 — 考核 对应矩阵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每一个目标都有落地的工单与可量化的考核证据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11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389120"/>
                <a:gridCol w="2880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课程目标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支撑工单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考核证据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知识目标：数据处理与特征工程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M1-1a 清洗质检 · M1-1b 特征优化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工单评分 + 期末考试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知识目标：机器学习与神经网络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M2-1 LR/DT · M2-2 XGBoost · M2-3 MLP/竞标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工单评分 + 期末考试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能力目标：视觉与大模型落地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M3-1 迁移 · M3-2 YOLO · M4-1 LLM · M4-2 RAG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工单评分 + 小组项目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能力目标：端到端工程交付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M5-1 多智能体 · Z 综合答辩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小组项目 + 答辩评审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素质目标：可信 AI / 团队协作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全部工单 + 小组项目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课堂表现 + 项目评审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04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内容与结构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五个模块 + 综合答辩 · 12 周 × 4 课时 = 48 学时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12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模块化任务结构（岗课赛证创融通）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12 周 12 份工单，模块递进：数据 → 模型 → 视觉 → 大模型 → 智能体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13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103120"/>
                <a:gridCol w="39776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模块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课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次 · 学时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工单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任务主题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 数据处理与特征工程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W1-W2 · 8 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M1-1a / M1-1b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数据清洗与质量评估；特征设计与优化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 机器学习与神经网络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W3-W6 · 16 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M2-1 / 2 / 3a / 3b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LR+DT；XGBoost 限时调优；MLP；CNN/LSTM 竞标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 计算机视觉与迁移学习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W7-W8 · 8 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M3-1 / M3-2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ResNet 小样本迁移；YOLO 实时缺陷检测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M4 NLP 与大模型应用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W9-W10 · 8 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M4-1 / M4-2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LLM + Prompt 三模板；RAG 带引用问答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M5 多智能体与强化学习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W11 · 4 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M5-1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gym-industrial 检修调度策略对照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综合答辩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W12 · 4 课时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Z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第 23 次预答辩 / 第 24 次正式答辩</a:t>
                      </a:r>
                      <a:endParaRPr sz="115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课程内容架构（自下而上五层）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从数据到智能体，能力逐层叠加，每层都有可交付工单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14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63039" y="2542032"/>
            <a:ext cx="6583680" cy="512064"/>
          </a:xfrm>
          <a:prstGeom prst="roundRect">
            <a:avLst/>
          </a:prstGeom>
          <a:solidFill>
            <a:srgbClr val="23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39" y="254203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智能体层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2542032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8E4F0"/>
                </a:solidFill>
                <a:latin typeface="微软雅黑" panose="020B0503020204020204" charset="-122"/>
              </a:rPr>
              <a:t>多智能体调度（W11） · 综合答辩（W12）</a:t>
            </a:r>
            <a:endParaRPr sz="1100" b="0">
              <a:solidFill>
                <a:srgbClr val="D8E4F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463039" y="3227832"/>
            <a:ext cx="6583680" cy="512064"/>
          </a:xfrm>
          <a:prstGeom prst="round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39" y="322783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大模型层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3227832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8E4F0"/>
                </a:solidFill>
                <a:latin typeface="微软雅黑" panose="020B0503020204020204" charset="-122"/>
              </a:rPr>
              <a:t>LLM 故障诊断（W9） · RAG 知识库问答（W10）</a:t>
            </a:r>
            <a:endParaRPr sz="1100" b="0">
              <a:solidFill>
                <a:srgbClr val="D8E4F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63039" y="3913632"/>
            <a:ext cx="6583680" cy="512064"/>
          </a:xfrm>
          <a:prstGeom prst="round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39" y="391363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视觉层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03520" y="3913632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8E4F0"/>
                </a:solidFill>
                <a:latin typeface="微软雅黑" panose="020B0503020204020204" charset="-122"/>
              </a:rPr>
              <a:t>ResNet 迁移（W7） · YOLO 检测（W8）</a:t>
            </a:r>
            <a:endParaRPr sz="1100" b="0">
              <a:solidFill>
                <a:srgbClr val="D8E4F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463039" y="4599432"/>
            <a:ext cx="6583680" cy="512064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39" y="459943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机器学习层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4599432"/>
            <a:ext cx="25603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8E4F0"/>
                </a:solidFill>
                <a:latin typeface="微软雅黑" panose="020B0503020204020204" charset="-122"/>
              </a:rPr>
              <a:t>LR/DT（W3） · XGBoost（W4） · MLP/竞标（W5-W6）</a:t>
            </a:r>
            <a:endParaRPr sz="1100" b="0">
              <a:solidFill>
                <a:srgbClr val="D8E4F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5285232"/>
            <a:ext cx="8412480" cy="512064"/>
          </a:xfrm>
          <a:prstGeom prst="round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数据层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5285232"/>
            <a:ext cx="43891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8E4F0"/>
                </a:solidFill>
                <a:latin typeface="微软雅黑" panose="020B0503020204020204" charset="-122"/>
              </a:rPr>
              <a:t>数据清洗（W1） · 特征工程（W2）</a:t>
            </a:r>
            <a:endParaRPr sz="1100" b="0">
              <a:solidFill>
                <a:srgbClr val="D8E4F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235440" y="2542032"/>
            <a:ext cx="2423160" cy="331012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697480"/>
            <a:ext cx="2103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递进逻辑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下层不牢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上层难稳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数据质量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决定模型上限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每层都有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可运行交付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12 周教学进度表（授课计划核心）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第7周起（跳过第8、9周）· 第10-20周 · 每周2次课×80分钟 · 共24次课48学时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15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98448"/>
          <a:ext cx="1110996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572000"/>
                <a:gridCol w="1234440"/>
                <a:gridCol w="44805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周次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模块 / 主题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工单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教学要点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M1-1a 数据清洗与质量评估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M1-1a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三类脏数据 · 质量分 · 双解互验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W2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M1-1b 特征设计与优化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M1-1b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时域+频域特征 · 二倍频指纹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W3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M2-1a 传统分类：LR + DT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M2-1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混淆矩阵 · 漏报单独统计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W4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M2-2 XGBoost 调优与工时账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M2-2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GridSearch vs RandomizedSearch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W5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M2-3a MLP 神经网络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M2-3a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损失曲线诊断 · 早停与正则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W6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M2-3b 竞标：CNN 或 LSTM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M2-3b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双路线基线 · 证据化竞标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W7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M3-1 ResNet 迁移（概念版）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M3-1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冻结特征 · 维度灾难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W8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M3-2 YOLO 实时缺陷检测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M3-2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滑窗+阈值+IoU+FPS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W9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M4-1 LLM 故障诊断·三版 Prompt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M4-1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朴素/角色/示例 Few-shot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W10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M4-2 RAG 知识库问答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M4-2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切分→检索→引用 · 防幻觉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W11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M5-1 多智能体检修调度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M5-1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三策略对照 · 奖励≠KPI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W12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综合项目答辩（预答辩/正式）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Z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档案袋自检 · 评委三问</a:t>
                      </a:r>
                      <a:endParaRPr sz="10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05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教学设计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怎么教 · 怎么学 · 80 分钟怎么用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16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教学流程设计（80 分钟时间盒 · 六步法）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课前线上预习 → 课堂六步闭环 → 课后工单延伸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17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4859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84248"/>
            <a:ext cx="13761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资讯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2423160"/>
            <a:ext cx="13395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课前线上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微课+预习快问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（线上完成）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89988" y="233172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55748" y="1874519"/>
            <a:ext cx="14859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0612" y="1984248"/>
            <a:ext cx="13761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计划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8900" y="2423160"/>
            <a:ext cx="13395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10′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决策矩阵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组内定方案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59935" y="233172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25696" y="1874519"/>
            <a:ext cx="14859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984248"/>
            <a:ext cx="13761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决策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98848" y="2423160"/>
            <a:ext cx="13395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10′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方案理由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写入工单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29883" y="233172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5644" y="1874519"/>
            <a:ext cx="14859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7" y="1984248"/>
            <a:ext cx="13761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实施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68796" y="2423160"/>
            <a:ext cx="13395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40′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分层做任务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双师巡诊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99831" y="233172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65592" y="1874519"/>
            <a:ext cx="14859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984248"/>
            <a:ext cx="13761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检查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38744" y="2423160"/>
            <a:ext cx="13395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15′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三级质检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抽人答辩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69780" y="233172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035540" y="1874519"/>
            <a:ext cx="14859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0404" y="1984248"/>
            <a:ext cx="13761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评价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108692" y="2423160"/>
            <a:ext cx="13395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5′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复盘口诀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游戏计分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85800" y="3977639"/>
            <a:ext cx="11109960" cy="16002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114800"/>
            <a:ext cx="106070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第 1-6 周采用「三步式四步法」（讲 → 演 → 模仿 → 练习），降低零基础学生的认知负荷；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第 7-12 周过渡到完整「六步法」（资讯-计划-决策-实施-检查-评价），对接企业工作过程。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每个环节都有可交付物：计划=决策矩阵，实施=工单代码，检查=测试证据，评价=复盘口诀。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教学设计四支柱 · 剧情载体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理实一体 · ABCD 分层 · 剧情载体 · 双师巡诊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18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8546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理实一体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2219706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双创中心 302 实训室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讲 / 演 / 做 一体化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每课时 40 分钟，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理论与实训 1:1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（24 + 24 学时）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90138" y="1371600"/>
            <a:ext cx="258546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0138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ABCD 分层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73018" y="2029967"/>
            <a:ext cx="2219706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D 跟做保底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C 独立完成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B 全功能+规范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A 进阶+费曼带徒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同题不同标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每 4 周动态升降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1636" y="1371600"/>
            <a:ext cx="258546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5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剧情载体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14516" y="2029967"/>
            <a:ext cx="2219706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重庆两江智造集团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· 设备智能运维中心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12 周连续剧情：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泵站 / 风机 / 焊缝 /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报修单 / 检修调度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73134" y="1371600"/>
            <a:ext cx="258546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73134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4574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双师巡诊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56013" y="2029967"/>
            <a:ext cx="2219706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主讲 1 名（ML/DL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工业应用 3 年+）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实训指导 1 名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企业导师线上答疑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巡诊：按分层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抽人答辩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4069080"/>
            <a:ext cx="11109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10607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剧情载体示例（第 1 周）：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「两江智造集团设备智能运维中心」泵站日志天然带脏——缺测、超限、负值、重复。作为数据工程师，你要交付一版可量化的清洗与质量评分方案，并让纯 Python 与 Pandas 两种解法互相验证。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06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教学资源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五层资源体系 · 与工单/课标同源自动同步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19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教学资源五层导览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从课程文件到数字人微课，覆盖课前-课中-课后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20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417320"/>
            <a:ext cx="11109960" cy="74980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548640" y="1417320"/>
            <a:ext cx="1691640" cy="74980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548640" y="1417320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课程文件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2468880" y="1417320"/>
            <a:ext cx="9052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课程标准 + 授课计划 · 教学方案 + 12 份分层工单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548640" y="2286000"/>
            <a:ext cx="11109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548640" y="2286000"/>
            <a:ext cx="1691640" cy="74980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48640" y="2286000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课堂资料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468880" y="2286000"/>
            <a:ext cx="9052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24 个授课 PPT（每页讲稿备注）· </a:t>
            </a:r>
            <a:r>
              <a:rPr sz="1300" b="0">
                <a:solidFill>
                  <a:srgbClr val="FF0000"/>
                </a:solidFill>
                <a:latin typeface="微软雅黑" panose="020B0503020204020204" charset="-122"/>
              </a:rPr>
              <a:t>学生代码框架 starter</a:t>
            </a:r>
            <a:endParaRPr sz="1300" b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548640" y="3154680"/>
            <a:ext cx="11109960" cy="74980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548640" y="3154680"/>
            <a:ext cx="1691640" cy="74980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548640" y="3154680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代码资源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2468880" y="3154680"/>
            <a:ext cx="9052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0000"/>
                </a:solidFill>
                <a:latin typeface="微软雅黑" panose="020B0503020204020204" charset="-122"/>
              </a:rPr>
              <a:t>12 个工程化项目（企业级结构）</a:t>
            </a: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· 教师版多解法手册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548640" y="4023359"/>
            <a:ext cx="11109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548640" y="4023359"/>
            <a:ext cx="1691640" cy="74980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548640" y="4023359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线上资源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2468880" y="4023359"/>
            <a:ext cx="9052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0000"/>
                </a:solidFill>
                <a:latin typeface="微软雅黑" panose="020B0503020204020204" charset="-122"/>
              </a:rPr>
              <a:t>24 个 Jupyter 实训 notebook </a:t>
            </a: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· 12 个配音微课知识卡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548640" y="4892040"/>
            <a:ext cx="11109960" cy="749808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548640" y="4892040"/>
            <a:ext cx="1691640" cy="74980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548640" y="4892040"/>
            <a:ext cx="1691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拓展资源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2468880" y="4892040"/>
            <a:ext cx="9052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4546A"/>
                </a:solidFill>
                <a:latin typeface="微软雅黑" panose="020B0503020204020204" charset="-122"/>
              </a:rPr>
              <a:t>校园生活智能体 3 个 Skill · 期末小组项目册 20 选 1</a:t>
            </a:r>
            <a:endParaRPr sz="13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教学资源建设成果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全部与工单 / 课标同源自动同步 —— 改一处，全链更新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21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0A6A6"/>
                </a:solidFill>
                <a:latin typeface="微软雅黑" panose="020B0503020204020204" charset="-122"/>
              </a:rPr>
              <a:t>24</a:t>
            </a:r>
            <a:endParaRPr sz="40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授课 PPT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23160" y="141732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563624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10328"/>
                </a:solidFill>
                <a:latin typeface="微软雅黑" panose="020B0503020204020204" charset="-122"/>
              </a:rPr>
              <a:t>12</a:t>
            </a:r>
            <a:endParaRPr sz="40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3160" y="237744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分层工单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97679" y="141732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563624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231D3D"/>
                </a:solidFill>
                <a:latin typeface="微软雅黑" panose="020B0503020204020204" charset="-122"/>
              </a:rPr>
              <a:t>12</a:t>
            </a:r>
            <a:endParaRPr sz="4000" b="1">
              <a:solidFill>
                <a:srgbClr val="231D3D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79" y="237744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工程化项目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199" y="141732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563624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4477D"/>
                </a:solidFill>
                <a:latin typeface="微软雅黑" panose="020B0503020204020204" charset="-122"/>
              </a:rPr>
              <a:t>24</a:t>
            </a:r>
            <a:endParaRPr sz="4000" b="1">
              <a:solidFill>
                <a:srgbClr val="1447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72199" y="237744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Jupyter 实训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46719" y="141732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563624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0B5E54"/>
                </a:solidFill>
                <a:latin typeface="微软雅黑" panose="020B0503020204020204" charset="-122"/>
              </a:rPr>
              <a:t>12</a:t>
            </a:r>
            <a:endParaRPr sz="4000" b="1">
              <a:solidFill>
                <a:srgbClr val="0B5E54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9" y="237744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配音微课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921240" y="1417320"/>
            <a:ext cx="1691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563624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5670F"/>
                </a:solidFill>
                <a:latin typeface="微软雅黑" panose="020B0503020204020204" charset="-122"/>
              </a:rPr>
              <a:t>40</a:t>
            </a:r>
            <a:endParaRPr sz="40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21240" y="237744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互动游戏课件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11109960" cy="1874519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40480"/>
            <a:ext cx="105156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资源建设标准与工程规范：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· 工程化项目遵循 GB/T 8566（过程）、GB/T 9385（需求规格）、GB/T 15532（测试）、GB/T 8567（文档）与 TOGAF 四域架构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· 每个工单配 starter 代码框架（TODO 骨架）、教师参考实现与工程化项目三种形态，三形态同源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· 依赖精确版本锁定，离线可跑（conda activate ai48），课堂结果可复现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F3A5C"/>
                </a:solidFill>
                <a:latin typeface="微软雅黑" panose="020B0503020204020204" charset="-122"/>
              </a:rPr>
              <a:t>07</a:t>
            </a:r>
            <a:endParaRPr sz="9600" b="1">
              <a:solidFill>
                <a:srgbClr val="1F3A5C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0" y="2395728"/>
            <a:ext cx="54864" cy="9144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20440" y="2395728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考核评价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3101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97B5"/>
                </a:solidFill>
                <a:latin typeface="微软雅黑" panose="020B0503020204020204" charset="-122"/>
              </a:rPr>
              <a:t>平时 40 + 课堂表现 10 + 小组项目 30 + 期末考试 20</a:t>
            </a:r>
            <a:endParaRPr sz="15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548640"/>
            <a:ext cx="2194560" cy="5760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课程定位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学情分析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课程目标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内容与结构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教学设计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教学资源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▶ 考核评价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00" b="0">
                <a:solidFill>
                  <a:srgbClr val="6C7C9C"/>
                </a:solidFill>
                <a:latin typeface="微软雅黑" panose="020B0503020204020204" charset="-122"/>
              </a:rPr>
              <a:t>   特色与成效</a:t>
            </a:r>
            <a:endParaRPr sz="1200" b="0">
              <a:solidFill>
                <a:srgbClr val="6C7C9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A5878"/>
                </a:solidFill>
                <a:latin typeface="微软雅黑" panose="020B0503020204020204" charset="-122"/>
              </a:rPr>
              <a:t>22 / 30</a:t>
            </a:r>
            <a:endParaRPr sz="10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课程考核方案（总分 100 分）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过程性评价与终结性评价结合，突出工程实践能力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23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72768"/>
          <a:ext cx="10652759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234440"/>
                <a:gridCol w="1051559"/>
                <a:gridCol w="58978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考核项目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分值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占比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考核内容与依据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平时成绩（工单）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40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40%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10 次工单（每次 4 分）：实现正确性 + 代码规范 + 过程留痕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课堂表现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10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10%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出勤 · 课堂参与 · 互动游戏 · 答问与费曼展示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小组项目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30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30%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期末小组项目册 20 选 1：代码 + README + 答辩（</a:t>
                      </a:r>
                      <a:r>
                        <a:rPr lang="en-US"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 人/组）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期末考试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20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20%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第 12 教学周统一组织：覆盖知识目标与实践能力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合计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100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各周工单达 D 级及以上 + 综合成绩 ≥ 60 分为通过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623560"/>
            <a:ext cx="10652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7B5"/>
                </a:solidFill>
                <a:latin typeface="微软雅黑" panose="020B0503020204020204" charset="-122"/>
              </a:rPr>
              <a:t>说明：本方案在课程标准原「过程性 80% + 期末 20%」框架下细化为四类可量化项目，权重合计 100%。</a:t>
            </a:r>
            <a:endParaRPr sz="11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平时成绩（40 分）：10 次工单，每次 4 分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工单是过程性评价主载体，含及格线/优秀线双层标准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24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计分规则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共 12 份工单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（W1-W11 + W12 答辩工单）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平时成绩取其中 10 次工单核算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每次满分 4 分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合计 40 分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第 12 周答辩工单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计入「小组项目」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37304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7304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744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评分维度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0184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① 实现正确性（1.6 分）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　测试通过 / 结果符合口径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② 代码规范（1.2 分）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　命名/注释/结构/无 TODO 遗留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③ 过程留痕（1.2 分）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　决策理由 + 报告 + 数据记录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5968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5968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达标标准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8847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A 层 ≥ 3.6 分（90%）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B 层 ≥ 3.2 分（80%）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C 层 ≥ 2.8 分（70%）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D 层 ≥ 2.4 分（60%）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每周 24 小时内反馈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第 5 周中期诊断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小组项目（30 分）：期末项目册 20 选 1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3-4 人/组 · 第18周选题 · 第20周与Z工单合流答辩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25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0866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项目要素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要求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分值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选题与分工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20 个真实场景项目选 1；Git 记录即分工铁证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6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功能实现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需求清单逐条验收；一键可运行（离线 CPU）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10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工程规范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README 三段 + 代码结构 + 依赖锁定 + 无硬编码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6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答辩表现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≤6 组 8+5 分钟；&gt;6 组 5+3 分钟 + 视频预收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8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206240"/>
            <a:ext cx="11109960" cy="13716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33806"/>
                </a:solidFill>
                <a:latin typeface="微软雅黑" panose="020B0503020204020204" charset="-122"/>
              </a:rPr>
              <a:t>硬性要求：代码须上传 GitHub 或 Gitee 仓库，答辩现场克隆演示；缺 README 或不能一键运行扣 20%。</a:t>
            </a:r>
            <a:endParaRPr sz="1250" b="0">
              <a:solidFill>
                <a:srgbClr val="633806"/>
              </a:solidFill>
              <a:latin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33806"/>
                </a:solidFill>
                <a:latin typeface="微软雅黑" panose="020B0503020204020204" charset="-122"/>
              </a:rPr>
              <a:t>项目来源：全部取自本课程 12 任务块的真实场景延伸（泵站 / 风机 / 焊缝 / 报修单 / 检修调度），难度 ★1×4 / ★2×9 / ★3×7。</a:t>
            </a:r>
            <a:endParaRPr sz="1250" b="0">
              <a:solidFill>
                <a:srgbClr val="63380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课堂表现（10 分）· 期末考试（20 分）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过程性参与 + 终结性检验，形成完整评价闭环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26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课堂表现 10 分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① 出勤与守时（3 分）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　无故缺勤每次扣 1 分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② 课堂参与（4 分）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　讨论 / 决策矩阵 / 互查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③ 互动与答问（3 分）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　互动游戏积分 + 费曼展示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37304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7304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744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期末考试 20 分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0184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形式：第 12 教学周统一组织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覆盖：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· 数据处理与特征工程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· 机器学习与神经网络原理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· 视觉与大模型概念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· 代码阅读与改错能力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具体题型与时长由教研室统一确定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5968" y="1371600"/>
            <a:ext cx="353263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5968" y="1371600"/>
            <a:ext cx="3532632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408176"/>
            <a:ext cx="334975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评价闭环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8847" y="2029967"/>
            <a:ext cx="3166872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平时 40 + 表现 10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= 过程性 50 分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小组项目 30 + 期末 20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= 终结性 50 分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过程 : 终结 = 5 : 5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避免「一考定成绩」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工单评分细则（ABCD 四级量表）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同题不同标：分层达标线 + 优秀线，激励进阶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27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56235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等级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达标线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对应要求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单次得分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0103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A 层 · 师傅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90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进阶拓展 + 2 分钟费曼展示 + 帮带 D/C 层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3.6 / 4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B 层 · 组长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80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全功能实现 + 代码规范 + 协助组内答疑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3.2 / 4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C 层 · 操作员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70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独立完成核心功能，测试通过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2.8 / 4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D 层 · 学徒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60 分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跟做完成，理解主流程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10328"/>
                          </a:solidFill>
                          <a:latin typeface="微软雅黑" panose="020B0503020204020204" charset="-122"/>
                        </a:rPr>
                        <a:t>≥ 2.4 / 4</a:t>
                      </a:r>
                      <a:endParaRPr sz="1200" b="0">
                        <a:solidFill>
                          <a:srgbClr val="01032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89120"/>
            <a:ext cx="11109960" cy="11887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2628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评分方式：学生自评（勾选 ABCD 层）→ 组长互查（讲得清才算会）→ 教师按分层抽人答辩。三层证据齐全方可记满分；任一环节缺失按比例扣减。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三级质检与诊改闭环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自检 → 互查 → 抽查 → 反馈 → 诊改，形成质量闭环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28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85988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709928"/>
            <a:ext cx="175016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自检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2148840"/>
            <a:ext cx="171358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工单达标自评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勾选 ABCD 层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3977" y="205740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929737" y="1600200"/>
            <a:ext cx="185988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4601" y="1709928"/>
            <a:ext cx="175016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互查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2889" y="2148840"/>
            <a:ext cx="171358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组长签字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讲得清才算会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7915" y="205740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73675" y="1600200"/>
            <a:ext cx="185988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8539" y="1709928"/>
            <a:ext cx="175016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抽查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46827" y="2148840"/>
            <a:ext cx="171358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教师按 ABCD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分层抽人答辩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1852" y="205740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17612" y="1600200"/>
            <a:ext cx="185988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2476" y="1709928"/>
            <a:ext cx="175016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反馈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0764" y="2148840"/>
            <a:ext cx="171358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24 小时内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工单批注退回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95790" y="2057400"/>
            <a:ext cx="347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670F"/>
                </a:solidFill>
                <a:latin typeface="微软雅黑" panose="020B0503020204020204" charset="-122"/>
              </a:rPr>
              <a:t>▶</a:t>
            </a:r>
            <a:endParaRPr sz="1400" b="1">
              <a:solidFill>
                <a:srgbClr val="F5670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61550" y="1600200"/>
            <a:ext cx="1859889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6414" y="1709928"/>
            <a:ext cx="175016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A6A6"/>
                </a:solidFill>
                <a:latin typeface="微软雅黑" panose="020B0503020204020204" charset="-122"/>
              </a:rPr>
              <a:t>诊改</a:t>
            </a:r>
            <a:endParaRPr sz="1400" b="1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34702" y="2148840"/>
            <a:ext cx="171358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周达标率连续两次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44546A"/>
                </a:solidFill>
                <a:latin typeface="微软雅黑" panose="020B0503020204020204" charset="-122"/>
              </a:rPr>
              <a:t>&lt;70% 触发台账</a:t>
            </a:r>
            <a:endParaRPr sz="11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3794760"/>
            <a:ext cx="11109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50208"/>
            <a:ext cx="10607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质量保障三级闭环：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① 学生评教 + 督导听课（对标「授课计划完整规范」「内容符合课程标准」）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② 企业反馈（载体真实性与岗位匹配度）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4546A"/>
                </a:solidFill>
                <a:latin typeface="微软雅黑" panose="020B0503020204020204" charset="-122"/>
              </a:rPr>
              <a:t>③ 课程标准年度修订（对齐 1+X 大纲与载体案例库）；四层教学文件（课标 / 计划 / 方案 / 工单）开课前交叉校验</a:t>
            </a:r>
            <a:endParaRPr sz="12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8872" cy="5669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10328"/>
                </a:solidFill>
                <a:latin typeface="微软雅黑" panose="020B0503020204020204" charset="-122"/>
              </a:rPr>
              <a:t>课程特色与教学成效</a:t>
            </a:r>
            <a:endParaRPr sz="2200" b="1">
              <a:solidFill>
                <a:srgbClr val="01032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微软雅黑" panose="020B0503020204020204" charset="-122"/>
              </a:rPr>
              <a:t>可复制 · 可推广 · 可量化</a:t>
            </a:r>
            <a:endParaRPr sz="120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29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岗课赛证创五维融通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W6 竞标答辩制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对标竞赛评审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W12 答辩对标技能大赛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「人工智能应用」赛项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竞赛项目转化为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课堂竞标与答辩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90138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0138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578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课程思政如盐入水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73018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总目标：可信 AI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与制造强国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模型要有据可查，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指标不许造假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数据素养与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工程伦理贯穿始终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1636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5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零硬件虚拟产线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14516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合成数据 + CPU 离线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无需 GPU 与真实产线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双创中心 302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30 台计算机即可开课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课堂结果可复现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73134" y="1371600"/>
            <a:ext cx="258546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73134" y="1371600"/>
            <a:ext cx="2585466" cy="475488"/>
          </a:xfrm>
          <a:prstGeom prst="round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4574" y="1408176"/>
            <a:ext cx="240258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量化成效目标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56013" y="2029967"/>
            <a:ext cx="2219706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12 工单全员 D 级以上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达标率 ≥ 90%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答辩优秀率 ≥ 35%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（扩展班口径）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4546A"/>
                </a:solidFill>
                <a:latin typeface="微软雅黑" panose="020B0503020204020204" charset="-122"/>
              </a:rPr>
              <a:t>微课观看率 ≥ 85%</a:t>
            </a:r>
            <a:endParaRPr sz="1150" b="0">
              <a:solidFill>
                <a:srgbClr val="44546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微软雅黑" panose="020B0503020204020204" charset="-122"/>
              </a:rPr>
              <a:t>THANKS</a:t>
            </a:r>
            <a:endParaRPr sz="4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0640" y="3429000"/>
            <a:ext cx="1920240" cy="54864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00A6A6"/>
                </a:solidFill>
                <a:latin typeface="微软雅黑" panose="020B0503020204020204" charset="-122"/>
              </a:rPr>
              <a:t>感谢聆听 · 动手实践出真知</a:t>
            </a:r>
            <a:endParaRPr sz="1800" b="0">
              <a:solidFill>
                <a:srgbClr val="00A6A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97B5"/>
                </a:solidFill>
                <a:latin typeface="微软雅黑" panose="020B0503020204020204" charset="-122"/>
              </a:rPr>
              <a:t>以生为本 ｜ 做中学 · 学中做</a:t>
            </a:r>
            <a:endParaRPr sz="14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A5878"/>
                </a:solidFill>
                <a:latin typeface="微软雅黑" panose="020B0503020204020204" charset="-122"/>
              </a:rPr>
              <a:t>重庆现代制造职业学院 ｜ 智能控制学院 · 工业互联网应用专业教学团队</a:t>
            </a:r>
            <a:endParaRPr sz="1200" b="0">
              <a:solidFill>
                <a:srgbClr val="4A587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183112" cy="18288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重庆两江智造集团 · AI应用基础（48课时版）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7B5"/>
                </a:solidFill>
                <a:latin typeface="微软雅黑" panose="020B0503020204020204" charset="-122"/>
              </a:rPr>
              <a:t>30 / 30</a:t>
            </a:r>
            <a:endParaRPr sz="1000" b="0">
              <a:solidFill>
                <a:srgbClr val="8A97B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2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3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4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5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6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7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8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9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10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11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12.xml><?xml version="1.0" encoding="utf-8"?>
<p:tagLst xmlns:p="http://schemas.openxmlformats.org/presentationml/2006/main">
  <p:tag name="KSO_WM_DIAGRAM_VIRTUALLY_FRAME" val="{&quot;height&quot;:338.4,&quot;left&quot;:43.2,&quot;top&quot;:108,&quot;width&quot;:874.8}"/>
</p:tagLst>
</file>

<file path=ppt/tags/tag13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14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15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16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17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18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19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0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1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2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3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4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5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6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7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8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29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30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31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ags/tag32.xml><?xml version="1.0" encoding="utf-8"?>
<p:tagLst xmlns:p="http://schemas.openxmlformats.org/presentationml/2006/main">
  <p:tag name="KSO_WM_DIAGRAM_VIRTUALLY_FRAME" val="{&quot;height&quot;:332.64,&quot;left&quot;:43.2,&quot;top&quot;:111.6,&quot;width&quot;:874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7984</Words>
  <Application>WPS 演示</Application>
  <PresentationFormat>On-screen Show (4:3)</PresentationFormat>
  <Paragraphs>1208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天琼恩泽</cp:lastModifiedBy>
  <cp:revision>5</cp:revision>
  <dcterms:created xsi:type="dcterms:W3CDTF">2013-01-27T09:14:00Z</dcterms:created>
  <dcterms:modified xsi:type="dcterms:W3CDTF">2026-10-15T10:15:04Z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D7FC2F29B70B4555ACF92884CB1C7657_12</vt:lpwstr>
  </property>
  <property fmtid="{D5CDD505-2E9C-101B-9397-08002B2CF9AE}" pid="3" name="KSOProductBuildVer">
    <vt:lpwstr>2052-12.1.0.29158</vt:lpwstr>
  </property>
</Properties>
</file>