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资源页40秒：16个notebook+10个微课+8份工单+P7智能运维平台可部署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32学时 · 大二 · 第1-8周（扩展9周选做）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000" y="2600000"/>
            <a:ext cx="32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内容与结构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00" y="4300000"/>
            <a:ext cx="32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000" y="51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6000" y="52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000" y="55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考核评价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6000" y="51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6000" y="52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6000" y="55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特色与成效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6000" y="5120000"/>
            <a:ext cx="3520000" cy="15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6000" y="5300000"/>
            <a:ext cx="324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15分钟 · 八环节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6000" y="5760000"/>
            <a:ext cx="324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定位→学情→目标→内容→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设计→资源→评价→特色成效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1000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本课程是完全自包含的独立工程应用课程，特别为已掌握C语言基础的大二学生设计：四大核心定位——从C到Python的自然过渡、融合式教学、对标企业岗位、时间高效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6000" y="1880000"/>
            <a:ext cx="21000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工业数据采集技术员、数据工程师、数据分析工程师、AI应用工程师、边缘计算运维员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6000" y="1880000"/>
            <a:ext cx="21000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32学时（理论8+实训24）· 2学分 · 第1-8周（大二；扩展9周含综合项目为选做）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6000" y="1880000"/>
            <a:ext cx="21000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Python开发职业技能等级证书（工信部）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6000" y="1880000"/>
            <a:ext cx="2100000" cy="56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C语言编程基础 → 本课 → 毕业设计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起点：大二，已修Python编程基础48学时，会Pandas/NumPy基础操作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差异：工程化经验分化大——会用库≠会做项目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对策：Git+Gitee五步工作流规范协作，P7选做多模存储全栈挑战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1.Python核心语法：基本类型、控制流、函数、OOP（应用水平）。…（共6条，对应工单验收口径）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1.工业级代码开发：独立编写符合企业规范的Python代码。…（共6条，对应周工单+代码审查）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1.工程伦理：数据安全意识、代码可维护性责任、文档完整性。（课程思政如盐入水）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8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7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18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18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40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5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项目P1 Python工程基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40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25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第1-2周 · 8课时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40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25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双栏对照迁移、容器与OOP、异常处理；PEP 8、venv、Git、项目结构、pytes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02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1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项目P2 数据处理工程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02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31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第3-4周 · 8课时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02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1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三类脏数据处理、七步管道、质量评分；向量化、广播、FFT、30维特征字典。工单：清洗管道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64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374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项目P3 可视化与报表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0000" y="364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0" y="374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第5周 · 4课时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364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0" y="374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Streamlit/Plotly交互仪表盘；Jinja2+reportlab四段式日报。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26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36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项目P4 网络编程与采集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0" y="426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0" y="436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第6周 · 4课时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426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0000" y="436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三线程架构骨架（Modbus采集/MQTT订阅/处理入库）、Queue线程安全、断线重连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488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98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项目P5 数据库应用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0000" y="488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0" y="498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第7周 · 4课时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000" y="488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000" y="498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四表ER设计、SQLAlchemy ORM、批量写入、索引优化（EXPLAIN对比）。工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00" y="550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00" y="56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项目P6 机器学习应用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000" y="550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0" y="56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第8周 · 4课时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0" y="550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0000" y="56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五步建模流、交叉验证、F1≥0.80；预训练模型包+推理服务封装与性能测试（训练与推理分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000" y="612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000" y="62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项目P7 智能运维平台（扩展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0000" y="612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0000" y="62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第9周 · 4课时(选做)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00000" y="612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0000" y="62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多模存储选型（SQLite/DuckDB/Kùzu/Chroma/Redis决策矩阵）；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部署与模型层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87325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8695944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故障诊断模型与部署(W8)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数据仓库层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000" y="2820000"/>
            <a:ext cx="87325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2880000"/>
            <a:ext cx="8695944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产线数据仓库与ORM(W7)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采集与看板层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多源数据采集(W6)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KPI仪表盘(W5)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数据处理层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Pandas管道(W3)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NumPy特征(W4)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工程基础层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Python基础五题(W1)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570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576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标准工程模板(W2)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岗课赛证创五维融通：P2/P3任务对标大数据应用开发类竞赛数据处理与可视化题型；P6对标AI应用赛项工程化部署环节…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课程思政如盐入水：总目标：工程责任与绿色计算——代码可维护、文档完整、测试先行；用算法效率换算力与碳排节约…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P7智能运维平台：Litestar+五库全栈，verify.sh 9断言可复现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代码审查合格率≥90%，8份工单全员按时提交率≥95%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81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补充条款A：安全规范一票否决（红线条款）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44000"/>
            <a:ext cx="81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/>
              <a:t>本条款与「五、学习评价」联动生效：下列任一红线一经查实，对应评价项直接计0，且综合成绩判为不及格，不因其他项高分而抵消。</a:t>
            </a:r>
          </a:p>
          <a:p>
            <a:pPr>
              <a:spcAft>
                <a:spcPts val="700"/>
              </a:spcAft>
            </a:pPr>
            <a:r>
              <a:rPr sz="1300"/>
              <a:t>一票否决与学生工单「安全规范重申」五项打勾栏、教师签字栏逐条对应，任一环节缺签字即视为未完成安全准入。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81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安全红线五条（与课标补充条款A同源·逐条对应工单打勾栏）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44000"/>
            <a:ext cx="81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/>
              <a:t>红线一（安全准入缺失）：未完成任务工单「安全规范重申」五项逐条打勾并由本人签字的，不得通电上机操作；擅自操作者当次课过程性得分计0，该工单按未提交处理。</a:t>
            </a:r>
          </a:p>
          <a:p>
            <a:pPr>
              <a:spcAft>
                <a:spcPts val="700"/>
              </a:spcAft>
            </a:pPr>
            <a:r>
              <a:rPr sz="1200"/>
              <a:t>红线二（带电违规作业）：未断电即插拔电源线、网线或设备端口，私自更换插排、超功率接入大功率用电器，或擅自合闸送电的，立即中止实训并移出工位，综合成绩判为不及格。</a:t>
            </a:r>
          </a:p>
          <a:p>
            <a:pPr>
              <a:spcAft>
                <a:spcPts val="700"/>
              </a:spcAft>
            </a:pPr>
            <a:r>
              <a:rPr sz="1200"/>
              <a:t>红线三（异常未停止）：遇到冒烟、异味、异响、打火、外壳带电感或设备发热异常时，未立即停止操作、未断开本工位电源并报告指导教师而继续作业的，中止实训并计入安全违规台账。</a:t>
            </a:r>
          </a:p>
          <a:p>
            <a:pPr>
              <a:spcAft>
                <a:spcPts val="700"/>
              </a:spcAft>
            </a:pPr>
            <a:r>
              <a:rPr sz="1200"/>
              <a:t>红线四（数据与诚信违规）：未经授权拷贝或外传企业真实数据、未脱敏样本，将涉密材料上传公网仓库，伪造运行截图、代打卡、伪造他人提交与组内贡献记录的，中止实训、该项计0并报送学院处理。</a:t>
            </a:r>
          </a:p>
          <a:p>
            <a:pPr>
              <a:spcAft>
                <a:spcPts val="700"/>
              </a:spcAft>
            </a:pPr>
            <a:r>
              <a:rPr sz="1200"/>
              <a:t>红线五（6S与设备爱护缺失）：实训结束不执行整理、整顿、清扫、清洁、素养、安全六项，离场时未断电、未归位工具与耗材的，当次课6S项计0；累计3次触发者取消评优资格。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