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9" r:id="rId11"/>
    <p:sldId id="260" r:id="rId12"/>
    <p:sldId id="261" r:id="rId13"/>
    <p:sldId id="262" r:id="rId14"/>
    <p:sldId id="264" r:id="rId16"/>
    <p:sldId id="265" r:id="rId17"/>
    <p:sldId id="267" r:id="rId19"/>
    <p:sldId id="268" r:id="rId20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6" r:id="rId38"/>
    <p:sldId id="288" r:id="rId40"/>
    <p:sldId id="289" r:id="rId41"/>
    <p:sldId id="291" r:id="rId43"/>
    <p:sldId id="293" r:id="rId45"/>
    <p:sldId id="295" r:id="rId47"/>
    <p:sldId id="298" r:id="rId50"/>
    <p:sldId id="300" r:id="rId52"/>
    <p:sldId id="303" r:id="rId55"/>
    <p:sldId id="306" r:id="rId58"/>
    <p:sldId id="308" r:id="rId60"/>
    <p:sldId id="310" r:id="rId62"/>
    <p:sldId id="312" r:id="rId64"/>
    <p:sldId id="313" r:id="rId65"/>
    <p:sldId id="314" r:id="rId66"/>
    <p:sldId id="315" r:id="rId67"/>
    <p:sldId id="316" r:id="rId68"/>
    <p:sldId id="364" r:id="rId63"/>
    <p:sldId id="365" r:id="rId72"/>
    <p:sldId id="363" r:id="rId70"/>
    <p:sldId id="317" r:id="rId69"/>
    <p:sldId id="319" r:id="rId71"/>
    <p:sldId id="321" r:id="rId73"/>
    <p:sldId id="323" r:id="rId75"/>
    <p:sldId id="325" r:id="rId77"/>
    <p:sldId id="327" r:id="rId79"/>
    <p:sldId id="328" r:id="rId80"/>
    <p:sldId id="330" r:id="rId82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1" r:id="rId93"/>
    <p:sldId id="342" r:id="rId94"/>
    <p:sldId id="343" r:id="rId95"/>
    <p:sldId id="344" r:id="rId96"/>
    <p:sldId id="351" r:id="rId103"/>
    <p:sldId id="356" r:id="rId108"/>
    <p:sldId id="357" r:id="rId109"/>
    <p:sldId id="361" r:id="rId113"/>
    <p:sldId id="362" r:id="rId1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8" Type="http://schemas.openxmlformats.org/officeDocument/2006/relationships/slide" Target="slides/slide21.xml"/><Relationship Id="rId40" Type="http://schemas.openxmlformats.org/officeDocument/2006/relationships/slide" Target="slides/slide22.xml"/><Relationship Id="rId41" Type="http://schemas.openxmlformats.org/officeDocument/2006/relationships/slide" Target="slides/slide23.xml"/><Relationship Id="rId43" Type="http://schemas.openxmlformats.org/officeDocument/2006/relationships/slide" Target="slides/slide24.xml"/><Relationship Id="rId45" Type="http://schemas.openxmlformats.org/officeDocument/2006/relationships/slide" Target="slides/slide25.xml"/><Relationship Id="rId47" Type="http://schemas.openxmlformats.org/officeDocument/2006/relationships/slide" Target="slides/slide26.xml"/><Relationship Id="rId50" Type="http://schemas.openxmlformats.org/officeDocument/2006/relationships/slide" Target="slides/slide27.xml"/><Relationship Id="rId52" Type="http://schemas.openxmlformats.org/officeDocument/2006/relationships/slide" Target="slides/slide28.xml"/><Relationship Id="rId55" Type="http://schemas.openxmlformats.org/officeDocument/2006/relationships/slide" Target="slides/slide29.xml"/><Relationship Id="rId58" Type="http://schemas.openxmlformats.org/officeDocument/2006/relationships/slide" Target="slides/slide30.xml"/><Relationship Id="rId60" Type="http://schemas.openxmlformats.org/officeDocument/2006/relationships/slide" Target="slides/slide31.xml"/><Relationship Id="rId62" Type="http://schemas.openxmlformats.org/officeDocument/2006/relationships/slide" Target="slides/slide32.xml"/><Relationship Id="rId63" Type="http://schemas.openxmlformats.org/officeDocument/2006/relationships/slide" Target="slides/slide38.xml"/><Relationship Id="rId64" Type="http://schemas.openxmlformats.org/officeDocument/2006/relationships/slide" Target="slides/slide33.xml"/><Relationship Id="rId65" Type="http://schemas.openxmlformats.org/officeDocument/2006/relationships/slide" Target="slides/slide34.xml"/><Relationship Id="rId66" Type="http://schemas.openxmlformats.org/officeDocument/2006/relationships/slide" Target="slides/slide35.xml"/><Relationship Id="rId67" Type="http://schemas.openxmlformats.org/officeDocument/2006/relationships/slide" Target="slides/slide36.xml"/><Relationship Id="rId68" Type="http://schemas.openxmlformats.org/officeDocument/2006/relationships/slide" Target="slides/slide37.xml"/><Relationship Id="rId69" Type="http://schemas.openxmlformats.org/officeDocument/2006/relationships/slide" Target="slides/slide41.xml"/><Relationship Id="rId70" Type="http://schemas.openxmlformats.org/officeDocument/2006/relationships/slide" Target="slides/slide40.xml"/><Relationship Id="rId71" Type="http://schemas.openxmlformats.org/officeDocument/2006/relationships/slide" Target="slides/slide42.xml"/><Relationship Id="rId72" Type="http://schemas.openxmlformats.org/officeDocument/2006/relationships/slide" Target="slides/slide39.xml"/><Relationship Id="rId73" Type="http://schemas.openxmlformats.org/officeDocument/2006/relationships/slide" Target="slides/slide43.xml"/><Relationship Id="rId75" Type="http://schemas.openxmlformats.org/officeDocument/2006/relationships/slide" Target="slides/slide44.xml"/><Relationship Id="rId77" Type="http://schemas.openxmlformats.org/officeDocument/2006/relationships/slide" Target="slides/slide45.xml"/><Relationship Id="rId79" Type="http://schemas.openxmlformats.org/officeDocument/2006/relationships/slide" Target="slides/slide46.xml"/><Relationship Id="rId80" Type="http://schemas.openxmlformats.org/officeDocument/2006/relationships/slide" Target="slides/slide47.xml"/><Relationship Id="rId82" Type="http://schemas.openxmlformats.org/officeDocument/2006/relationships/slide" Target="slides/slide48.xml"/><Relationship Id="rId84" Type="http://schemas.openxmlformats.org/officeDocument/2006/relationships/slide" Target="slides/slide49.xml"/><Relationship Id="rId85" Type="http://schemas.openxmlformats.org/officeDocument/2006/relationships/slide" Target="slides/slide50.xml"/><Relationship Id="rId86" Type="http://schemas.openxmlformats.org/officeDocument/2006/relationships/slide" Target="slides/slide51.xml"/><Relationship Id="rId87" Type="http://schemas.openxmlformats.org/officeDocument/2006/relationships/slide" Target="slides/slide52.xml"/><Relationship Id="rId88" Type="http://schemas.openxmlformats.org/officeDocument/2006/relationships/slide" Target="slides/slide53.xml"/><Relationship Id="rId89" Type="http://schemas.openxmlformats.org/officeDocument/2006/relationships/slide" Target="slides/slide54.xml"/><Relationship Id="rId90" Type="http://schemas.openxmlformats.org/officeDocument/2006/relationships/slide" Target="slides/slide55.xml"/><Relationship Id="rId91" Type="http://schemas.openxmlformats.org/officeDocument/2006/relationships/slide" Target="slides/slide56.xml"/><Relationship Id="rId93" Type="http://schemas.openxmlformats.org/officeDocument/2006/relationships/slide" Target="slides/slide57.xml"/><Relationship Id="rId94" Type="http://schemas.openxmlformats.org/officeDocument/2006/relationships/slide" Target="slides/slide58.xml"/><Relationship Id="rId95" Type="http://schemas.openxmlformats.org/officeDocument/2006/relationships/slide" Target="slides/slide59.xml"/><Relationship Id="rId96" Type="http://schemas.openxmlformats.org/officeDocument/2006/relationships/slide" Target="slides/slide60.xml"/><Relationship Id="rId103" Type="http://schemas.openxmlformats.org/officeDocument/2006/relationships/slide" Target="slides/slide61.xml"/><Relationship Id="rId108" Type="http://schemas.openxmlformats.org/officeDocument/2006/relationships/slide" Target="slides/slide62.xml"/><Relationship Id="rId109" Type="http://schemas.openxmlformats.org/officeDocument/2006/relationships/slide" Target="slides/slide63.xml"/><Relationship Id="rId113" Type="http://schemas.openxmlformats.org/officeDocument/2006/relationships/slide" Target="slides/slide64.xml"/><Relationship Id="rId114" Type="http://schemas.openxmlformats.org/officeDocument/2006/relationships/slide" Target="slides/slide6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开场30秒：《传统分类：逻辑回归+决策树（上）：基础实现》，80分钟=2课时×40分钟。课前已发工单+微课知识卡。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议程页30秒：指读分钟归属，强调课前已完成资讯计划。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过渡页：一句话点明为什么学、学了去哪。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念课程性质一行，指读证书衔接（30秒）。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决策10→实施40→检查10→实施30→评价10口径（4课时周两次课分摊）。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PRIMM之Predict。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点读关键动词，对应工单验收口径。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课前测：点2人说答案，只追问为什么。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预习检查页：左栏布置下次课教材预习（下次quiz从中出）；右栏抽查上次课检查知识点——随机2人白板/口述，答对记过程分。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情境说书30秒：泵站分类模型1.0上线。老周盯着混淆矩阵问：'漏报一个轴承磨损，停线损失多少？误报一次，又要白跑几趟？'——工单M2-1…</a:t>
            </a:r>
          </a:p>
          <a:p>
            <a:r>
              <a:t>抛问：'如果是你，第一步干什么？'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先例后理。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详解B1·分类建模五步：先读定义→场景为什么用它→看代码实例→扩展给A层。C/D层掌握前三格，A层加扩展格。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应用页1：知识点放回产线场景——先看输出再看定义。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详解B2·分层划分：先读定义→场景为什么用它→看代码实例→扩展给A层。C/D层掌握前三格，A层加扩展格。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详解B3·逻辑回归：先读定义→场景为什么用它→看代码实例→扩展给A层。C/D层掌握前三格，A层加扩展格。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详解B4·决策树：先读定义→场景为什么用它→看代码实例→扩展给A层。C/D层掌握前三格，A层加扩展格。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详解B5·混淆矩阵四格：先读定义→场景为什么用它→看代码实例→扩展给A层。C/D层掌握前三格，A层加扩展格。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详解B6·F1调和平均：先读定义→场景为什么用它→看代码实例→扩展给A层。C/D层掌握前三格，A层加扩展格。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技能点=做完你应该会。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演示《双模型对比》：跑通→逐行→改参数（演的核心素材）。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演示《混淆矩阵》：跑通→逐行→改参数（演的核心素材）。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先决策再领工单。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决策矩阵：组内3分钟打分，结论理由入工单。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工单发布：'设备智能运维中心工单M2-1a'——及格线F1≥0.70且口径正确。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D层跟做保底，领做做完即达标。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B层全功能+规范，帮带D/C。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A层进阶拓展+2分钟展示（费曼带徒）。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错误速查：现场制造「F1为0且accuracy高」带学生三步排查。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避坑清单：每条问'为什么会踩'——把'注意'变成'知道为什么注意'。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收尾：检查+评价。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自检→互查签字→教师抽查。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命名'学号_姓名_工单号.zip'，24h反馈。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素养页：点1个真实案例（30秒）。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教材衔接：教材：《人工智能应用基础项目式教程》（程显毅 陈凤妹 王岩 编著，978-7-111-77382-5）— 项目3 机器学习 | 预习知识点：train/test划分；逻辑回归与决策树；混淆矩阵与F1 | 课中检查知识点：能解读F1与业务代价(漏报/误报)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下次课预告：布置微课与导学单。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AI应用基础（48课时版）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传统分类：逻辑回归+决策树（上）：基础实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第16周 · 第5次课（2课时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· 理实一体 · 配套：分层工单+starter · 本课主用：Jupyter（全程实训）+ PyCharm CE（starter编码）+ Git/GitHub（每周提交）</a:t>
            </a:r>
          </a:p>
        </p:txBody>
      </p:sp>
      <p:pic>
        <p:nvPicPr>
          <p:cNvPr id="7" name="Picture 6" descr="W6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目标+本课剧情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工单·分层·避坑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资讯·计划已课前线上完成——课堂从决策直接开始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 / 65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怎么用好这套PPT（使用说明）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课前：只看①②③——定位/流程/目标，带问题来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课中：跟着④⑤走——知识卡打地基，工单练技能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卡住：查⑤避坑+错误速查，再举手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课后：⑦拓展自测+预习清单——闭环从课后开始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这份PPT=教材+工单说明书+复习提纲三合一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65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65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课程定位：AI应用基础（48课时版）（课程标准摘录）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专业核心课扩展版：48课时全谱系（数据→ML→DL→视觉→大模型→智能体）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AI应用工程师、工业视觉开发、工业互联网数据分析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1+X AI应用实践（初级=M1-M3/中级=M4/高级=M5）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前：无Python先修（零基础·并行开设） → 本课(第7周起·跳过W08/W09·至第20周·12周×4课时) → 后：项目实战/毕设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65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传统分类：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逻辑回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分类建模五步：划分-训练-预测-评估-选型记录——应用：见工单starter与教师参考实现 · train_test分层划分：类别比例保持一致（stratify=y）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逻辑回归：线性打分过sigmoid，输出可解释概率 · 决策树：一连串if-else，可视化即规则——应用：见工单starter与教师参考实现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能跑通LR与决策树双模型——应用：见工单starter与教师参考实现 · 能计算并解读混淆矩阵与F1——应用：见工单starter与教师参考实现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65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技能线：能跑通LR与决策树双模型——应用：见工单starter与教师参考实现；能计算并解读混淆矩阵与F1——应用：见工单starter与教师参考实现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65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设备智能运维中心：AI应用工程师、工业视觉开发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M2-1a《传统分类：逻辑回归+决策树（上）：基础实现》——本课工单即考核单元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1+X AI应用实践（初级=M1-M3/中级=M4）——本课工单即考点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世界职业院校技能大赛（人工智能赛道）——数据处理/模型赛项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65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65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123444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65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65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知识：分类建模五步：划分-训练-预测-评估-选型记录——应用：见工单starter与教师参考实现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能力：能跑通LR与决策树双模型——应用：见工单starter与教师参考实现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素质：数据诚信与工程纪律（课程思政）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65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课前测①：本课工单M2-1a的及格线是什么？（答：F1≥0.70且口径正确）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课前测②：'分层train/test'用一句话说说你的理解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65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课前预习与检查（教材衔接 · 上次课回顾）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4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53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1880000"/>
            <a:ext cx="48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📖 课前预习｜下次课教材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000" y="2650000"/>
            <a:ext cx="4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《人工智能应用基础项目式教程》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项目3 机器学习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0000" y="376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40000" y="3700000"/>
            <a:ext cx="450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train/test划分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0000" y="438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40000" y="4320000"/>
            <a:ext cx="4500000" cy="4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逻辑回归与决策树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0000" y="5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40000" y="4940000"/>
            <a:ext cx="4500000" cy="4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混淆矩阵与F1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1800000"/>
            <a:ext cx="5360000" cy="44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1800000"/>
            <a:ext cx="536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1880000"/>
            <a:ext cx="49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✓ 课中检查｜上次课（W2）抽查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00000" y="280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00000" y="284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抽查1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50000" y="2760000"/>
            <a:ext cx="386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能造≥10个特征并用重要性证明价值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00000" y="3600000"/>
            <a:ext cx="4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44546A"/>
                </a:solidFill>
                <a:latin typeface="微软雅黑"/>
              </a:rPr>
              <a:t>抽查方式：随机2人白板演示/口述——答对记过程分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65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题目：课前测①：本课工单M2-1a的及格线是什么？（答：F1≥0.70且口径正确）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常见错误：背概念不看场景；模型题不看数据分布先猜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本课回收：考点会在知识卡与随堂自测中再次出现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65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目标：分类建模五步：划分-训练-预测-评估-选型记录——应用：见工单starter与教师参考实现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65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目标：能跑通LR与决策树双模型——应用：见工单starter与教师参考实现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怎么证：工单'功能40%'全项+指标达标+运行截图贴过程记录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达标线：代码能跑+指标达工单线=过关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65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目标：数据诚信与工程纪律（课程思政融入）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怎么养：指标不造假/随机种子可复现/调参留痕——每个工单都在练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达标线：实验可复现+提交记录连续=过关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65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泵站分类模型1.0上线。老周盯着混淆矩阵问：'漏报一个轴承磨损，停线损失多少？误报一次，又要白跑几趟？'——工单M2-1a：逻辑回归与决策树同台，用F1和业务代价说话。</a:t>
            </a:r>
          </a:p>
        </p:txBody>
      </p:sp>
      <p:pic>
        <p:nvPicPr>
          <p:cNvPr id="9" name="Picture 8" descr="W6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65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任务背景：泵站分类模型1.0上线。老周盯着混淆矩阵问：'漏报一个轴承磨损，停线损失多少？误报一次，又要白跑几趟？'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冲突点：数据量/模型选型/算力时限——手工做不完，必须建模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决策点：用什么模型？怎么验证？指标线定多少？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65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65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知识详解：分类建模五步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B01 · 分类建模五步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划分-训练-预测-评估-选型记录——顺序即纪律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从原始数据到可交差模型的标准动作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X_train,X_test=train_test_split(X,y)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误区：跳过划分直接全量训练——评估自欺欺人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65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知识应用（1）：分类建模五步：划分-训练-预测-评估-选型记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分类建模五步：划分-训练-预测-评估-选型记录。在两江智造产线上的用法：见工单starter与教师参考实现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65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知识详解：分层划分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B02 · 分层划分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stratify=y保持类别比例一致——故障样本少时保命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故障率5%的数据随机切可能切成0%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train_test_split(…, stratify=y, test_size=0.2)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样本几百以内必分层——否则测试集可能无故障样本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65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知识详解：逻辑回归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B03 · 逻辑回归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线性打分过sigmoid出概率——透明可解释的基线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需要向质检解释'为什么判故障'的场景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model.predict_proba(X_test)[:,1] 出故障概率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概率≠结论——0.7的故障概率仍可能错，看阈值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65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知识详解：决策树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B04 · 决策树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一连串if-else——画出来就是给车间的规则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要落地成巡检SOP的判定逻辑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plot_tree(model, feature_names=feats)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误区：树不剪枝——深度无限制必过拟合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65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知识详解：混淆矩阵四格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B05 · 混淆矩阵四格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TP/FP/FN/TN——一切评估指标的原材料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漏报(FN)与误报(FP)代价不同的权衡起点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confusion_matrix(y_test, y_pred) 四格直读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FN=漏掉真故障最危险——工业场景先盯FN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65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知识详解：F1调和平均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B06 · F1调和平均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精确率与召回率的调和平均——两头都不能瘸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报警100条中几条真故障 vs 100台真故障抓到几台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f1_score(y_test, y_pred) 一个数说清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F1高不代表没漏——重大事故看召回单独报告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65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能跑通LR与决策树双模型——应用：见工单starter与教师参考实现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能计算并解读混淆矩阵与F1——应用：见工单starter与教师参考实现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能从业务代价角度选阈值——应用：见工单starter与教师参考实现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能写选型决策记录——应用：见工单starter与教师参考实现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65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关键代码：双模型对比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from sklearn.linear_model import LogisticRegression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from sklearn.tree import DecisionTreeClassifier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for m in [LogisticRegression(max_iter=1000), DecisionTreeClassifier(max_depth=5)]: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m.fit(X_tr, y_tr); print(type(m).name, m.score(X_te, y_te))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65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关键代码：混淆矩阵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from sklearn.metrics import confusion_matrix, f1_score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pred = m.predict(X_te)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print(confusion_matrix(y_te, pred), "F1=", f1_score(y_te, pred))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65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本次课六步法流程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决策：定方案·选模型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实施一：数据+建模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检查：自检互查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实施二：调优+拓展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评价：当堂评分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课后：微课预习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六步法课堂化——每次课都知道现在在哪一步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65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本课术语表（听不懂时查这里）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术语①：分类建模五步——划分-训练-预测-评估-选型记录——应用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术语②：train_test分层划分：类别比例保持一致（stratify=y）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术语③：能跑通LR与决策树双模型——应用：见工单starter与教师参考实现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用法：教师说术语→学生查表——第一周建立'术语-含义'反射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65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65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传统分类：逻辑回归+决策树：备选方案决策矩阵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8" y="2000000"/>
            <a:ext cx="310896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120000"/>
            <a:ext cx="310896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备选方案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5952744" y="2000000"/>
            <a:ext cx="201168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52744" y="2120000"/>
            <a:ext cx="201168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可行性</a:t>
            </a:r>
          </a:p>
        </p:txBody>
      </p:sp>
      <p:sp>
        <p:nvSpPr>
          <p:cNvPr id="9" name="Rectangle 8"/>
          <p:cNvSpPr/>
          <p:nvPr/>
        </p:nvSpPr>
        <p:spPr>
          <a:xfrm>
            <a:off x="8001000" y="2000000"/>
            <a:ext cx="201168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2120000"/>
            <a:ext cx="201168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达标概率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49256" y="2000000"/>
            <a:ext cx="201168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49256" y="2120000"/>
            <a:ext cx="201168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工时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49256" y="2000000"/>
            <a:ext cx="201168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49256" y="2120000"/>
            <a:ext cx="201168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结论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8" y="2700000"/>
            <a:ext cx="310896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2800000"/>
            <a:ext cx="310896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方案A：按工单主线（starter起步）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52744" y="270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52744" y="280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1000" y="270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01000" y="280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49256" y="270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49256" y="280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适中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49256" y="270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49256" y="280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推荐主干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5528" y="3320000"/>
            <a:ext cx="310896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" y="3420000"/>
            <a:ext cx="310896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方案B：自选技术路线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52744" y="3320000"/>
            <a:ext cx="201168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52744" y="342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1000" y="3320000"/>
            <a:ext cx="201168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1000" y="342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49256" y="3320000"/>
            <a:ext cx="201168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49256" y="342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多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49256" y="3320000"/>
            <a:ext cx="201168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49256" y="342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A层可选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5528" y="3940000"/>
            <a:ext cx="310896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5528" y="4040000"/>
            <a:ext cx="310896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方案C：直接改现成项目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52744" y="394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52744" y="404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低（无过程分）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01000" y="394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01000" y="404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049256" y="394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49256" y="404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少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049256" y="394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49256" y="404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不建议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组内打分3分钟，结论与理由写入工单决策记录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65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本课决策题：传统分类：逻辑回归+决策树：备选方案决策矩阵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问②值吗——精度/耗时/可复现性三角权衡（工程账）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65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实施任务：工单M2-1a《传统分类：逻辑回归+决策树（上）：基础实现》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回顾预习卡与微课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知识精讲（先例后理）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演示代码骨架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基础实现（D/C层保底）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5. 小结+布置第2次课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F1≥0.70且口径正确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F1≥0.85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65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先看终点（本课目标预览）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65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参考实现真实运行输出（本工单完成态）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=== 工单 M2-1a 传统分类：逻辑回归 vs 决策树 · 完成态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数据: 300 条三态样本（正常/轴承磨损/叶轮堵塞）· 训练 225 / 测试 75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解A 逻辑回归: acc=0.707  macro-F1=0.701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混淆矩阵（行=真实 / 列=预测）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                  正常      轴承磨损      叶轮堵塞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正常                13         7         5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轴承磨损               5        19         1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叶轮堵塞               2         2        21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结论: 逻辑回归可解释强、决策树易读；漏报（把故障判为正常）是产线最贵的错误 → 决策矩阵权重给'召回率'。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010328"/>
                </a:solidFill>
              </a:rPr>
              <a:t>□ 代码从头跑到尾不报错　□ 指标与工单及格线逐项对齐　□ 随机种子已固定（可复现）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010328"/>
                </a:solidFill>
              </a:rPr>
              <a:t>达标线 D≥60 / C≥70 / B≥80 / A≥90　｜　提交 学号_姓名_工单号 + 运行截图 + 决策记录 + Git≥1次commit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本工单的工程化项目 · 第三种代码形态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65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项目位置与一键运行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工程化项目/m21a_classic_clf/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python run.py          # 输出 output/report.txt + result.json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python -m pytest -q    # 全量测试应全绿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目录结构（23 个文件）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config/rules.yaml      规则外置：改配置不改代码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src/classic_clf/  config · core · io_utils · report · pipeline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tests/      正常 / 边界 / 异常三档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国标与 TOGAF 落地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GB/T 9385 需求规格 / 15532 测试 / 8567 文档 / 8566 过程组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TOGAF 四域：业务 · 数据 · 应用 · 技术架构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docs/07 ADR-001 架构决策记录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完成后长这样（真实运行 · 参考实现） · 课末对照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65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参考实现真实运行输出（本工单完成态）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=== 工单 M2-1a 传统分类：逻辑回归 vs 决策树 · 完成态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数据: 300 条三态样本（正常/轴承磨损/叶轮堵塞）· 训练 225 / 测试 75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解A 逻辑回归: acc=0.707  macro-F1=0.701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混淆矩阵（行=真实 / 列=预测）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                  正常      轴承磨损      叶轮堵塞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正常                13         7         5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轴承磨损               5        19         1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叶轮堵塞               2         2        21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结论: 逻辑回归可解释强、决策树易读；漏报（把故障判为正常）是产线最贵的错误 → 决策矩阵权重给'召回率'。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010328"/>
                </a:solidFill>
              </a:rPr>
              <a:t>□ 代码从头跑到尾不报错　□ 指标与工单及格线逐项对齐　□ 随机种子已固定（可复现）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010328"/>
                </a:solidFill>
              </a:rPr>
              <a:t>达标线 D≥60 / C≥70 / B≥80 / A≥90　｜　提交 学号_姓名_工单号 + 运行截图 + 决策记录 + Git≥1次commit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跑通LR基线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train_test_split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fit+predict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打印accuracy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基线accuracy输出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65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双模型加F1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加决策树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混淆矩阵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算F1对比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F1≥0.70口径正确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65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代价敏感选型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误报漏报成本假设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调阈值比F1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选型记录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给出阈值方案与理由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65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类别不平衡攻防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class_weight均衡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对比采样法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报告权衡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F1≥0.85或方案论证充分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65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F1为0且accuracy高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类别不平衡加全预测多数类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分层划分加class_weight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max_iter警告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逻辑回归未收敛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增大max_iter或标准化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树过深过拟合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训练1.0测试0.6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限制max_depth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65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回顾预习卡与微课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知识精讲（先例后理）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演示代码骨架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0000" y="365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0000" y="367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0000" y="359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基础实现（D/C层保底）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0000" y="398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0000" y="400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0000" y="392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小结+布置第2次课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步骤1先看工单样例再动手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步骤2先看工单样例再动手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步骤3先看工单样例再动手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65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D·学徒（≥60）：跑通LR基线——跟做保底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C·操作员（≥70）：双模型加F1——基础完成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B·组长（≥80）：代价敏感选型——标准达成+帮带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A·师傅（≥90）：类别不平衡攻防——进阶拓展+费曼讲解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65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指标达标：准确率/F1/耗时对齐工单及格线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随机种子已固定（random_state=42）——结果可复现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文件命名：学号_姓名_工单号.py+模型文件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conda环境正确（提示符显示(ai48)）再运行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65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65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65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提交物与评分（工单M2-1a）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学号_姓名_M2-1a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65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A层加餐：原理深挖（选读）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为什么有效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分类建模五步：划分-训练-预测-评估-选型记录——应用：见工单starter与教——背后是统计/优化原理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怎么验证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改一个参数跑对比实验——用数据说话，不凭感觉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边界在哪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什么场景会失效？——数据漂移/样本不平衡/泄漏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延伸阅读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微课深化版+多解法手册——A层自己挖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65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可信AI：模型要有据可查，指标不许造假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工程纪律：限时调参与过程留痕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团队与档案：竞标协作，档案袋沉淀三年资产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65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65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torch安装失败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用--index-url cpu官方源；确认在ai48环境里装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模型指标波动大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设random_state=42；数据先shuffle再划分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ONNX推理不一致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对齐预处理——同一scaler/归一化参数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65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M2-1a任务书——步骤/及格线/评分细则都在里面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学生代码框架/w3_xxx_starter.py——TODO注释即步骤提示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65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65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质检靠老师傅目检，漏检率高且疲劳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分类模型+阈值规则——先自动化易判样本，人只复核疑难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M2-1a的技能点即其最小实现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视觉检测（M3）/大模型辅助诊断（M4）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65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函数封装+管道化——可复用，B层路线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集成/调参/特征工程组合拳——冲指标，A层路线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先让它跑起来→再让它对→最后让它准（KISS原则）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65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可解释性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不迷信黑盒——每个预测能说出'为什么'才敢上线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算力节约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CPU优先调优——绿色计算从课堂开始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模型抄袭=岗位上的'无证驾驶'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65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传统分类：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逻辑回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分类建模五步：划分-训练-预测-评估-选型记录——应用：见工单starter与教师参考实现 · train_test分层划分：类别比例保持一致（stratify=y）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能跑通LR与决策树双模型——应用：见工单starter与教师参考实现 · 能计算并解读混淆矩阵与F1——应用：见工单starter与教师参考实现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F1为0且accuracy高 · max_iter警告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工单M2-1a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65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知识：分类建模五步：划分-训练-预测-评估-选；train_test分层划分：类别比例保；逻辑回归：线性打分过sigmoid，输出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技能：能跑通LR与决策树双模型——应用：见工单starter与教师参考实现；能计算并解读混淆矩阵与F1——应用：见工单starter与教师参考实现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交付：工单M2-1a《传统分类：逻辑回归+决策树（上）：基础实现》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习惯：调参每进一步就commit——每周至少1次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65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睡前自查三问（30秒）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问①今天的核心概念能一句话说清吗？——说不清回看知识卡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问②工单步骤全部勾完了吗？——没勾的明早第一件事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问③Git推送今天做了吗？——每周至少1次，工程素养分依据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三问通过=今天闭环；明天从微课开始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65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65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下次课预告（第12周）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能跑通XGBoost基线与网格搜索——应用：见工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课前测①：本课工单M2-1a的及格线是什么？（答：F1≥0.70且口径正确）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W06-第5次课-传统分类：逻辑回归+决策</dc:title>
  <dc:subject>AI48授课PPT（v9风格+讲稿）</dc:subject>
  <dc:creator>工业互联网应用专业教学资源库</dc:creator>
  <cp:keywords>两江智造;AI48;岗课赛证创;课程思政;双创中心302</cp:keywords>
  <dc:description>48课时扩展版·每页备注为教师讲稿</dc:description>
  <cp:lastModifiedBy>Steve Canny</cp:lastModifiedBy>
  <cp:revision>1</cp:revision>
  <dcterms:created xsi:type="dcterms:W3CDTF">2026-09-09T00:00:00Z</dcterms:created>
  <dcterms:modified xsi:type="dcterms:W3CDTF">2026-09-09T00:00:00Z</dcterms:modified>
  <cp:category>高职高专教学文件</cp:category>
</cp:coreProperties>
</file>