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9" r:id="rId11"/>
    <p:sldId id="260" r:id="rId12"/>
    <p:sldId id="261" r:id="rId13"/>
    <p:sldId id="262" r:id="rId14"/>
    <p:sldId id="264" r:id="rId16"/>
    <p:sldId id="265" r:id="rId17"/>
    <p:sldId id="267" r:id="rId19"/>
    <p:sldId id="268" r:id="rId20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6" r:id="rId38"/>
    <p:sldId id="288" r:id="rId40"/>
    <p:sldId id="289" r:id="rId41"/>
    <p:sldId id="291" r:id="rId43"/>
    <p:sldId id="294" r:id="rId46"/>
    <p:sldId id="297" r:id="rId49"/>
    <p:sldId id="299" r:id="rId51"/>
    <p:sldId id="302" r:id="rId54"/>
    <p:sldId id="305" r:id="rId57"/>
    <p:sldId id="308" r:id="rId60"/>
    <p:sldId id="310" r:id="rId62"/>
    <p:sldId id="312" r:id="rId64"/>
    <p:sldId id="315" r:id="rId67"/>
    <p:sldId id="316" r:id="rId68"/>
    <p:sldId id="317" r:id="rId69"/>
    <p:sldId id="318" r:id="rId70"/>
    <p:sldId id="366" r:id="rId65"/>
    <p:sldId id="367" r:id="rId63"/>
    <p:sldId id="365" r:id="rId66"/>
    <p:sldId id="319" r:id="rId71"/>
    <p:sldId id="321" r:id="rId73"/>
    <p:sldId id="323" r:id="rId75"/>
    <p:sldId id="325" r:id="rId77"/>
    <p:sldId id="327" r:id="rId79"/>
    <p:sldId id="329" r:id="rId81"/>
    <p:sldId id="330" r:id="rId82"/>
    <p:sldId id="332" r:id="rId84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3" r:id="rId95"/>
    <p:sldId id="344" r:id="rId96"/>
    <p:sldId id="345" r:id="rId97"/>
    <p:sldId id="346" r:id="rId98"/>
    <p:sldId id="353" r:id="rId105"/>
    <p:sldId id="358" r:id="rId110"/>
    <p:sldId id="359" r:id="rId111"/>
    <p:sldId id="363" r:id="rId115"/>
    <p:sldId id="364" r:id="rId1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4" Type="http://schemas.openxmlformats.org/officeDocument/2006/relationships/slide" Target="slides/slide11.xml"/><Relationship Id="rId25" Type="http://schemas.openxmlformats.org/officeDocument/2006/relationships/slide" Target="slides/slide12.xml"/><Relationship Id="rId26" Type="http://schemas.openxmlformats.org/officeDocument/2006/relationships/slide" Target="slides/slide13.xml"/><Relationship Id="rId27" Type="http://schemas.openxmlformats.org/officeDocument/2006/relationships/slide" Target="slides/slide14.xml"/><Relationship Id="rId28" Type="http://schemas.openxmlformats.org/officeDocument/2006/relationships/slide" Target="slides/slide15.xml"/><Relationship Id="rId29" Type="http://schemas.openxmlformats.org/officeDocument/2006/relationships/slide" Target="slides/slide16.xml"/><Relationship Id="rId30" Type="http://schemas.openxmlformats.org/officeDocument/2006/relationships/slide" Target="slides/slide17.xml"/><Relationship Id="rId31" Type="http://schemas.openxmlformats.org/officeDocument/2006/relationships/slide" Target="slides/slide18.xml"/><Relationship Id="rId32" Type="http://schemas.openxmlformats.org/officeDocument/2006/relationships/slide" Target="slides/slide19.xml"/><Relationship Id="rId33" Type="http://schemas.openxmlformats.org/officeDocument/2006/relationships/slide" Target="slides/slide20.xml"/><Relationship Id="rId38" Type="http://schemas.openxmlformats.org/officeDocument/2006/relationships/slide" Target="slides/slide21.xml"/><Relationship Id="rId40" Type="http://schemas.openxmlformats.org/officeDocument/2006/relationships/slide" Target="slides/slide22.xml"/><Relationship Id="rId41" Type="http://schemas.openxmlformats.org/officeDocument/2006/relationships/slide" Target="slides/slide23.xml"/><Relationship Id="rId43" Type="http://schemas.openxmlformats.org/officeDocument/2006/relationships/slide" Target="slides/slide24.xml"/><Relationship Id="rId46" Type="http://schemas.openxmlformats.org/officeDocument/2006/relationships/slide" Target="slides/slide25.xml"/><Relationship Id="rId49" Type="http://schemas.openxmlformats.org/officeDocument/2006/relationships/slide" Target="slides/slide26.xml"/><Relationship Id="rId51" Type="http://schemas.openxmlformats.org/officeDocument/2006/relationships/slide" Target="slides/slide27.xml"/><Relationship Id="rId54" Type="http://schemas.openxmlformats.org/officeDocument/2006/relationships/slide" Target="slides/slide28.xml"/><Relationship Id="rId57" Type="http://schemas.openxmlformats.org/officeDocument/2006/relationships/slide" Target="slides/slide29.xml"/><Relationship Id="rId60" Type="http://schemas.openxmlformats.org/officeDocument/2006/relationships/slide" Target="slides/slide30.xml"/><Relationship Id="rId62" Type="http://schemas.openxmlformats.org/officeDocument/2006/relationships/slide" Target="slides/slide31.xml"/><Relationship Id="rId63" Type="http://schemas.openxmlformats.org/officeDocument/2006/relationships/slide" Target="slides/slide38.xml"/><Relationship Id="rId64" Type="http://schemas.openxmlformats.org/officeDocument/2006/relationships/slide" Target="slides/slide32.xml"/><Relationship Id="rId65" Type="http://schemas.openxmlformats.org/officeDocument/2006/relationships/slide" Target="slides/slide37.xml"/><Relationship Id="rId66" Type="http://schemas.openxmlformats.org/officeDocument/2006/relationships/slide" Target="slides/slide39.xml"/><Relationship Id="rId67" Type="http://schemas.openxmlformats.org/officeDocument/2006/relationships/slide" Target="slides/slide33.xml"/><Relationship Id="rId68" Type="http://schemas.openxmlformats.org/officeDocument/2006/relationships/slide" Target="slides/slide34.xml"/><Relationship Id="rId69" Type="http://schemas.openxmlformats.org/officeDocument/2006/relationships/slide" Target="slides/slide35.xml"/><Relationship Id="rId70" Type="http://schemas.openxmlformats.org/officeDocument/2006/relationships/slide" Target="slides/slide36.xml"/><Relationship Id="rId71" Type="http://schemas.openxmlformats.org/officeDocument/2006/relationships/slide" Target="slides/slide40.xml"/><Relationship Id="rId73" Type="http://schemas.openxmlformats.org/officeDocument/2006/relationships/slide" Target="slides/slide41.xml"/><Relationship Id="rId75" Type="http://schemas.openxmlformats.org/officeDocument/2006/relationships/slide" Target="slides/slide42.xml"/><Relationship Id="rId77" Type="http://schemas.openxmlformats.org/officeDocument/2006/relationships/slide" Target="slides/slide43.xml"/><Relationship Id="rId79" Type="http://schemas.openxmlformats.org/officeDocument/2006/relationships/slide" Target="slides/slide44.xml"/><Relationship Id="rId81" Type="http://schemas.openxmlformats.org/officeDocument/2006/relationships/slide" Target="slides/slide45.xml"/><Relationship Id="rId82" Type="http://schemas.openxmlformats.org/officeDocument/2006/relationships/slide" Target="slides/slide46.xml"/><Relationship Id="rId84" Type="http://schemas.openxmlformats.org/officeDocument/2006/relationships/slide" Target="slides/slide47.xml"/><Relationship Id="rId86" Type="http://schemas.openxmlformats.org/officeDocument/2006/relationships/slide" Target="slides/slide48.xml"/><Relationship Id="rId87" Type="http://schemas.openxmlformats.org/officeDocument/2006/relationships/slide" Target="slides/slide49.xml"/><Relationship Id="rId88" Type="http://schemas.openxmlformats.org/officeDocument/2006/relationships/slide" Target="slides/slide50.xml"/><Relationship Id="rId89" Type="http://schemas.openxmlformats.org/officeDocument/2006/relationships/slide" Target="slides/slide51.xml"/><Relationship Id="rId90" Type="http://schemas.openxmlformats.org/officeDocument/2006/relationships/slide" Target="slides/slide52.xml"/><Relationship Id="rId91" Type="http://schemas.openxmlformats.org/officeDocument/2006/relationships/slide" Target="slides/slide53.xml"/><Relationship Id="rId92" Type="http://schemas.openxmlformats.org/officeDocument/2006/relationships/slide" Target="slides/slide54.xml"/><Relationship Id="rId93" Type="http://schemas.openxmlformats.org/officeDocument/2006/relationships/slide" Target="slides/slide55.xml"/><Relationship Id="rId95" Type="http://schemas.openxmlformats.org/officeDocument/2006/relationships/slide" Target="slides/slide56.xml"/><Relationship Id="rId96" Type="http://schemas.openxmlformats.org/officeDocument/2006/relationships/slide" Target="slides/slide57.xml"/><Relationship Id="rId97" Type="http://schemas.openxmlformats.org/officeDocument/2006/relationships/slide" Target="slides/slide58.xml"/><Relationship Id="rId98" Type="http://schemas.openxmlformats.org/officeDocument/2006/relationships/slide" Target="slides/slide59.xml"/><Relationship Id="rId105" Type="http://schemas.openxmlformats.org/officeDocument/2006/relationships/slide" Target="slides/slide60.xml"/><Relationship Id="rId110" Type="http://schemas.openxmlformats.org/officeDocument/2006/relationships/slide" Target="slides/slide61.xml"/><Relationship Id="rId111" Type="http://schemas.openxmlformats.org/officeDocument/2006/relationships/slide" Target="slides/slide62.xml"/><Relationship Id="rId115" Type="http://schemas.openxmlformats.org/officeDocument/2006/relationships/slide" Target="slides/slide63.xml"/><Relationship Id="rId116" Type="http://schemas.openxmlformats.org/officeDocument/2006/relationships/slide" Target="slides/slide6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开场30秒：《YOLO实时缺陷检测（上）：基础实现》，80分钟=2课时×40分钟。课前已发工单+微课知识卡。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议程页30秒：指读分钟归属，强调课前已完成资讯计划。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过渡页：一句话点明为什么学、学了去哪。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念课程性质一行，指读证书衔接（30秒）。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知识地图：先见森林（40秒）。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流程预告。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决策10→实施40→检查10→实施30→评价10口径（4课时周两次课分摊）。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PRIMM之Predict。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点读关键动词，对应工单验收口径。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课前测：点2人说答案，只追问为什么。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预习检查页：左栏布置下次课教材预习（下次quiz从中出）；右栏抽查上次课检查知识点——随机2人白板/口述，答对记过程分。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情境说书30秒：产线节拍又升了。老周批了CPU算力：'实时检测，速度与精度你自己权衡。'工单M3-2：YOLO缺陷检测，阈值、输入尺寸与…</a:t>
            </a:r>
          </a:p>
          <a:p>
            <a:r>
              <a:t>抛问：'如果是你，第一步干什么？'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先例后理。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详解B1·检测=分类+定位：先读定义→场景为什么用它→看代码实例→扩展给A层。C/D层掌握前三格，A层加扩展格。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应用页1：知识点放回产线场景——先看输出再看定义。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详解B2·置信度阈值：先读定义→场景为什么用它→看代码实例→扩展给A层。C/D层掌握前三格，A层加扩展格。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详解B3·输入尺寸权衡：先读定义→场景为什么用它→看代码实例→扩展给A层。C/D层掌握前三格，A层加扩展格。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详解B4·FPS测量口径：先读定义→场景为什么用它→看代码实例→扩展给A层。C/D层掌握前三格，A层加扩展格。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详解B5·mAP指标：先读定义→场景为什么用它→看代码实例→扩展给A层。C/D层掌握前三格，A层加扩展格。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详解B6·工程权衡三问：先读定义→场景为什么用它→看代码实例→扩展给A层。C/D层掌握前三格，A层加扩展格。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技能点=做完你应该会。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演示《ONNX推理口径》：跑通→逐行→改参数（演的核心素材）。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演示《阈值过滤》：跑通→逐行→改参数（演的核心素材）。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流程图页：作为'我们现在在哪一步'的路标。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先决策再领工单。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决策矩阵：组内3分钟打分，结论理由入工单。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工单发布：'设备智能运维中心工单M3-2'——及格线mAP≥0.60+FPS表完整。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D层跟做保底，领做做完即达标。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B层全功能+规范，帮带D/C。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A层进阶拓展+2分钟展示（费曼带徒）。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错误速查：现场制造「FPS波动大」带学生三步排查。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避坑清单：每条问'为什么会踩'——把'注意'变成'知道为什么注意'。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收尾：检查+评价。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自检→互查签字→教师抽查。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命名'学号_姓名_工单号.zip'，24h反馈。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素养页：点1个真实案例（30秒）。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教材衔接：教材：《人工智能应用基础项目式教程》（程显毅 陈凤妹 王岩 编著，978-7-111-77382-5）— 项目5 大模型·视觉应用 | 预习知识点：YOLO检测原理(边界框/置信度)；mAP与FPS | 课中检查知识点：CPU实时检测mAP≥0.70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下次课预告：布置微课与导学单。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5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AI应用基础（48课时版）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YOLO实时缺陷检测（上）：基础实现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第16周 · 第15次课（2课时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· 理实一体 · 配套：分层工单+starter · 本课主用：Jupyter（全程实训）+ PyCharm CE（starter编码）+ Git/GitHub（每周提交）</a:t>
            </a:r>
          </a:p>
        </p:txBody>
      </p:sp>
      <p:pic>
        <p:nvPicPr>
          <p:cNvPr id="7" name="Picture 6" descr="W11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本次课议程（六部分 · 80分钟）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课程定位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课前已读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性质·岗位·证书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课堂流程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约2′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80分钟时间盒与ABCD分层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目标与资讯·情境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约5′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目标+本课剧情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知识精讲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基础知识大卡+代码演示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任务实施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六步法核心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工单·分层·避坑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检查与评价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三层质检·当堂评分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000" y="6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资讯·计划已课前线上完成——课堂从决策直接开始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 / 64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怎么用好这套PPT（使用说明）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课前：只看①②③——定位/流程/目标，带问题来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课中：跟着④⑤走——知识卡打地基，工单练技能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卡住：查⑤避坑+错误速查，再举手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课后：⑦拓展自测+预习清单——闭环从课后开始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这份PPT=教材+工单说明书+复习提纲三合一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 / 64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本课在课程体系中的位置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 / 64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课程定位：AI应用基础（48课时版）（课程标准摘录）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26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6000" y="1880000"/>
            <a:ext cx="2652500" cy="5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0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6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专业核心课扩展版：48课时全谱系（数据→ML→DL→视觉→大模型→智能体）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8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8500" y="1880000"/>
            <a:ext cx="2652500" cy="56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85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8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AI应用工程师、工业视觉开发、工业互联网数据分析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51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51000" y="1880000"/>
            <a:ext cx="2652500" cy="56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510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对接证书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1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1+X AI应用实践（初级=M1-M3/中级=M4/高级=M5）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13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13500" y="1880000"/>
            <a:ext cx="2652500" cy="5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135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课程衔接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3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前：无Python先修（零基础·并行开设） → 本课(第7周起·跳过W08/W09·至第20周·12周×4课时) → 后：项目实战/毕设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 / 64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本课知识图谱（先见森林，再见树木）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YOLO实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时缺陷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基础知识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检测=分类+定位：YOLO一次前向出全部候选框——应用：见工单starter与教师参考实现 · 置信度阈值：低阈值召回高但误检多，业务定夺——应用：见工单starter与教师参考实现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继续夯实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输入尺寸：640到320，速度翻倍精度让步——应用：见工单starter与教师参考实现 · FPS测量口径：纯推理vs含前后处理，先约定再比较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能部署CPU预训练YOLO推理——应用：见工单starter与教师参考实现 · 能调阈值与尺寸并记录mAP和FPS——应用：见工单starter与教师参考实现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分层任务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C基础完成 · B标准达成 · A进阶拓展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课堂评价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功能40% · 技术25% · 规范20% · 素养15%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 / 64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知识地图分支详解（二）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技能线：能部署CPU预训练YOLO推理——应用：见工单starter与教师参考实现；能调阈值与尺寸并记录mAP和FPS——应用：见工单starter与教师参考实现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3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分层任务线：D跟做→C独立→B帮带→A拓展（每4周动态升降）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课堂评价线：功能40%+技术25%+规范20%+素养15%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三条线闭环：技能靠任务练，任务按评价收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 / 64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岗课赛证对照（本课坐标）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设备智能运维中心：AI应用工程师、工业视觉开发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M3-2《YOLO实时缺陷检测（上）：基础实现》——本课工单即考核单元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1+X AI应用实践（初级=M1-M3/中级=M4）——本课工单即考点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世界职业院校技能大赛（人工智能赛道）——数据处理/模型赛项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 / 64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课堂流程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80分钟时间盒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 / 64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本次课流程（80分钟时间盒）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课前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线上导学单+预习自测（已完成的打√）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决策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备选方案对比 → 决策矩阵打分 → 结论公示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30min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骨架贯通：体验→应用，完成工单核心功能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检查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三层质检：自检—互检—师查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25min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优化迭代：冲优秀标准/拓展任务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0000" y="585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0000" y="585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000" y="595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00000" y="595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00000" y="595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D/C/B/A量表评分 + 课后任务布置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123444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每课时40分钟 · 共80分钟（六步法课堂化）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64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目标与资讯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带着目标进课堂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64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228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知识：检测=分类+定位：YOLO一次前向出全部候选框——应用：见工单starter与教师参考实现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0000" y="228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能力：能部署CPU预训练YOLO推理——应用：见工单starter与教师参考实现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00000" y="228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素质：数据诚信与工程纪律（课程思政）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64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W16课前测①：本课工单M3-2的及格线是什么？（答：mAP≥0.60+FPS表完整）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W16课前测②：'检测头直观'用一句话说说你的理解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64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课前预习与检查（教材衔接 · 上次课回顾）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4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5300000" cy="7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1880000"/>
            <a:ext cx="48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📖 课前预习｜下次课教材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0000" y="2650000"/>
            <a:ext cx="4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《人工智能应用基础项目式教程》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项目5 大模型·视觉应用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0000" y="376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40000" y="3700000"/>
            <a:ext cx="4500000" cy="4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YOLO检测原理(边界框/置信度)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0000" y="438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40000" y="4320000"/>
            <a:ext cx="4500000" cy="4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mAP与FPS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0000" y="1800000"/>
            <a:ext cx="5360000" cy="44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0000" y="1800000"/>
            <a:ext cx="536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00000" y="1880000"/>
            <a:ext cx="49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✓ 课中检查｜上次课（）抽查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00000" y="2800000"/>
            <a:ext cx="900000" cy="4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00000" y="2840000"/>
            <a:ext cx="800000" cy="4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微软雅黑"/>
              </a:rPr>
              <a:t>抽查1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50000" y="2760000"/>
            <a:ext cx="386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完成冻结/微调取舍实验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3600000"/>
            <a:ext cx="4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1">
                <a:solidFill>
                  <a:srgbClr val="44546A"/>
                </a:solidFill>
                <a:latin typeface="微软雅黑"/>
              </a:rPr>
              <a:t>抽查方式：随机2人白板演示/口述——答对记过程分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64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课前测逐题精讲（错得最多的那道）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题目：W16课前测①：本课工单M3-2的及格线是什么？（答：mAP≥0.60+FPS表完整）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正确思路：从'考哪个知识卡'入手——先定位再作答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常见错误：背概念不看场景；模型题不看数据分布先猜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本课回收：考点会在知识卡与随堂自测中再次出现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64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知识目标：怎么学·怎么证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目标：检测=分类+定位：YOLO一次前向出全部候选框——应用：见工单starter与教师参考实现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怎么学：知识卡先例后理→快查核对→应用页回到产线场景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怎么证：课前quiz+随堂自测+工单'技术质量25%'项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达标线：能复述定义+能说出产线例子=过关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64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能力目标：怎么练·怎么证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目标：能部署CPU预训练YOLO推理——应用：见工单starter与教师参考实现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怎么练：starter跟做（D）→独立完成（C）→规范+帮带（B）→拓展（A）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怎么证：工单'功能40%'全项+指标达标+运行截图贴过程记录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达标线：代码能跑+指标达工单线=过关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64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素质目标：怎么养·怎么证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目标：数据诚信与工程纪律（课程思政融入）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怎么养：指标不造假/随机种子可复现/调参留痕——每个工单都在练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怎么证：Git提交历史（每周≥1次）+工单'素养15%'项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达标线：实验可复现+提交记录连续=过关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64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产线节拍又升了。老周批了CPU算力：'实时检测，速度与精度你自己权衡。'工单M3-2：YOLO缺陷检测，阈值、输入尺寸与FPS的三方博弈。</a:t>
            </a:r>
          </a:p>
        </p:txBody>
      </p:sp>
      <p:pic>
        <p:nvPicPr>
          <p:cNvPr id="9" name="Picture 8" descr="W11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64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剧情拆解：任务 → 冲突 → 你的决策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任务背景：产线节拍又升了。老周批了CPU算力：'实时检测，速度与精度你自己权衡。'工单M3-2：YOLO缺陷检测，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冲突点：数据量/模型选型/算力时限——手工做不完，必须建模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决策点：用什么模型？怎么验证？指标线定多少？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带着这三个问题进知识精讲——每个知识点都是解药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64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知识精讲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基础知识 → 技能 → 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64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知识详解：检测=分类+定位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B01 · 检测=分类+定位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不只说'有缺陷'还要框出'在哪'——一次前向出全部框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质检要定位缺陷位置指导返修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yolo.predict(img) 返回boxes+scores+classes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分类只能答有/无——要位置就得检测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64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知识应用（1）：检测=分类+定位：YOLO一次前向出全部候选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检测=分类+定位：YOLO一次前向出全部候选框。在两江智造产线上的用法：见工单starter与教师参考实现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64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知识详解：置信度阈值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B02 · 置信度阈值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低阈值召回高误检多、高阈值反之——业务定夺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漏检代价高的场景阈值调低宁可多报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conf=0.25 起步，按混淆矩阵调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阈值不是拍的——用PR曲线按业务代价选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64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知识详解：输入尺寸权衡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B03 · 输入尺寸权衡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640到320速度翻倍精度让步——像素即算力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边缘盒子算力有限时的第一调节旋钮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imgsz=320 推理时间约减半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小目标缩图会看不见——先看缺陷最小尺寸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64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知识详解：FPS测量口径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B04 · FPS测量口径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纯推理vs含前后处理——口径不同数字差几倍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两台设备比速度先统一口径再比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计时含预处理+推理+后处理全链路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只报纯推理FPS是耍流氓——节拍看全链路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64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知识详解：mAP指标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B05 · mAP指标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多阈值下平均精度——统一测试集才有意义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检测任务综合得分——框的准不准看它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results.val() 出 mAP@0.5 与 mAP@0.5:0.95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mAP没统一数据集不能比——别人的榜不是你的卷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27 / 64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知识详解：工程权衡三问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B06 · 工程权衡三问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漏一个的代价？误一个的代价？节拍多少？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缺陷检测上线评审的标准三问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三问答案写进部署方案——阈值与模型随之定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三问答不出就别上线——指标好看不等于敢用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28 / 64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技能点：做完你应该会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0000" y="200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05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0000" y="206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能部署CPU预训练YOLO推理——应用：见工单starter与教师参考实现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93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000" y="313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18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000" y="319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能调阈值与尺寸并记录mAP和FPS——应用：见工单starter与教师参考实现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06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0000" y="426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1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000" y="432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能产出三方权衡报告——应用：见工单starter与教师参考实现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19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000" y="539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544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000" y="545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能做产线节拍适配建议——应用：见工单starter与教师参考实现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29 / 64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关键代码：ONNX推理口径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import onnxruntime as ort, time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sess = ort.InferenceSession("yolo.onnx")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t0 = time.perf_counter()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out = sess.run(None, {"images": x})[0]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print("FPS≈", 1 / (time.perf_counter() - t0))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30 / 64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关键代码：阈值过滤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conf = out[4:].max(0)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keep = conf &gt; 0.4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boxes = xywh[keep]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31 / 64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本次课六步法流程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7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决策：定方案·选模型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5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实施一：数据+建模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96000" y="2600000"/>
            <a:ext cx="160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检查：自检互查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6000" y="2600000"/>
            <a:ext cx="1600000" cy="15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实施二：调优+拓展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评价：当堂评分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7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课后：微课预习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0000" y="46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六步法课堂化——每次课都知道现在在哪一步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32 / 64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任务实施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工单 · 分层 · 避坑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33 / 64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YOLO实时缺陷检测：备选方案决策矩阵</a:t>
            </a:r>
          </a:p>
        </p:txBody>
      </p:sp>
      <p:sp>
        <p:nvSpPr>
          <p:cNvPr id="5" name="Rectangle 4"/>
          <p:cNvSpPr/>
          <p:nvPr/>
        </p:nvSpPr>
        <p:spPr>
          <a:xfrm>
            <a:off x="795528" y="2000000"/>
            <a:ext cx="310896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2120000"/>
            <a:ext cx="310896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备选方案</a:t>
            </a:r>
          </a:p>
        </p:txBody>
      </p:sp>
      <p:sp>
        <p:nvSpPr>
          <p:cNvPr id="7" name="Rectangle 6"/>
          <p:cNvSpPr/>
          <p:nvPr/>
        </p:nvSpPr>
        <p:spPr>
          <a:xfrm>
            <a:off x="5952744" y="2000000"/>
            <a:ext cx="201168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52744" y="2120000"/>
            <a:ext cx="201168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可行性</a:t>
            </a:r>
          </a:p>
        </p:txBody>
      </p:sp>
      <p:sp>
        <p:nvSpPr>
          <p:cNvPr id="9" name="Rectangle 8"/>
          <p:cNvSpPr/>
          <p:nvPr/>
        </p:nvSpPr>
        <p:spPr>
          <a:xfrm>
            <a:off x="8001000" y="2000000"/>
            <a:ext cx="201168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01000" y="2120000"/>
            <a:ext cx="201168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达标概率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49256" y="2000000"/>
            <a:ext cx="201168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49256" y="2120000"/>
            <a:ext cx="201168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工时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049256" y="2000000"/>
            <a:ext cx="201168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49256" y="2120000"/>
            <a:ext cx="201168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结论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5528" y="2700000"/>
            <a:ext cx="310896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8" y="2800000"/>
            <a:ext cx="310896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方案A：按工单主线（starter起步）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52744" y="2700000"/>
            <a:ext cx="201168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52744" y="280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01000" y="2700000"/>
            <a:ext cx="201168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01000" y="280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049256" y="2700000"/>
            <a:ext cx="201168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49256" y="280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适中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049256" y="2700000"/>
            <a:ext cx="201168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49256" y="280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推荐主干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5528" y="3320000"/>
            <a:ext cx="310896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5528" y="3420000"/>
            <a:ext cx="310896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方案B：自选技术路线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52744" y="3320000"/>
            <a:ext cx="201168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52744" y="342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中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1000" y="3320000"/>
            <a:ext cx="201168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1000" y="342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中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049256" y="3320000"/>
            <a:ext cx="201168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49256" y="342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多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049256" y="3320000"/>
            <a:ext cx="201168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49256" y="342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A层可选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95528" y="3940000"/>
            <a:ext cx="310896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95528" y="4040000"/>
            <a:ext cx="310896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方案C：直接改现成项目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52744" y="3940000"/>
            <a:ext cx="201168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52744" y="404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低（无过程分）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01000" y="3940000"/>
            <a:ext cx="201168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01000" y="404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低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049256" y="3940000"/>
            <a:ext cx="201168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049256" y="404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少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049256" y="3940000"/>
            <a:ext cx="201168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049256" y="404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不建议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0000" y="468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组内打分3分钟，结论与理由写入工单决策记录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34 / 64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决策怎么下：方案对比三问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本课决策题：YOLO实时缺陷检测：备选方案决策矩阵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问①可行吗——每个方案的实现路径走得通吗（技术风险）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问②值吗——精度/耗时/可复现性三角权衡（工程账）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问③谁拍板——组内数据说话，理由写进工单（决策追责制）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规则：没有记录的决策=没有决策——写下来才算数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35 / 64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实施任务：工单M3-2《YOLO实时缺陷检测（上）：基础实现》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回顾预习卡与微课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知识精讲（先例后理）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演示代码骨架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4. 基础实现（D/C层保底）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5. 小结+布置第2次课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mAP≥0.60+FPS表完整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mAP≥0.75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36 / 64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工单完成效果图 · 先看终点（本课目标预览）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37 / 64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" y="1801368"/>
            <a:ext cx="10899648" cy="2286000"/>
          </a:xfrm>
          <a:prstGeom prst="roundRect">
            <a:avLst>
              <a:gd name="adj" fmla="val 6000"/>
            </a:avLst>
          </a:prstGeom>
          <a:solidFill>
            <a:srgbClr val="F3F6FD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758952" y="4178808"/>
            <a:ext cx="10899648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758952" y="5321808"/>
            <a:ext cx="10899648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60120" y="1929384"/>
            <a:ext cx="10469880" cy="2048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545E8"/>
                </a:solidFill>
              </a:rPr>
              <a:t>① 参考实现真实运行输出（本工单完成态）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=== 工单 M3-2 YOLO实时缺陷检测（零依赖检测器）· 完成态 ===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输入: 64×64 产线图 · 真值框(x,y,w,h) = (30, 40, 8, 8)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检测结果: 框=(32, 40, 8, 8)  缺陷分=0.658  IoU=0.60（目标≥0.5）  FPS≈5300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滑窗尺寸 × 性能取舍表（YOLO调参的本质：感受野 vs 速度 vs 定位精度）: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  win   IoU     FPS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    4   0.25    1295  ×2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   16   0.00   16855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实测最优窗口 win=8（IoU=0.60）—— 窗口过小则单窗信噪比低易误检，过大则定位粗化，存在最优值；FPS 随窗口增大…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真机路径: ultralytics YOLOv8n 离线权重（data/weights/yolov8n.onnx）→ 同口径 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297680"/>
            <a:ext cx="104698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545E8"/>
                </a:solidFill>
              </a:rPr>
              <a:t>② 关键自检点（对照工单逐项核对）</a:t>
            </a:r>
          </a:p>
          <a:p>
            <a:pPr algn="l">
              <a:spcBef>
                <a:spcPts val="200"/>
              </a:spcBef>
            </a:pPr>
            <a:r>
              <a:rPr sz="1150" b="0">
                <a:solidFill>
                  <a:srgbClr val="010328"/>
                </a:solidFill>
              </a:rPr>
              <a:t>□ 代码从头跑到尾不报错　□ 指标与工单及格线逐项对齐　□ 随机种子已固定（可复现）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5431536"/>
            <a:ext cx="104698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5670F"/>
                </a:solidFill>
              </a:rPr>
              <a:t>③ 提交与达标（过程性证据）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010328"/>
                </a:solidFill>
              </a:rPr>
              <a:t>达标线 D≥60 / C≥70 / B≥80 / A≥90　｜　提交 学号_姓名_工单号 + 运行截图 + 决策记录 + Git≥1次commit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本工单的工程化项目 · 第三种代码形态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38 / 64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" y="1801368"/>
            <a:ext cx="10899648" cy="2286000"/>
          </a:xfrm>
          <a:prstGeom prst="roundRect">
            <a:avLst>
              <a:gd name="adj" fmla="val 6000"/>
            </a:avLst>
          </a:prstGeom>
          <a:solidFill>
            <a:srgbClr val="F3F6FD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758952" y="4178808"/>
            <a:ext cx="10899648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758952" y="5321808"/>
            <a:ext cx="10899648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60120" y="1929384"/>
            <a:ext cx="10469880" cy="2048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545E8"/>
                </a:solidFill>
              </a:rPr>
              <a:t>① 项目位置与一键运行</a:t>
            </a:r>
          </a:p>
          <a:p>
            <a:pPr algn="l"/>
            <a:r>
              <a:rPr sz="1400" b="1">
                <a:solidFill>
                  <a:srgbClr val="0545E8"/>
                </a:solidFill>
              </a:rPr>
              <a:t>工程化项目/m32_yolo/</a:t>
            </a:r>
          </a:p>
          <a:p>
            <a:pPr algn="l"/>
            <a:r>
              <a:rPr sz="1400" b="1">
                <a:solidFill>
                  <a:srgbClr val="0545E8"/>
                </a:solidFill>
              </a:rPr>
              <a:t>python run.py          # 输出 output/report.txt + result.json</a:t>
            </a:r>
          </a:p>
          <a:p>
            <a:pPr algn="l"/>
            <a:r>
              <a:rPr sz="1400" b="1">
                <a:solidFill>
                  <a:srgbClr val="0545E8"/>
                </a:solidFill>
              </a:rPr>
              <a:t>python -m pytest -q    # 全量测试应全绿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297680"/>
            <a:ext cx="104698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545E8"/>
                </a:solidFill>
              </a:rPr>
              <a:t>② 目录结构（23 个文件）</a:t>
            </a:r>
          </a:p>
          <a:p>
            <a:pPr algn="l"/>
            <a:r>
              <a:rPr sz="1300" b="1">
                <a:solidFill>
                  <a:srgbClr val="0545E8"/>
                </a:solidFill>
              </a:rPr>
              <a:t>config/rules.yaml      规则外置：改配置不改代码</a:t>
            </a:r>
          </a:p>
          <a:p>
            <a:pPr algn="l"/>
            <a:r>
              <a:rPr sz="1300" b="1">
                <a:solidFill>
                  <a:srgbClr val="0545E8"/>
                </a:solidFill>
              </a:rPr>
              <a:t>src/yolo_detect/  config · core · io_utils · report · pipeline</a:t>
            </a:r>
          </a:p>
          <a:p>
            <a:pPr algn="l"/>
            <a:r>
              <a:rPr sz="1300" b="1">
                <a:solidFill>
                  <a:srgbClr val="0545E8"/>
                </a:solidFill>
              </a:rPr>
              <a:t>tests/      正常 / 边界 / 异常三档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5431536"/>
            <a:ext cx="104698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5670F"/>
                </a:solidFill>
              </a:rPr>
              <a:t>③ 国标与 TOGAF 落地</a:t>
            </a:r>
          </a:p>
          <a:p>
            <a:pPr algn="l"/>
            <a:r>
              <a:rPr sz="1300" b="1">
                <a:solidFill>
                  <a:srgbClr val="F5670F"/>
                </a:solidFill>
              </a:rPr>
              <a:t>GB/T 9385 需求规格 / 15532 测试 / 8567 文档 / 8566 过程组</a:t>
            </a:r>
          </a:p>
          <a:p>
            <a:pPr algn="l"/>
            <a:r>
              <a:rPr sz="1300" b="1">
                <a:solidFill>
                  <a:srgbClr val="F5670F"/>
                </a:solidFill>
              </a:rPr>
              <a:t>TOGAF 四域：业务 · 数据 · 应用 · 技术架构</a:t>
            </a:r>
          </a:p>
          <a:p>
            <a:pPr algn="l"/>
            <a:r>
              <a:rPr sz="1300" b="1">
                <a:solidFill>
                  <a:srgbClr val="F5670F"/>
                </a:solidFill>
              </a:rPr>
              <a:t>docs/07 ADR-001 架构决策记录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工单完成效果图 · 完成后长这样（真实运行 · 参考实现） · 课末对照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39 / 64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" y="1801368"/>
            <a:ext cx="10899648" cy="2286000"/>
          </a:xfrm>
          <a:prstGeom prst="roundRect">
            <a:avLst>
              <a:gd name="adj" fmla="val 6000"/>
            </a:avLst>
          </a:prstGeom>
          <a:solidFill>
            <a:srgbClr val="F3F6FD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758952" y="4178808"/>
            <a:ext cx="10899648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758952" y="5321808"/>
            <a:ext cx="10899648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60120" y="1929384"/>
            <a:ext cx="10469880" cy="2048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545E8"/>
                </a:solidFill>
              </a:rPr>
              <a:t>① 参考实现真实运行输出（本工单完成态）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=== 工单 M3-2 YOLO实时缺陷检测（零依赖检测器）· 完成态 ===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输入: 64×64 产线图 · 真值框(x,y,w,h) = (30, 40, 8, 8)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检测结果: 框=(32, 40, 8, 8)  缺陷分=0.658  IoU=0.60（目标≥0.5）  FPS≈5300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滑窗尺寸 × 性能取舍表（YOLO调参的本质：感受野 vs 速度 vs 定位精度）: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  win   IoU     FPS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    4   0.25    1295  ×2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   16   0.00   16855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实测最优窗口 win=8（IoU=0.60）—— 窗口过小则单窗信噪比低易误检，过大则定位粗化，存在最优值；FPS 随窗口增大…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真机路径: ultralytics YOLOv8n 离线权重（data/weights/yolov8n.onnx）→ 同口径 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297680"/>
            <a:ext cx="104698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545E8"/>
                </a:solidFill>
              </a:rPr>
              <a:t>② 关键自检点（对照工单逐项核对）</a:t>
            </a:r>
          </a:p>
          <a:p>
            <a:pPr algn="l">
              <a:spcBef>
                <a:spcPts val="200"/>
              </a:spcBef>
            </a:pPr>
            <a:r>
              <a:rPr sz="1150" b="0">
                <a:solidFill>
                  <a:srgbClr val="010328"/>
                </a:solidFill>
              </a:rPr>
              <a:t>□ 代码从头跑到尾不报错　□ 指标与工单及格线逐项对齐　□ 随机种子已固定（可复现）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5431536"/>
            <a:ext cx="104698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5670F"/>
                </a:solidFill>
              </a:rPr>
              <a:t>③ 提交与达标（过程性证据）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010328"/>
                </a:solidFill>
              </a:rPr>
              <a:t>达标线 D≥60 / C≥70 / B≥80 / A≥90　｜　提交 学号_姓名_工单号 + 运行截图 + 决策记录 + Git≥1次commit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D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学徒 · 跟做保底层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默认参数推理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加载预训练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跑测试集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记录mAP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基线mAP有数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40 / 64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C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操作员 · 基础完成层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双维扫描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阈值3档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尺寸2档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表化mAP和FPS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mAP≥0.60表完整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41 / 64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B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组长 · 标准达成层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权衡报告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业务代价假设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选工作点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节拍适配建议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给出推荐点及理由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42 / 64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A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师傅 · 进阶拓展层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速度冲优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ONNX量化半精度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对比加速比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精度损失可控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mAP≥0.75或加速≥50%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43 / 64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常见错误速查（避坑清单）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FPS波动大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首帧含warmup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先跑3帧预热再计时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框全叠一起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未做NMS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按类做非极大值抑制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mAP对不上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测试集口径不同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统一测试集与IoU0.5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44 / 64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实施步骤与注意事项（做）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850000"/>
            <a:ext cx="6300000" cy="41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59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545E8"/>
                </a:solidFill>
                <a:latin typeface="微软雅黑"/>
              </a:rPr>
              <a:t>实施步骤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920000" y="266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0000" y="268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0000" y="2600000"/>
            <a:ext cx="5300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回顾预习卡与微课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0000" y="299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0000" y="301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0000" y="293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知识精讲（先例后理）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0000" y="332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0000" y="334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0000" y="3260000"/>
            <a:ext cx="5300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演示代码骨架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0000" y="365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0000" y="367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0000" y="359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基础实现（D/C层保底）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0000" y="398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0000" y="400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0000" y="392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小结+布置第2次课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50000" y="1850000"/>
            <a:ext cx="4300000" cy="410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50000" y="1980000"/>
            <a:ext cx="395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5670F"/>
                </a:solidFill>
                <a:latin typeface="微软雅黑"/>
              </a:rPr>
              <a:t>⚠ 注意事项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50000" y="2600000"/>
            <a:ext cx="3950000" cy="3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步骤1先看工单样例再动手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步骤2先看工单样例再动手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步骤3先看工单样例再动手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45 / 64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ABCD四层任务总览（先看全貌再领任务）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D·学徒（≥60）：默认参数推理——跟做保底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C·操作员（≥70）：双维扫描——基础完成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B·组长（≥80）：权衡报告——标准达成+帮带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A·师傅（≥90）：速度冲优——进阶拓展+费曼讲解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规则：每人按工单勾选自己的层；每4周动态升降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46 / 64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提交前最后一查（90秒）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代码能从头跑到尾不报错（python xx.py再跑一遍）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指标达标：准确率/F1/耗时对齐工单及格线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随机种子已固定（random_state=42）——结果可复现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文件命名：学号_姓名_工单号.py+模型文件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conda环境正确（提示符显示(ai48)）再运行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47 / 64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检查与评价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三层质检 · 评分 · 课后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48 / 64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过程检查（三层质检）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1  自检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对照工单checklist逐项自查并截图留证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2  互检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组间交换检查，互检表记录问题≥1条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3  师查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教师抽查复核，重点盯D层完成度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复盘追问：如果当初选另一个方案，结果会怎样？（决策追责）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49 / 64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提交物与评分（工单M3-2）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提交清单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程序/notebook（含运行输出）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分层工单纸件（勾层+自评）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决策矩阵照片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4. 过程记录/避坑笔记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命名: 学号_姓名_M3-2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评分构成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功能完成 40%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技术质量 25%（指标达标）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代码规范 20%（PEP 8）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工程素养 15%（留痕/协作）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/>
              </a:rPr>
              <a:t>D≥60 / C≥70 / B≥80 / A≥90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50 / 64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A层加餐：原理深挖（选读）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为什么有效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检测=分类+定位：YOLO一次前向出全部候选框——应用：见工单starter与教——背后是统计/优化原理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怎么验证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改一个参数跑对比实验——用数据说话，不凭感觉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边界在哪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什么场景会失效？——数据漂移/样本不平衡/泄漏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延伸阅读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微课深化版+多解法手册——A层自己挖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51 / 64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素养目标（课程思政融入点）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责任感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可信AI：模型要有据可查，指标不许造假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工程纪律：限时调参与过程留痕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数据伦理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团队与档案：竞标协作，档案袋沉淀三年资产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52 / 64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工单评分细则（四级量表）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等级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对应要求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A·师傅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≥90分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进阶拓展完成+2分钟费曼展示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B·组长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≥80分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全功能+代码规范+帮带D/C层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C·操作员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≥70分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基础功能完成+错误速查自查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000" y="456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66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D·学徒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≥60分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跟做完成核心步骤+达标自评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530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功能40%+技术质量25%+代码规范20%+工程素养15%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53 / 64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高频FAQ（先自查再举手）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torch安装失败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用--index-url cpu官方源；确认在ai48环境里装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模型指标波动大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设random_state=42；数据先shuffle再划分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ONNX推理不一致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对齐预处理——同一scaler/归一化参数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54 / 64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资源导航（卡住时按顺序查）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M3-2任务书——步骤/及格线/评分细则都在里面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starter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学生代码框架/w8_xxx_starter.py——TODO注释即步骤提示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软件指南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../软件操作指南/——PyCharm/Jupyter/Git/Anaconda六份图文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Jupyter实训/——本周notebook师生版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Git提交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做完按Ctrl+K提交推送——每周至少1次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55 / 64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07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拓展与自测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把今天的能力圈再画大一圈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56 / 64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产业应用案例（学这个能干什么）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真实场景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质检靠老师傅目检，漏检率高且疲劳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用什么解决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分类模型+阈值规则——先自动化易判样本，人只复核疑难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本课对应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M3-2的技能点即其最小实现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延伸方向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视觉检测（M3）/大模型辅助诊断（M4）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57 / 64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多解法一瞥（同一任务的不同打法）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解法A·直白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按工单步骤顺序实现——好懂好调试，D/C层路线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解法B·工程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函数封装+管道化——可复用，B层路线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解法C·进阶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集成/调参/特征工程组合拳——冲指标，A层路线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怎么选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先让它跑起来→再让它对→最后让它准（KISS原则）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58 / 64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课程思政：如盐入水（30秒一个点）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数据诚信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指标不许造假——改数字骗过测试=产线事故的起点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可解释性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不迷信黑盒——每个预测能说出'为什么'才敢上线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算力节约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CPU优先调优——绿色计算从课堂开始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职业底线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模型抄袭=岗位上的'无证驾驶'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59 / 64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全课知识图谱回顾（一图收束）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YOLO实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时缺陷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4条分支导览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知识回顾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检测=分类+定位：YOLO一次前向出全部候选框——应用：见工单starter与教师参考实现 · 置信度阈值：低阈值召回高但误检多，业务定夺——应用：见工单starter与教师参考实现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技能回顾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能部署CPU预训练YOLO推理——应用：见工单starter与教师参考实现 · 能调阈值与尺寸并记录mAP和FPS——应用：见工单starter与教师参考实现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易错回顾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FPS波动大 · 框全叠一起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交付物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工单M3-2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60 / 64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今日一图流总结（贴脑墙上）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知识：检测=分类+定位：YOLO一次前向出全部；置信度阈值：低阈值召回高但误检多，业务定；输入尺寸：640到320，速度翻倍精度让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技能：能部署CPU预训练YOLO推理——应用：见工单starter与教师参考实现；能调阈值与尺寸并记录mAP和FPS——应用：见工单starter与教师参考实现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交付：工单M3-2《YOLO实时缺陷检测（上）：基础实现》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习惯：调参每进一步就commit——每周至少1次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明日：课前微课+导学单（下次课quiz从中出题）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61 / 64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睡前自查三问（30秒）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问①今天的核心概念能一句话说清吗？——说不清回看知识卡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问②工单步骤全部勾完了吗？——没勾的明早第一件事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问③Git推送今天做了吗？——每周至少1次，工程素养分依据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三问通过=今天闭环；明天从微课开始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62 / 64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63 / 64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下次课预告（第17周）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能调用本地LLM服务完成诊断问答——应用：见工单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W16课前测①：本课工单M3-2的及格线是什么？（答：mAP≥0.60+FPS表完整）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W11-第15次课-YOLO实时缺陷检测（上</dc:title>
  <dc:subject>AI48授课PPT（v9风格+讲稿）</dc:subject>
  <dc:creator>工业互联网应用专业教学资源库</dc:creator>
  <cp:keywords>两江智造;AI48;岗课赛证创;课程思政;双创中心302</cp:keywords>
  <dc:description>48课时扩展版·每页备注为教师讲稿</dc:description>
  <cp:lastModifiedBy>Steve Canny</cp:lastModifiedBy>
  <cp:revision>1</cp:revision>
  <dcterms:created xsi:type="dcterms:W3CDTF">2026-09-09T00:00:00Z</dcterms:created>
  <dcterms:modified xsi:type="dcterms:W3CDTF">2026-09-09T00:00:00Z</dcterms:modified>
  <cp:category>高职高专教学文件</cp:category>
</cp:coreProperties>
</file>