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9" r:id="rId11"/>
    <p:sldId id="260" r:id="rId12"/>
    <p:sldId id="261" r:id="rId13"/>
    <p:sldId id="262" r:id="rId14"/>
    <p:sldId id="264" r:id="rId16"/>
    <p:sldId id="265" r:id="rId17"/>
    <p:sldId id="267" r:id="rId19"/>
    <p:sldId id="268" r:id="rId20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6" r:id="rId38"/>
    <p:sldId id="288" r:id="rId40"/>
    <p:sldId id="290" r:id="rId42"/>
    <p:sldId id="292" r:id="rId44"/>
    <p:sldId id="294" r:id="rId46"/>
    <p:sldId id="296" r:id="rId48"/>
    <p:sldId id="297" r:id="rId49"/>
    <p:sldId id="299" r:id="rId51"/>
    <p:sldId id="303" r:id="rId55"/>
    <p:sldId id="306" r:id="rId58"/>
    <p:sldId id="308" r:id="rId60"/>
    <p:sldId id="310" r:id="rId62"/>
    <p:sldId id="312" r:id="rId64"/>
    <p:sldId id="313" r:id="rId65"/>
    <p:sldId id="314" r:id="rId66"/>
    <p:sldId id="315" r:id="rId67"/>
    <p:sldId id="316" r:id="rId68"/>
    <p:sldId id="364" r:id="rId63"/>
    <p:sldId id="365" r:id="rId72"/>
    <p:sldId id="363" r:id="rId70"/>
    <p:sldId id="317" r:id="rId69"/>
    <p:sldId id="319" r:id="rId71"/>
    <p:sldId id="321" r:id="rId73"/>
    <p:sldId id="323" r:id="rId75"/>
    <p:sldId id="325" r:id="rId77"/>
    <p:sldId id="327" r:id="rId79"/>
    <p:sldId id="328" r:id="rId80"/>
    <p:sldId id="330" r:id="rId82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1" r:id="rId93"/>
    <p:sldId id="342" r:id="rId94"/>
    <p:sldId id="343" r:id="rId95"/>
    <p:sldId id="344" r:id="rId96"/>
    <p:sldId id="351" r:id="rId103"/>
    <p:sldId id="356" r:id="rId108"/>
    <p:sldId id="357" r:id="rId109"/>
    <p:sldId id="361" r:id="rId113"/>
    <p:sldId id="362" r:id="rId1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8" Type="http://schemas.openxmlformats.org/officeDocument/2006/relationships/slide" Target="slides/slide21.xml"/><Relationship Id="rId40" Type="http://schemas.openxmlformats.org/officeDocument/2006/relationships/slide" Target="slides/slide22.xml"/><Relationship Id="rId42" Type="http://schemas.openxmlformats.org/officeDocument/2006/relationships/slide" Target="slides/slide23.xml"/><Relationship Id="rId44" Type="http://schemas.openxmlformats.org/officeDocument/2006/relationships/slide" Target="slides/slide24.xml"/><Relationship Id="rId46" Type="http://schemas.openxmlformats.org/officeDocument/2006/relationships/slide" Target="slides/slide25.xml"/><Relationship Id="rId48" Type="http://schemas.openxmlformats.org/officeDocument/2006/relationships/slide" Target="slides/slide26.xml"/><Relationship Id="rId49" Type="http://schemas.openxmlformats.org/officeDocument/2006/relationships/slide" Target="slides/slide27.xml"/><Relationship Id="rId51" Type="http://schemas.openxmlformats.org/officeDocument/2006/relationships/slide" Target="slides/slide28.xml"/><Relationship Id="rId55" Type="http://schemas.openxmlformats.org/officeDocument/2006/relationships/slide" Target="slides/slide29.xml"/><Relationship Id="rId58" Type="http://schemas.openxmlformats.org/officeDocument/2006/relationships/slide" Target="slides/slide30.xml"/><Relationship Id="rId60" Type="http://schemas.openxmlformats.org/officeDocument/2006/relationships/slide" Target="slides/slide31.xml"/><Relationship Id="rId62" Type="http://schemas.openxmlformats.org/officeDocument/2006/relationships/slide" Target="slides/slide32.xml"/><Relationship Id="rId63" Type="http://schemas.openxmlformats.org/officeDocument/2006/relationships/slide" Target="slides/slide38.xml"/><Relationship Id="rId64" Type="http://schemas.openxmlformats.org/officeDocument/2006/relationships/slide" Target="slides/slide33.xml"/><Relationship Id="rId65" Type="http://schemas.openxmlformats.org/officeDocument/2006/relationships/slide" Target="slides/slide34.xml"/><Relationship Id="rId66" Type="http://schemas.openxmlformats.org/officeDocument/2006/relationships/slide" Target="slides/slide35.xml"/><Relationship Id="rId67" Type="http://schemas.openxmlformats.org/officeDocument/2006/relationships/slide" Target="slides/slide36.xml"/><Relationship Id="rId68" Type="http://schemas.openxmlformats.org/officeDocument/2006/relationships/slide" Target="slides/slide37.xml"/><Relationship Id="rId69" Type="http://schemas.openxmlformats.org/officeDocument/2006/relationships/slide" Target="slides/slide41.xml"/><Relationship Id="rId70" Type="http://schemas.openxmlformats.org/officeDocument/2006/relationships/slide" Target="slides/slide40.xml"/><Relationship Id="rId71" Type="http://schemas.openxmlformats.org/officeDocument/2006/relationships/slide" Target="slides/slide42.xml"/><Relationship Id="rId72" Type="http://schemas.openxmlformats.org/officeDocument/2006/relationships/slide" Target="slides/slide39.xml"/><Relationship Id="rId73" Type="http://schemas.openxmlformats.org/officeDocument/2006/relationships/slide" Target="slides/slide43.xml"/><Relationship Id="rId75" Type="http://schemas.openxmlformats.org/officeDocument/2006/relationships/slide" Target="slides/slide44.xml"/><Relationship Id="rId77" Type="http://schemas.openxmlformats.org/officeDocument/2006/relationships/slide" Target="slides/slide45.xml"/><Relationship Id="rId79" Type="http://schemas.openxmlformats.org/officeDocument/2006/relationships/slide" Target="slides/slide46.xml"/><Relationship Id="rId80" Type="http://schemas.openxmlformats.org/officeDocument/2006/relationships/slide" Target="slides/slide47.xml"/><Relationship Id="rId82" Type="http://schemas.openxmlformats.org/officeDocument/2006/relationships/slide" Target="slides/slide48.xml"/><Relationship Id="rId84" Type="http://schemas.openxmlformats.org/officeDocument/2006/relationships/slide" Target="slides/slide49.xml"/><Relationship Id="rId85" Type="http://schemas.openxmlformats.org/officeDocument/2006/relationships/slide" Target="slides/slide50.xml"/><Relationship Id="rId86" Type="http://schemas.openxmlformats.org/officeDocument/2006/relationships/slide" Target="slides/slide51.xml"/><Relationship Id="rId87" Type="http://schemas.openxmlformats.org/officeDocument/2006/relationships/slide" Target="slides/slide52.xml"/><Relationship Id="rId88" Type="http://schemas.openxmlformats.org/officeDocument/2006/relationships/slide" Target="slides/slide53.xml"/><Relationship Id="rId89" Type="http://schemas.openxmlformats.org/officeDocument/2006/relationships/slide" Target="slides/slide54.xml"/><Relationship Id="rId90" Type="http://schemas.openxmlformats.org/officeDocument/2006/relationships/slide" Target="slides/slide55.xml"/><Relationship Id="rId91" Type="http://schemas.openxmlformats.org/officeDocument/2006/relationships/slide" Target="slides/slide56.xml"/><Relationship Id="rId93" Type="http://schemas.openxmlformats.org/officeDocument/2006/relationships/slide" Target="slides/slide57.xml"/><Relationship Id="rId94" Type="http://schemas.openxmlformats.org/officeDocument/2006/relationships/slide" Target="slides/slide58.xml"/><Relationship Id="rId95" Type="http://schemas.openxmlformats.org/officeDocument/2006/relationships/slide" Target="slides/slide59.xml"/><Relationship Id="rId96" Type="http://schemas.openxmlformats.org/officeDocument/2006/relationships/slide" Target="slides/slide60.xml"/><Relationship Id="rId103" Type="http://schemas.openxmlformats.org/officeDocument/2006/relationships/slide" Target="slides/slide61.xml"/><Relationship Id="rId108" Type="http://schemas.openxmlformats.org/officeDocument/2006/relationships/slide" Target="slides/slide62.xml"/><Relationship Id="rId109" Type="http://schemas.openxmlformats.org/officeDocument/2006/relationships/slide" Target="slides/slide63.xml"/><Relationship Id="rId113" Type="http://schemas.openxmlformats.org/officeDocument/2006/relationships/slide" Target="slides/slide64.xml"/><Relationship Id="rId114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开场30秒：《XGBoost参数调优（上）：基础实现》，80分钟=2课时×40分钟。课前已发工单+微课知识卡。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情境说书30秒：林工下了军令状：'F1再提3个点，调参不许超过两小时。'网格搜索、早停、特征筛选全用上——工单M2-2：XGBoost调…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详解B1·集成两流派：先读定义→场景为什么用它→看代码实例→扩展给A层。C/D层掌握前三格，A层加扩展格。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详解B2·XGB核心超参：先读定义→场景为什么用它→看代码实例→扩展给A层。C/D层掌握前三格，A层加扩展格。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详解B3·网格搜索：先读定义→场景为什么用它→看代码实例→扩展给A层。C/D层掌握前三格，A层加扩展格。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详解B4·早停：先读定义→场景为什么用它→看代码实例→扩展给A层。C/D层掌握前三格，A层加扩展格。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详解B5·调参工时账：先读定义→场景为什么用它→看代码实例→扩展给A层。C/D层掌握前三格，A层加扩展格。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详解B6·交叉验证：先读定义→场景为什么用它→看代码实例→扩展给A层。C/D层掌握前三格，A层加扩展格。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演示《网格搜索》：跑通→逐行→改参数（演的核心素材）。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演示《曲线记录》：跑通→逐行→改参数（演的核心素材）。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工单发布：'设备智能运维中心工单M2-2'——及格线F1≥0.72（2h内）。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错误速查：现场制造「fit报JSON错」带学生三步排查。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项目3 机器学习 | 预习知识点：集成学习(Bagging/Boosting)；XGBoost；网格搜索与早停 | 课中检查知识点：限时完成调优并记录工时账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XGBoost参数调优（上）：基础实现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第17周 · 第7次课（2课时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65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本课(第7周起·跳过W08/W09·至第20周·12周×4课时)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XGBoo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st参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集成思想：Bagging随机并行与Boosting串行纠错 · XGBoost核心超参：n_estimators/learning_rate/max_depth三角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网格搜索GridSearchCV：把调参变成可复现实验 · 早停early_stopping：验证集不涨就收手，防过拟合省时间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能跑通XGBoost基线与网格搜索——应用：见工单starter与教师参考实现 · 能在2小时内完成限时调优——应用：见工单starter与教师参考实现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技能线：能跑通XGBoost基线与网格搜索——应用：见工单starter与教师参考实现；能在2小时内完成限时调优——应用：见工单starter与教师参考实现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M2-2《XGBoost参数调优（上）：基础实现》——本课工单即考核单元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知识：集成思想：Bagging随机并行与Boosting串行纠错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能力：能跑通XGBoost基线与网格搜索——应用：见工单starter与教师参考实现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课前测①：本课工单M2-2的及格线是什么？（答：F1≥0.72（2h内））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课前测②：'集成思想'用一句话说说你的理解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《人工智能应用基础项目式教程》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项目3 机器学习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集成学习(Bagging/Boosting)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XGBoost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0000" y="5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0000" y="494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网格搜索与早停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课中检查｜上次课（W3）抽查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能解读F1与业务代价(漏报/误报)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0000" y="360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题目：课前测①：本课工单M2-2的及格线是什么？（答：F1≥0.72（2h内））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目标：集成思想：Bagging随机并行与Boosting串行纠错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目标：能跑通XGBoost基线与网格搜索——应用：见工单starter与教师参考实现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林工下了军令状：'F1再提3个点，调参不许超过两小时。'网格搜索、早停、特征筛选全用上——工单M2-2：XGBoost调优，在收益与工时之间做工程权衡。</a:t>
            </a:r>
          </a:p>
        </p:txBody>
      </p:sp>
      <p:pic>
        <p:nvPicPr>
          <p:cNvPr id="9" name="Picture 8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任务背景：林工下了军令状：'F1再提3个点，调参不许超过两小时。'网格搜索、早停、特征筛选全用上——工单M2-2：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知识详解：集成两流派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集成两流派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Bagging并行投票、Boosting串行纠错——两种组织法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单模型到瓶颈后的下一步——XGB属串行纠错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XGBClassifier(n_estimators=100)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误区：集成万能——数据烂特征差集成也救不了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知识详解：XGB核心超参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XGB核心超参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树数量/学习率/深度三角——互相牵制不能孤立调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准确率与训练时间平衡的三个旋钮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n_estimators=200, max_depth=4, lr=0.1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误区：树越多越好——早停和CV才是裁判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知识详解：网格搜索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网格搜索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GridSearchCV穷举组合+交叉验证——调参变可复现实验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答辩被问'参数怎么来的'——网格表即证据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GridSearchCV(model, param_grid, cv=5).fit(X,y)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组合爆炸警告——先粗格后细格两轮收敛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知识详解：早停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早停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验证集不涨就收手——省时间又防过拟合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树数量不好定时的自动裁判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early_stopping_rounds=20（XGB）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误区：patience设1——波动一轮就停学不充分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知识详解：调参工时账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调参工时账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收益曲线趋平即停——工程要算时间成本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通宵调参涨0.5%值不值——车间不等人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记录每轮收益：+3%→+1%→+0.2% 即收手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收益&lt;1%回去补数据——数据比参数值钱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知识应用（5）：调参工时账：收益曲线趋平即停，工程要算时间成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调参工时账：收益曲线趋平即停，工程要算时间成本。在两江智造产线上的用法：见工单starter与教师参考实现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知识详解：交叉验证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交叉验证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cv=5轮流留一块做测试——评估不被单次划分骗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报告里写90%必须有CV背书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cross_val_score(model, X, y, cv=5).mean()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时序数据别用随机CV——要按时间块切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能跑通XGBoost基线与网格搜索——应用：见工单starter与教师参考实现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能在2小时内完成限时调优——应用：见工单starter与教师参考实现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能绘制参数收益曲线——应用：见工单starter与教师参考实现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能写工时收益结论——应用：见工单starter与教师参考实现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关键代码：网格搜索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sklearn.model_selection import GridSearchCV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grid = {"n_estimators": [100, 300], "max_depth": [3, 5], "learning_rate": [.05, .1]}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gs = GridSearchCV(XGBClassifier(eval_metric="logloss"), grid, cv=5).fit(X_tr, y_tr)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print(gs.best_params_, gs.best_score_)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关键代码：曲线记录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res = []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n in [50, 100, 200, 300, 500]: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f = f1_score(y_te, XGBClassifier(n_estimators=n).fit(X_tr, y_tr).predict(X_te))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res.append((n, round(f, 3)))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本课术语表（听不懂时查这里）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术语①：集成思想——Bagging随机并行与Boosting串行纠错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术语②：XGBoost核心超参：n_estimators/learning_rate/max_depth三角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术语③：能跑通XGBoost基线与网格搜索——应用：见工单starter与教师参考实现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用法：教师说术语→学生查表——第一周建立'术语-含义'反射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XGBoost参数调优：备选方案决策矩阵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2000000"/>
            <a:ext cx="310896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20000"/>
            <a:ext cx="310896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5952744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2744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270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80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52744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52744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8" y="3320000"/>
            <a:ext cx="310896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42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52744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52744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" y="394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404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52744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52744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01000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1000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本课决策题：XGBoost参数调优：备选方案决策矩阵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实施任务：工单M2-2《XGBoost参数调优（上）：基础实现》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F1≥0.72（2h内）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F1≥0.88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M2-2 参数调优与工时账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模型: RandomForest(回退)   搜索空间: max_depth[3, 4, 5] × n_estimators[…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GridSearch(穷举)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最优参数: {'max_depth': 3, 'n_estimators': 50}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交叉验证 best_cv=0.884   测试 macro-F1=0.725   耗时 1.35s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RandomSearch(预算)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最优参数: {'n_estimators': 100, 'max_depth': 3}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交叉验证 best_cv=0.878   测试 macro-F1=0.725   耗时 0.80s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小搜索空间穷举可穷尽更稳；大空间随机预算以极小精度代价换大幅工时 → 工时账写进工单。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工程化项目/m22_tuning_cost/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src/tuning_cost/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M2-2 参数调优与工时账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模型: RandomForest(回退)   搜索空间: max_depth[3, 4, 5] × n_estimators[…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GridSearch(穷举)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最优参数: {'max_depth': 3, 'n_estimators': 50}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交叉验证 best_cv=0.884   测试 macro-F1=0.725   耗时 1.35s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RandomSearch(预算)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最优参数: {'n_estimators': 100, 'max_depth': 3}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交叉验证 best_cv=0.878   测试 macro-F1=0.725   耗时 0.80s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小搜索空间穷举可穷尽更稳；大空间随机预算以极小精度代价换大幅工时 → 工时账写进工单。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默认参数基线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XGBClassifier默认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fit和score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记录基线F1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基线可复现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网格搜索达标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定3参数网格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GridSearchCV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cv=5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F1≥0.72限时内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曲线与最优点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逐档记录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画参数F1曲线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标注拐点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曲线完整拐点论证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30分钟方案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只调3个关键参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对比全网格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给出快速recipe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F1≥0.88或快速方案论证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fit报JSON错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新版需eval_metric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构造时传入eval_metric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搜索跑不完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网格乘cv过大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先粗后细两轮搜索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验证好测试差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cv过拟合网格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留独立测试集终评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回顾预习卡与微课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知识精讲（先例后理）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演示代码骨架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基础实现（D/C层保底）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小结+布置第2次课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D·学徒（≥60）：默认参数基线——跟做保底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C·操作员（≥70）：网格搜索达标——基础完成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B·组长（≥80）：曲线与最优点——标准达成+帮带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A·师傅（≥90）：30分钟方案——进阶拓展+费曼讲解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提交物与评分（工单M2-2）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学号_姓名_M2-2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集成思想：Bagging随机并行与Boosting串行纠错——背后是统计/优化原理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学生代码框架/w4_xxx_starter.py——TODO注释即步骤提示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XGBoo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st参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集成思想：Bagging随机并行与Boosting串行纠错 · XGBoost核心超参：n_estimators/learning_rate/max_depth三角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能跑通XGBoost基线与网格搜索——应用：见工单starter与教师参考实现 · 能在2小时内完成限时调优——应用：见工单starter与教师参考实现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fit报JSON错 · 搜索跑不完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工单M2-2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知识：集成思想：Bagging随机并行与Boo；XGBoost核心超参：n_estima；网格搜索GridSearchCV：把调参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技能：能跑通XGBoost基线与网格搜索——应用：见工单starter与教师参考实现；能在2小时内完成限时调优——应用：见工单starter与教师参考实现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交付：工单M2-2《XGBoost参数调优（上）：基础实现》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65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65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65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下次课预告（第13周）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能搭建并训练MLP分类器——应用：见工单star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课前测①：本课工单M2-2的及格线是什么？（答：F1≥0.72（2h内））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W07-第7次课-XGBoost参数调优（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