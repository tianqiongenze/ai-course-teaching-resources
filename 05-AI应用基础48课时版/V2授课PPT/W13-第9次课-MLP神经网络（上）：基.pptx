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2" r:id="rId14"/>
    <p:sldId id="264" r:id="rId16"/>
    <p:sldId id="265" r:id="rId17"/>
    <p:sldId id="267" r:id="rId19"/>
    <p:sldId id="268" r:id="rId20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6" r:id="rId38"/>
    <p:sldId id="288" r:id="rId40"/>
    <p:sldId id="290" r:id="rId42"/>
    <p:sldId id="291" r:id="rId43"/>
    <p:sldId id="293" r:id="rId45"/>
    <p:sldId id="295" r:id="rId47"/>
    <p:sldId id="297" r:id="rId49"/>
    <p:sldId id="299" r:id="rId51"/>
    <p:sldId id="303" r:id="rId55"/>
    <p:sldId id="306" r:id="rId58"/>
    <p:sldId id="308" r:id="rId60"/>
    <p:sldId id="310" r:id="rId62"/>
    <p:sldId id="312" r:id="rId64"/>
    <p:sldId id="313" r:id="rId65"/>
    <p:sldId id="314" r:id="rId66"/>
    <p:sldId id="315" r:id="rId67"/>
    <p:sldId id="316" r:id="rId68"/>
    <p:sldId id="364" r:id="rId63"/>
    <p:sldId id="365" r:id="rId72"/>
    <p:sldId id="363" r:id="rId70"/>
    <p:sldId id="317" r:id="rId69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4" r:id="rId96"/>
    <p:sldId id="351" r:id="rId103"/>
    <p:sldId id="356" r:id="rId108"/>
    <p:sldId id="357" r:id="rId109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8" Type="http://schemas.openxmlformats.org/officeDocument/2006/relationships/slide" Target="slides/slide21.xml"/><Relationship Id="rId40" Type="http://schemas.openxmlformats.org/officeDocument/2006/relationships/slide" Target="slides/slide22.xml"/><Relationship Id="rId42" Type="http://schemas.openxmlformats.org/officeDocument/2006/relationships/slide" Target="slides/slide23.xml"/><Relationship Id="rId43" Type="http://schemas.openxmlformats.org/officeDocument/2006/relationships/slide" Target="slides/slide24.xml"/><Relationship Id="rId45" Type="http://schemas.openxmlformats.org/officeDocument/2006/relationships/slide" Target="slides/slide25.xml"/><Relationship Id="rId47" Type="http://schemas.openxmlformats.org/officeDocument/2006/relationships/slide" Target="slides/slide26.xml"/><Relationship Id="rId49" Type="http://schemas.openxmlformats.org/officeDocument/2006/relationships/slide" Target="slides/slide27.xml"/><Relationship Id="rId51" Type="http://schemas.openxmlformats.org/officeDocument/2006/relationships/slide" Target="slides/slide28.xml"/><Relationship Id="rId55" Type="http://schemas.openxmlformats.org/officeDocument/2006/relationships/slide" Target="slides/slide29.xml"/><Relationship Id="rId58" Type="http://schemas.openxmlformats.org/officeDocument/2006/relationships/slide" Target="slides/slide30.xml"/><Relationship Id="rId60" Type="http://schemas.openxmlformats.org/officeDocument/2006/relationships/slide" Target="slides/slide31.xml"/><Relationship Id="rId62" Type="http://schemas.openxmlformats.org/officeDocument/2006/relationships/slide" Target="slides/slide32.xml"/><Relationship Id="rId63" Type="http://schemas.openxmlformats.org/officeDocument/2006/relationships/slide" Target="slides/slide38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41.xml"/><Relationship Id="rId70" Type="http://schemas.openxmlformats.org/officeDocument/2006/relationships/slide" Target="slides/slide40.xml"/><Relationship Id="rId71" Type="http://schemas.openxmlformats.org/officeDocument/2006/relationships/slide" Target="slides/slide42.xml"/><Relationship Id="rId72" Type="http://schemas.openxmlformats.org/officeDocument/2006/relationships/slide" Target="slides/slide39.xml"/><Relationship Id="rId73" Type="http://schemas.openxmlformats.org/officeDocument/2006/relationships/slide" Target="slides/slide43.xml"/><Relationship Id="rId75" Type="http://schemas.openxmlformats.org/officeDocument/2006/relationships/slide" Target="slides/slide44.xml"/><Relationship Id="rId77" Type="http://schemas.openxmlformats.org/officeDocument/2006/relationships/slide" Target="slides/slide45.xml"/><Relationship Id="rId79" Type="http://schemas.openxmlformats.org/officeDocument/2006/relationships/slide" Target="slides/slide46.xml"/><Relationship Id="rId80" Type="http://schemas.openxmlformats.org/officeDocument/2006/relationships/slide" Target="slides/slide47.xml"/><Relationship Id="rId82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Relationship Id="rId89" Type="http://schemas.openxmlformats.org/officeDocument/2006/relationships/slide" Target="slides/slide54.xml"/><Relationship Id="rId90" Type="http://schemas.openxmlformats.org/officeDocument/2006/relationships/slide" Target="slides/slide55.xml"/><Relationship Id="rId91" Type="http://schemas.openxmlformats.org/officeDocument/2006/relationships/slide" Target="slides/slide56.xml"/><Relationship Id="rId93" Type="http://schemas.openxmlformats.org/officeDocument/2006/relationships/slide" Target="slides/slide57.xml"/><Relationship Id="rId94" Type="http://schemas.openxmlformats.org/officeDocument/2006/relationships/slide" Target="slides/slide58.xml"/><Relationship Id="rId95" Type="http://schemas.openxmlformats.org/officeDocument/2006/relationships/slide" Target="slides/slide59.xml"/><Relationship Id="rId96" Type="http://schemas.openxmlformats.org/officeDocument/2006/relationships/slide" Target="slides/slide60.xml"/><Relationship Id="rId103" Type="http://schemas.openxmlformats.org/officeDocument/2006/relationships/slide" Target="slides/slide61.xml"/><Relationship Id="rId108" Type="http://schemas.openxmlformats.org/officeDocument/2006/relationships/slide" Target="slides/slide62.xml"/><Relationship Id="rId109" Type="http://schemas.openxmlformats.org/officeDocument/2006/relationships/slide" Target="slides/slide63.xml"/><Relationship Id="rId113" Type="http://schemas.openxmlformats.org/officeDocument/2006/relationships/slide" Target="slides/slide64.xml"/><Relationship Id="rId114" Type="http://schemas.openxmlformats.org/officeDocument/2006/relationships/slide" Target="slides/slide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详解B1·神经元与MLP：先读定义→场景为什么用它→看代码实例→扩展给A层。C/D层掌握前三格，A层加扩展格。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详解B2·ReLU激活：先读定义→场景为什么用它→看代码实例→扩展给A层。C/D层掌握前三格，A层加扩展格。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应用页2：知识点放回产线场景——先看输出再看定义。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详解B3·前向与反向传播：先读定义→场景为什么用它→看代码实例→扩展给A层。C/D层掌握前三格，A层加扩展格。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详解B4·过拟合三信号：先读定义→场景为什么用它→看代码实例→扩展给A层。C/D层掌握前三格，A层加扩展格。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详解B5·两大药方：先读定义→场景为什么用它→看代码实例→扩展给A层。C/D层掌握前三格，A层加扩展格。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详解B6·损失曲线听诊器：先读定义→场景为什么用它→看代码实例→扩展给A层。C/D层掌握前三格，A层加扩展格。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避坑清单：每条问'为什么会踩'——把'注意'变成'知道为什么注意'。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第18周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65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怎么用好这套PPT（使用说明）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课前：只看①②③——定位/流程/目标，带问题来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课中：跟着④⑤走——知识卡打地基，工单练技能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卡住：查⑤避坑+错误速查，再举手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课后：⑦拓展自测+预习清单——闭环从课后开始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这份PPT=教材+工单说明书+复习提纲三合一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本课(第7周起·跳过W08/W09·至第20周·12周×4课时)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M2-3a《MLP神经网络（上）：基础实现》——本课工单即考核单元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世界职业院校技能大赛（人工智能赛道）——数据处理/模型赛项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课前测②：'网络结构/激活函数'用一句话说说你的理解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《人工智能应用基础项目式教程》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深度学习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神经网络结构(层/节点/激活)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MLP与反向传播直观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限时完成调优并记录工时账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题目：课前测①：本课工单M2-3a的及格线是什么？（答：准确率≥75%）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常见错误：背概念不看场景；模型题不看数据分布先猜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本课回收：考点会在知识卡与随堂自测中再次出现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怎么证：工单'功能40%'全项+指标达标+运行截图贴过程记录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达标线：代码能跑+指标达工单线=过关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目标：数据诚信与工程纪律（课程思政融入）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怎么养：指标不造假/随机种子可复现/调参留痕——每个工单都在练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达标线：实验可复现+提交记录连续=过关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任务背景：第一个神经网络。王主任路过看你屏幕：'这堆圈圈连线，比我闺女画的还乱。'林工笑：'乱中有序——每个圈都在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冲突点：数据量/模型选型/算力时限——手工做不完，必须建模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决策点：用什么模型？怎么验证？指标线定多少？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知识详解：神经元与MLP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神经元与MLP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神经元=加权求和+激活；MLP多层堆叠学非线性边界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传统模型画不出的弯弯曲曲分类面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Dense(64,'relu')接Dense(1,'sigmoid')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误区：层数越深越好——数据少时深网白喂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知识详解：ReLU激活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ReLU激活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负半轴归零——梯度不饱和训练快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隐藏层的默认选择——现代网络标配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Dense(64, activation='relu')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误区：输出层也用ReLU——按任务选sigmoid/softmax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知识应用（2）：激活函数ReLU：负半轴归零，梯度不饱和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激活函数ReLU：负半轴归零，梯度不饱和。在两江智造产线上的用法：见工单starter与教师参考实现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知识详解：前向与反向传播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前向与反向传播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前向算输出、反向调权重——网络的'想'与'学'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只讲直觉不推公式——答辩能画图讲清即可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fit()内部自动完成传播循环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参数量决定显存与数据需求——画三层图讲一遍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知识详解：过拟合三信号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过拟合三信号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训练loss降、验证loss升、gap拉大——模型在背题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MLP必看学习曲线——本课最重要的诊断图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plot(h['loss'], h['val_loss']) 两线对比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误区：只看训练准确率——它永远趋近100%没意义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知识详解：两大药方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两大药方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Dropout随机失活与EarlyStopping及时止损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过拟合确诊后的两个处方——先试这两个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Dropout(0.5) + EarlyStopping(patience=10)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误区：dropout乱设0.9——常用区间0.2-0.5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知识详解：损失曲线听诊器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损失曲线听诊器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先看曲线再动手改结构——训练前先诊断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loss不降/NaN/爆炸各有病因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曲线不降查学习率：NaN降lr、平线升lr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曲线是模型体检报告——读它胜过背超参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本次课六步法流程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决策：定方案·选模型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实施一：数据+建模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检查：自检互查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实施二：调优+拓展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评价：当堂评分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课后：微课预习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六步法课堂化——每次课都知道现在在哪一步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本课术语表（听不懂时查这里）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术语①：神经元=加权求和+激活；MLP=多层堆叠学非线性——神经元=加权求和+激活；MLP=多层堆叠学非线性边界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术语②：激活函数ReLU：负半轴归零，梯度不饱和——应用：见工单starter与教师参考实现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术语③：能搭建并训练MLP分类器——应用：见工单starter与教师参考实现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用法：教师说术语→学生查表——第一周建立'术语-含义'反射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95528" y="2000000"/>
            <a:ext cx="310896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20000"/>
            <a:ext cx="31089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5952744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2744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49256" y="2000000"/>
            <a:ext cx="201168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9256" y="2120000"/>
            <a:ext cx="201168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270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80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52744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52744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49256" y="270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49256" y="280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" y="3320000"/>
            <a:ext cx="310896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342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52744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52744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1000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9256" y="3320000"/>
            <a:ext cx="201168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49256" y="342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" y="3940000"/>
            <a:ext cx="310896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4040000"/>
            <a:ext cx="310896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52744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52744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01000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49256" y="3940000"/>
            <a:ext cx="201168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9256" y="4040000"/>
            <a:ext cx="201168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本课决策题：MLP神经网络：备选方案决策矩阵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问②值吗——精度/耗时/可复现性三角权衡（工程账）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0545E8"/>
                </a:solidFill>
              </a:rPr>
              <a:t>python -m pytest -q    # 全量测试应全绿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0545E8"/>
                </a:solidFill>
              </a:rPr>
              <a:t>tests/      正常 / 边界 / 异常三档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F5670F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1801368"/>
            <a:ext cx="10899648" cy="2286000"/>
          </a:xfrm>
          <a:prstGeom prst="roundRect">
            <a:avLst>
              <a:gd name="adj" fmla="val 6000"/>
            </a:avLst>
          </a:prstGeom>
          <a:solidFill>
            <a:srgbClr val="F3F6FD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58952" y="4178808"/>
            <a:ext cx="10899648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8952" y="5321808"/>
            <a:ext cx="10899648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1929384"/>
            <a:ext cx="10469880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45E8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010328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297680"/>
            <a:ext cx="104698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45E8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010328"/>
                </a:solidFill>
              </a:rPr>
              <a:t>□ 代码从头跑到尾不报错　□ 指标与工单及格线逐项对齐　□ 随机种子已固定（可复现）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31536"/>
            <a:ext cx="104698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670F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010328"/>
                </a:solidFill>
              </a:rPr>
              <a:t>达标线 D≥60 / C≥70 / B≥80 / A≥90　｜　提交 学号_姓名_工单号 + 运行截图 + 决策记录 + Git≥1次commit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回顾预习卡与微课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知识精讲（先例后理）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演示代码骨架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基础实现（D/C层保底）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0000" y="398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000" y="400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0000" y="392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小结+布置第2次课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步骤1先看工单样例再动手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步骤2先看工单样例再动手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步骤3先看工单样例再动手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D·学徒（≥60）：跑通模板MLP——跟做保底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C·操作员（≥70）：曲线诊断报告——基础完成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B·组长（≥80）：药方有效——标准达成+帮带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A·师傅（≥90）：小结构搜索——进阶拓展+费曼讲解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指标达标：准确率/F1/耗时对齐工单及格线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随机种子已固定（random_state=42）——结果可复现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文件命名：学号_姓名_工单号.py+模型文件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conda环境正确（提示符显示(ai48)）再运行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A层加餐：原理深挖（选读）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为什么有效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神经元=加权求和+激活；MLP=多层堆叠学非线性边界——背后是统计/优化原理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改一个参数跑对比实验——用数据说话，不凭感觉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边界在哪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什么场景会失效？——数据漂移/样本不平衡/泄漏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延伸阅读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微课深化版+多解法手册——A层自己挖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对齐预处理——同一scaler/归一化参数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学生代码框架/w5_xxx_starter.py——TODO注释即步骤提示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分类模型+阈值规则——先自动化易判样本，人只复核疑难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M2-3a的技能点即其最小实现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函数封装+管道化——可复用，B层路线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集成/调参/特征工程组合拳——冲指标，A层路线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先让它跑起来→再让它对→最后让它准（KISS原则）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可解释性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不迷信黑盒——每个预测能说出'为什么'才敢上线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算力节约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CPU优先调优——绿色计算从课堂开始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模型抄袭=岗位上的'无证驾驶'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loss为nan · 训练不动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工单M2-3a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知识：神经元=加权求和+激活；MLP=多层堆叠；激活函数ReLU：负半轴归零，梯度不饱和；前向传播算输出、反向传播调权重（只讲直觉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技能：能搭建并训练MLP分类器——应用：见工单starter与教师参考实现；能读懂训练验证损失曲线——应用：见工单starter与教师参考实现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交付：工单M2-3a《MLP神经网络（上）：基础实现》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习惯：调参每进一步就commit——每周至少1次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睡前自查三问（30秒）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问①今天的核心概念能一句话说清吗？——说不清回看知识卡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问②工单步骤全部勾完了吗？——没勾的明早第一件事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问③Git推送今天做了吗？——每周至少1次，工程素养分依据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三问通过=今天闭环；明天从微课开始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W08-第9次课-MLP神经网络（上）：基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