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9" r:id="rId11"/>
    <p:sldId id="260" r:id="rId12"/>
    <p:sldId id="261" r:id="rId13"/>
    <p:sldId id="262" r:id="rId14"/>
    <p:sldId id="264" r:id="rId16"/>
    <p:sldId id="265" r:id="rId17"/>
    <p:sldId id="267" r:id="rId19"/>
    <p:sldId id="268" r:id="rId20"/>
    <p:sldId id="272" r:id="rId24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6" r:id="rId38"/>
    <p:sldId id="288" r:id="rId40"/>
    <p:sldId id="289" r:id="rId41"/>
    <p:sldId id="291" r:id="rId43"/>
    <p:sldId id="294" r:id="rId46"/>
    <p:sldId id="296" r:id="rId48"/>
    <p:sldId id="299" r:id="rId51"/>
    <p:sldId id="302" r:id="rId54"/>
    <p:sldId id="305" r:id="rId57"/>
    <p:sldId id="308" r:id="rId60"/>
    <p:sldId id="310" r:id="rId62"/>
    <p:sldId id="312" r:id="rId64"/>
    <p:sldId id="315" r:id="rId67"/>
    <p:sldId id="316" r:id="rId68"/>
    <p:sldId id="317" r:id="rId69"/>
    <p:sldId id="318" r:id="rId70"/>
    <p:sldId id="366" r:id="rId65"/>
    <p:sldId id="367" r:id="rId63"/>
    <p:sldId id="365" r:id="rId66"/>
    <p:sldId id="319" r:id="rId71"/>
    <p:sldId id="321" r:id="rId73"/>
    <p:sldId id="323" r:id="rId75"/>
    <p:sldId id="325" r:id="rId77"/>
    <p:sldId id="327" r:id="rId79"/>
    <p:sldId id="329" r:id="rId81"/>
    <p:sldId id="330" r:id="rId82"/>
    <p:sldId id="332" r:id="rId84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3" r:id="rId95"/>
    <p:sldId id="344" r:id="rId96"/>
    <p:sldId id="345" r:id="rId97"/>
    <p:sldId id="346" r:id="rId98"/>
    <p:sldId id="353" r:id="rId105"/>
    <p:sldId id="358" r:id="rId110"/>
    <p:sldId id="359" r:id="rId111"/>
    <p:sldId id="363" r:id="rId115"/>
    <p:sldId id="364" r:id="rId1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4" Type="http://schemas.openxmlformats.org/officeDocument/2006/relationships/slide" Target="slides/slide11.xml"/><Relationship Id="rId26" Type="http://schemas.openxmlformats.org/officeDocument/2006/relationships/slide" Target="slides/slide12.xml"/><Relationship Id="rId27" Type="http://schemas.openxmlformats.org/officeDocument/2006/relationships/slide" Target="slides/slide13.xml"/><Relationship Id="rId28" Type="http://schemas.openxmlformats.org/officeDocument/2006/relationships/slide" Target="slides/slide14.xml"/><Relationship Id="rId29" Type="http://schemas.openxmlformats.org/officeDocument/2006/relationships/slide" Target="slides/slide15.xml"/><Relationship Id="rId30" Type="http://schemas.openxmlformats.org/officeDocument/2006/relationships/slide" Target="slides/slide16.xml"/><Relationship Id="rId31" Type="http://schemas.openxmlformats.org/officeDocument/2006/relationships/slide" Target="slides/slide17.xml"/><Relationship Id="rId32" Type="http://schemas.openxmlformats.org/officeDocument/2006/relationships/slide" Target="slides/slide18.xml"/><Relationship Id="rId33" Type="http://schemas.openxmlformats.org/officeDocument/2006/relationships/slide" Target="slides/slide19.xml"/><Relationship Id="rId38" Type="http://schemas.openxmlformats.org/officeDocument/2006/relationships/slide" Target="slides/slide20.xml"/><Relationship Id="rId40" Type="http://schemas.openxmlformats.org/officeDocument/2006/relationships/slide" Target="slides/slide21.xml"/><Relationship Id="rId41" Type="http://schemas.openxmlformats.org/officeDocument/2006/relationships/slide" Target="slides/slide22.xml"/><Relationship Id="rId43" Type="http://schemas.openxmlformats.org/officeDocument/2006/relationships/slide" Target="slides/slide23.xml"/><Relationship Id="rId46" Type="http://schemas.openxmlformats.org/officeDocument/2006/relationships/slide" Target="slides/slide24.xml"/><Relationship Id="rId48" Type="http://schemas.openxmlformats.org/officeDocument/2006/relationships/slide" Target="slides/slide25.xml"/><Relationship Id="rId51" Type="http://schemas.openxmlformats.org/officeDocument/2006/relationships/slide" Target="slides/slide26.xml"/><Relationship Id="rId54" Type="http://schemas.openxmlformats.org/officeDocument/2006/relationships/slide" Target="slides/slide27.xml"/><Relationship Id="rId57" Type="http://schemas.openxmlformats.org/officeDocument/2006/relationships/slide" Target="slides/slide28.xml"/><Relationship Id="rId60" Type="http://schemas.openxmlformats.org/officeDocument/2006/relationships/slide" Target="slides/slide29.xml"/><Relationship Id="rId62" Type="http://schemas.openxmlformats.org/officeDocument/2006/relationships/slide" Target="slides/slide30.xml"/><Relationship Id="rId63" Type="http://schemas.openxmlformats.org/officeDocument/2006/relationships/slide" Target="slides/slide37.xml"/><Relationship Id="rId64" Type="http://schemas.openxmlformats.org/officeDocument/2006/relationships/slide" Target="slides/slide31.xml"/><Relationship Id="rId65" Type="http://schemas.openxmlformats.org/officeDocument/2006/relationships/slide" Target="slides/slide36.xml"/><Relationship Id="rId66" Type="http://schemas.openxmlformats.org/officeDocument/2006/relationships/slide" Target="slides/slide38.xml"/><Relationship Id="rId67" Type="http://schemas.openxmlformats.org/officeDocument/2006/relationships/slide" Target="slides/slide32.xml"/><Relationship Id="rId68" Type="http://schemas.openxmlformats.org/officeDocument/2006/relationships/slide" Target="slides/slide33.xml"/><Relationship Id="rId69" Type="http://schemas.openxmlformats.org/officeDocument/2006/relationships/slide" Target="slides/slide34.xml"/><Relationship Id="rId70" Type="http://schemas.openxmlformats.org/officeDocument/2006/relationships/slide" Target="slides/slide35.xml"/><Relationship Id="rId71" Type="http://schemas.openxmlformats.org/officeDocument/2006/relationships/slide" Target="slides/slide39.xml"/><Relationship Id="rId73" Type="http://schemas.openxmlformats.org/officeDocument/2006/relationships/slide" Target="slides/slide40.xml"/><Relationship Id="rId75" Type="http://schemas.openxmlformats.org/officeDocument/2006/relationships/slide" Target="slides/slide41.xml"/><Relationship Id="rId77" Type="http://schemas.openxmlformats.org/officeDocument/2006/relationships/slide" Target="slides/slide42.xml"/><Relationship Id="rId79" Type="http://schemas.openxmlformats.org/officeDocument/2006/relationships/slide" Target="slides/slide43.xml"/><Relationship Id="rId81" Type="http://schemas.openxmlformats.org/officeDocument/2006/relationships/slide" Target="slides/slide44.xml"/><Relationship Id="rId82" Type="http://schemas.openxmlformats.org/officeDocument/2006/relationships/slide" Target="slides/slide45.xml"/><Relationship Id="rId84" Type="http://schemas.openxmlformats.org/officeDocument/2006/relationships/slide" Target="slides/slide46.xml"/><Relationship Id="rId86" Type="http://schemas.openxmlformats.org/officeDocument/2006/relationships/slide" Target="slides/slide47.xml"/><Relationship Id="rId87" Type="http://schemas.openxmlformats.org/officeDocument/2006/relationships/slide" Target="slides/slide48.xml"/><Relationship Id="rId88" Type="http://schemas.openxmlformats.org/officeDocument/2006/relationships/slide" Target="slides/slide49.xml"/><Relationship Id="rId89" Type="http://schemas.openxmlformats.org/officeDocument/2006/relationships/slide" Target="slides/slide50.xml"/><Relationship Id="rId90" Type="http://schemas.openxmlformats.org/officeDocument/2006/relationships/slide" Target="slides/slide51.xml"/><Relationship Id="rId91" Type="http://schemas.openxmlformats.org/officeDocument/2006/relationships/slide" Target="slides/slide52.xml"/><Relationship Id="rId92" Type="http://schemas.openxmlformats.org/officeDocument/2006/relationships/slide" Target="slides/slide53.xml"/><Relationship Id="rId93" Type="http://schemas.openxmlformats.org/officeDocument/2006/relationships/slide" Target="slides/slide54.xml"/><Relationship Id="rId95" Type="http://schemas.openxmlformats.org/officeDocument/2006/relationships/slide" Target="slides/slide55.xml"/><Relationship Id="rId96" Type="http://schemas.openxmlformats.org/officeDocument/2006/relationships/slide" Target="slides/slide56.xml"/><Relationship Id="rId97" Type="http://schemas.openxmlformats.org/officeDocument/2006/relationships/slide" Target="slides/slide57.xml"/><Relationship Id="rId98" Type="http://schemas.openxmlformats.org/officeDocument/2006/relationships/slide" Target="slides/slide58.xml"/><Relationship Id="rId105" Type="http://schemas.openxmlformats.org/officeDocument/2006/relationships/slide" Target="slides/slide59.xml"/><Relationship Id="rId110" Type="http://schemas.openxmlformats.org/officeDocument/2006/relationships/slide" Target="slides/slide60.xml"/><Relationship Id="rId111" Type="http://schemas.openxmlformats.org/officeDocument/2006/relationships/slide" Target="slides/slide61.xml"/><Relationship Id="rId115" Type="http://schemas.openxmlformats.org/officeDocument/2006/relationships/slide" Target="slides/slide62.xml"/><Relationship Id="rId116" Type="http://schemas.openxmlformats.org/officeDocument/2006/relationships/slide" Target="slides/slide6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开场30秒：《CNN或LSTM二选一（竞标）（上）：基础实现》，80分钟=2课时×40分钟。课前已发工单+微课知识卡。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议程页30秒：指读分钟归属，强调课前已完成资讯计划。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过渡页：一句话点明为什么学、学了去哪。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念课程性质一行，指读证书衔接（30秒）。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知识地图：先见森林（40秒）。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流程预告。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决策10→实施40→检查10→实施30→评价10口径（4课时周两次课分摊）。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PRIMM之Predict。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课前测：点2人说答案，只追问为什么。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预习检查页：左栏布置下次课教材预习（下次quiz从中出）；右栏抽查上次课检查知识点——随机2人白板/口述，答对记过程分。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情境说书30秒：分组竞标周：老周把两份需求拍在桌上——焊缝缺陷CNN、风机寿命LSTM，'各组选一题，答辩定预算。'工单M2-3b：二选…</a:t>
            </a:r>
          </a:p>
          <a:p>
            <a:r>
              <a:t>抛问：'如果是你，第一步干什么？'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先例后理。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详解B1·卷积：先读定义→场景为什么用它→看代码实例→扩展给A层。C/D层掌握前三格，A层加扩展格。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应用页1：知识点放回产线场景——先看输出再看定义。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详解B2·池化：先读定义→场景为什么用它→看代码实例→扩展给A层。C/D层掌握前三格，A层加扩展格。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详解B3·滑动窗口造样本：先读定义→场景为什么用它→看代码实例→扩展给A层。C/D层掌握前三格，A层加扩展格。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详解B4·门控直觉：先读定义→场景为什么用它→看代码实例→扩展给A层。C/D层掌握前三格，A层加扩展格。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详解B5·竞标答辩结构：先读定义→场景为什么用它→看代码实例→扩展给A层。C/D层掌握前三格，A层加扩展格。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详解B6·选型依据：先读定义→场景为什么用它→看代码实例→扩展给A层。C/D层掌握前三格，A层加扩展格。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技能点=做完你应该会。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演示《CNN最小版》：跑通→逐行→改参数（演的核心素材）。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演示《滑动窗口》：跑通→逐行→改参数（演的核心素材）。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流程图页：作为'我们现在在哪一步'的路标。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先决策再领工单。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决策矩阵：组内3分钟打分，结论理由入工单。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工单发布：'设备智能运维中心工单M2-3b'——及格线指标达标+竞标书完整。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D层跟做保底，领做做完即达标。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C层独立完成，卡壳先查错误速查表。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B层全功能+规范，帮带D/C。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A层进阶拓展+2分钟展示（费曼带徒）。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错误速查：现场制造「Conv输入报维度」带学生三步排查。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避坑清单：每条问'为什么会踩'——把'注意'变成'知道为什么注意'。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收尾：检查+评价。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自检→互查签字→教师抽查。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命名'学号_姓名_工单号.zip'，24h反馈。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素养页：点1个真实案例（30秒）。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教材衔接：教材：《人工智能应用基础项目式教程》（程显毅 陈凤妹 王岩 编著，978-7-111-77382-5）— 项目4 深度学习 | 预习知识点：CNN卷积/池化；LSTM时序依赖；分组竞标 | 课中检查知识点：能选CNN或LSTM并用指标赢下竞标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下次课预告：布置微课与导学单。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AI应用基础（48课时版）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设备智能运维中心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CNN或LSTM二选一（竞标）（上）：基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第19周 · 第11次课（2课时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· 理实一体 · 配套：分层工单+starter · 本课主用：Jupyter（全程实训）+ PyCharm CE + ProcessOn（竞标书）+ Git/GitHub（每周提交）</a:t>
            </a:r>
          </a:p>
        </p:txBody>
      </p:sp>
      <p:pic>
        <p:nvPicPr>
          <p:cNvPr id="7" name="Picture 6" descr="W9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本次课议程（六部分 · 80分钟）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8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课程定位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课前已读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0000" y="2610000"/>
            <a:ext cx="3900000" cy="5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性质·岗位·证书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90000" y="2000000"/>
            <a:ext cx="390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课堂流程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约2′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9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80分钟时间盒与ABCD分层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8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目标与资讯·情境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约5′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80000" y="4230000"/>
            <a:ext cx="3900000" cy="5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目标+本课剧情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9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知识精讲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9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基础知识大卡+代码演示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8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任务实施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六步法核心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80000" y="5850000"/>
            <a:ext cx="3900000" cy="5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工单·分层·避坑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7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7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7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9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检查与评价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9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三层质检·当堂评分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000" y="6350000"/>
            <a:ext cx="10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资讯·计划已课前线上完成——课堂从决策直接开始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 / 63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怎么用好这套PPT（使用说明）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课前：只看①②③——定位/流程/目标，带问题来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课中：跟着④⑤走——知识卡打地基，工单练技能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卡住：查⑤避坑+错误速查，再举手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课后：⑦拓展自测+预习清单——闭环从课后开始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这份PPT=教材+工单说明书+复习提纲三合一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 / 63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01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课程定位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本课在课程体系中的位置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 / 63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课程定位：AI应用基础（48课时版）（课程标准摘录）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26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6000" y="1880000"/>
            <a:ext cx="2652500" cy="5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60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课程性质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6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专业核心课扩展版：48课时全谱系（数据→ML→DL→视觉→大模型→智能体）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8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8500" y="1880000"/>
            <a:ext cx="2652500" cy="56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85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面向岗位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18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AI应用工程师、工业视觉开发、工业互联网数据分析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51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51000" y="1880000"/>
            <a:ext cx="2652500" cy="56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510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对接证书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1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1+X AI应用实践（初级=M1-M3/中级=M4/高级=M5）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13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13500" y="1880000"/>
            <a:ext cx="2652500" cy="5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135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课程衔接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43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前：无Python先修（零基础·并行开设） → 本课(第7周起·跳过W08/W09·至第20周·12周×4课时) → 后：项目实战/毕设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 / 63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本课知识图谱（先见森林，再见树木）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CNN或L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STM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5条分支导览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基础知识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卷积=小核滑动扫全图，参数共享天然适合图像——应用：见工单starter与教师参考实现 · 池化降维：留最强信号，缩计算量——应用：见工单starter与教师参考实现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继续夯实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滑动窗口造样本：一段序列切出无数训练对（LSTM路线） · 门控直觉：遗忘门输入门决定记什么忘什么——应用：见工单starter与教师参考实现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能按题完成CNN或LSTM建模——应用：见工单starter与教师参考实现 · 能组队产出竞标书——应用：见工单starter与教师参考实现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分层任务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D跟做保底 · C基础完成 · B标准达成 · A进阶拓展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400000" y="3350000"/>
            <a:ext cx="1050000" cy="237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500000" y="533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0000" y="533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0000" y="555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课堂评价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40000" y="542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功能40% · 技术25% · 规范20% · 素养15%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 / 63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知识地图分支详解（二）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技能线：能按题完成CNN或LSTM建模——应用：见工单starter与教师参考实现；能组队产出竞标书——应用：见工单starter与教师参考实现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分层任务线：D跟做→C独立→B帮带→A拓展（每4周动态升降）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课堂评价线：功能40%+技术25%+规范20%+素养15%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三条线闭环：技能靠任务练，任务按评价收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 / 63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岗课赛证对照（本课坐标）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设备智能运维中心：AI应用工程师、工业视觉开发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M2-3b《CNN或LSTM二选一（竞标）（上）：基础实现》——本课工单即考核单元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1+X AI应用实践（初级=M1-M3/中级=M4）——本课工单即考点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世界职业院校技能大赛（人工智能赛道）——数据处理/模型赛项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 / 63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02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课堂流程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80分钟时间盒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 / 63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本次课流程（80分钟时间盒）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0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190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0000" y="200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资讯·计划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0000" y="200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课前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0000" y="200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线上导学单+预习自测（已完成的打√）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000" y="269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000" y="269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000" y="279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决策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0" y="279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0000" y="279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备选方案对比 → 决策矩阵打分 → 结论公示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348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000" y="348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000" y="358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0000" y="358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30min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0000" y="358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骨架贯通：体验→应用，完成工单核心功能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000" y="427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000" y="427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000" y="437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检查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00000" y="437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5min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00000" y="437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三层质检：自检—互检—师查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506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0000" y="506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000" y="516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00000" y="516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25min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00000" y="516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优化迭代：冲优秀标准/拓展任务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0000" y="585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0000" y="585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0000" y="595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评价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00000" y="595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00000" y="595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D/C/B/A量表评分 + 课后任务布置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1234440"/>
            <a:ext cx="10000000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每课时40分钟 · 共80分钟（六步法课堂化）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 / 63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03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目标与资讯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带着目标进课堂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11 / 63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课前资讯回顾（六步之“资讯·计划”）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100000"/>
            <a:ext cx="10600000" cy="17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2100000"/>
            <a:ext cx="120000" cy="1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000" y="2280000"/>
            <a:ext cx="100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预习快问：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010328"/>
                </a:solidFill>
                <a:latin typeface="微软雅黑"/>
              </a:rPr>
              <a:t>课前测①：本课工单M2-3b的及格线是什么？（答：指标达标+竞标书完整）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100000"/>
            <a:ext cx="106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课前检查：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课前测②：'卷积滑动直觉'用一句话说说你的理解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12 / 63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课前预习与检查（教材衔接 · 上次课回顾）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4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5300000" cy="7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1880000"/>
            <a:ext cx="48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📖 课前预习｜下次课教材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0000" y="2650000"/>
            <a:ext cx="4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《人工智能应用基础项目式教程》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项目4 深度学习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0000" y="376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40000" y="3700000"/>
            <a:ext cx="4500000" cy="4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CNN卷积/池化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0000" y="438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40000" y="4320000"/>
            <a:ext cx="4500000" cy="4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LSTM时序依赖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00000" y="5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40000" y="4940000"/>
            <a:ext cx="4500000" cy="4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分组竞标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1800000"/>
            <a:ext cx="5360000" cy="44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1800000"/>
            <a:ext cx="536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1880000"/>
            <a:ext cx="49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✓ 课中检查｜上次课（）抽查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00000" y="2800000"/>
            <a:ext cx="900000" cy="4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00000" y="2840000"/>
            <a:ext cx="800000" cy="4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微软雅黑"/>
              </a:rPr>
              <a:t>抽查1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50000" y="2760000"/>
            <a:ext cx="3860000" cy="5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能看懂学习曲线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580000"/>
            <a:ext cx="900000" cy="4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00000" y="3620000"/>
            <a:ext cx="800000" cy="4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微软雅黑"/>
              </a:rPr>
              <a:t>抽查2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50000" y="3540000"/>
            <a:ext cx="386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会用early stopping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00000" y="4380000"/>
            <a:ext cx="4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1">
                <a:solidFill>
                  <a:srgbClr val="44546A"/>
                </a:solidFill>
                <a:latin typeface="微软雅黑"/>
              </a:rPr>
              <a:t>抽查方式：随机2人白板演示/口述——答对记过程分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13 / 63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课前测逐题精讲（错得最多的那道）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题目：课前测①：本课工单M2-3b的及格线是什么？（答：指标达标+竞标书完整）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正确思路：从'考哪个知识卡'入手——先定位再作答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常见错误：背概念不看场景；模型题不看数据分布先猜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本课回收：考点会在知识卡与随堂自测中再次出现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14 / 63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知识目标：怎么学·怎么证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目标：卷积=小核滑动扫全图，参数共享天然适合图像——应用：见工单starter与教师参考实现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怎么学：知识卡先例后理→快查核对→应用页回到产线场景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怎么证：课前quiz+随堂自测+工单'技术质量25%'项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达标线：能复述定义+能说出产线例子=过关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15 / 63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能力目标：怎么练·怎么证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目标：能按题完成CNN或LSTM建模——应用：见工单starter与教师参考实现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怎么练：starter跟做（D）→独立完成（C）→规范+帮带（B）→拓展（A）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怎么证：工单'功能40%'全项+指标达标+运行截图贴过程记录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达标线：代码能跑+指标达工单线=过关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16 / 63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素质目标：怎么养·怎么证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目标：数据诚信与工程纪律（课程思政融入）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怎么养：指标不造假/随机种子可复现/调参留痕——每个工单都在练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怎么证：Git提交历史（每周≥1次）+工单'素养15%'项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达标线：实验可复现+提交记录连续=过关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17 / 63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设备智能运维中心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分组竞标周：老周把两份需求拍在桌上——焊缝缺陷CNN、风机寿命LSTM，'各组选一题，答辩定预算。'工单M2-3b：二选一实战，卷积或门控，用指标赢下项目。</a:t>
            </a:r>
          </a:p>
        </p:txBody>
      </p:sp>
      <p:pic>
        <p:nvPicPr>
          <p:cNvPr id="9" name="Picture 8" descr="W9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18 / 63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剧情拆解：任务 → 冲突 → 你的决策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任务背景：分组竞标周：老周把两份需求拍在桌上——焊缝缺陷CNN、风机寿命LSTM，'各组选一题，答辩定预算。'工单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冲突点：数据量/模型选型/算力时限——手工做不完，必须建模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决策点：用什么模型？怎么验证？指标线定多少？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带着这三个问题进知识精讲——每个知识点都是解药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19 / 63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04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知识精讲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基础知识 → 技能 → 代码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20 / 63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知识详解：卷积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B01 · 卷积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小核滑动扫全图——像拿放大镜逐格找特征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缺陷图/振动频谱等有局部结构的输入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Conv2D(32, (3,3), activation='relu')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参数共享让核很轻——全网找同一类特征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21 / 63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知识应用（1）：卷积=小核滑动扫全图，参数共享天然适合图像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卷积=小核滑动扫全图，参数共享天然适合图像。在两江智造产线上的用法：见工单starter与教师参考实现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22 / 63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知识详解：池化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B02 · 池化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MaxPool取窗口最大值——只留最强信号缩计算量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卷积后逐层压图——网络越深图越小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MaxPooling2D((2,2)) 尺寸减半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误区：池化丢信息可惜——保留的是最强的证据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23 / 63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知识详解：滑动窗口造样本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B03 · 滑动窗口造样本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一段长序列按窗切片出无数训练对——序列版裁剪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寿命预测数据少——一个窗口配一个标签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X.append(seq[i:i+win]); y.append(rul[i+win])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窗口与步长是超参——重叠窗口样本翻倍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24 / 63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知识详解：门控直觉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B04 · 门控直觉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遗忘门决定忘什么、输入门决定记什么——记忆开关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时序依赖长（振动趋势/温度累积）时的选择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LSTM(64, return_sequences=True) 堆两层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误区：LSTM万能——短依赖GRU就够还更快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25 / 63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知识详解：竞标答辩结构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B05 · 竞标答辩结构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问题-方案-指标-风险四段论——工程师讲方案的骨架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小组竞标现场——按此结构过评委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PPT四页各对应一段，每页一个核心主张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误区：技术细节开篇——评委先听你解决什么问题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26 / 63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知识详解：选型依据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B06 · 选型依据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图像缺陷选CNN、时序寿命选LSTM——数据形状定路线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二选一作业的决策准则——不是抓阄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输入是图→CNN；输入是序列→LSTM 一句话定路线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数据形状写进选型表——答辩评委必问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27 / 63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技能点：做完你应该会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0000" y="200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205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50000" y="206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能按题完成CNN或LSTM建模——应用：见工单starter与教师参考实现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93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0000" y="313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000" y="318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50000" y="319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能组队产出竞标书——应用：见工单starter与教师参考实现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06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0000" y="426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000" y="431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0000" y="432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能5分钟答辩讲清指标——应用：见工单starter与教师参考实现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19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0000" y="539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000" y="544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0000" y="545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能对未选路线做概念对比——应用：见工单starter与教师参考实现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28 / 63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关键代码：CNN最小版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import torch.nn as nn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cnn = nn.Sequential(nn.Conv2d(1, 16, 3, padding=1), nn.ReLU(), nn.MaxPool2d(2),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           nn.Flatten(), nn.Linear(16 * 32 * 32, 2))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29 / 63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关键代码：滑动窗口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W = 30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X = np.lib.stride_tricks.sliding_window_view(vib, W)[:-10]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y = rul[W - 1 + 10:]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30 / 63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本次课六步法流程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796000" y="2600000"/>
            <a:ext cx="16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决策：定方案·选模型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2596000" y="2600000"/>
            <a:ext cx="16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实施一：数据+建模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96000" y="2600000"/>
            <a:ext cx="160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检查：自检互查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96000" y="2600000"/>
            <a:ext cx="1600000" cy="15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实施二：调优+拓展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96000" y="2600000"/>
            <a:ext cx="16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评价：当堂评分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796000" y="2600000"/>
            <a:ext cx="16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课后：微课预习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0000" y="46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六步法课堂化——每次课都知道现在在哪一步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31 / 63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05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任务实施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工单 · 分层 · 避坑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32 / 63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CNN或LSTM二选一（竞标）：备选方案决策矩阵</a:t>
            </a:r>
          </a:p>
        </p:txBody>
      </p:sp>
      <p:sp>
        <p:nvSpPr>
          <p:cNvPr id="5" name="Rectangle 4"/>
          <p:cNvSpPr/>
          <p:nvPr/>
        </p:nvSpPr>
        <p:spPr>
          <a:xfrm>
            <a:off x="795528" y="2000000"/>
            <a:ext cx="310896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2120000"/>
            <a:ext cx="310896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备选方案</a:t>
            </a:r>
          </a:p>
        </p:txBody>
      </p:sp>
      <p:sp>
        <p:nvSpPr>
          <p:cNvPr id="7" name="Rectangle 6"/>
          <p:cNvSpPr/>
          <p:nvPr/>
        </p:nvSpPr>
        <p:spPr>
          <a:xfrm>
            <a:off x="5952744" y="2000000"/>
            <a:ext cx="201168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52744" y="2120000"/>
            <a:ext cx="201168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可行性</a:t>
            </a:r>
          </a:p>
        </p:txBody>
      </p:sp>
      <p:sp>
        <p:nvSpPr>
          <p:cNvPr id="9" name="Rectangle 8"/>
          <p:cNvSpPr/>
          <p:nvPr/>
        </p:nvSpPr>
        <p:spPr>
          <a:xfrm>
            <a:off x="8001000" y="2000000"/>
            <a:ext cx="201168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01000" y="2120000"/>
            <a:ext cx="201168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达标概率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49256" y="2000000"/>
            <a:ext cx="201168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49256" y="2120000"/>
            <a:ext cx="201168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工时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049256" y="2000000"/>
            <a:ext cx="201168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49256" y="2120000"/>
            <a:ext cx="201168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结论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5528" y="2700000"/>
            <a:ext cx="310896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8" y="2800000"/>
            <a:ext cx="310896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方案A：按工单主线（starter起步）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52744" y="2700000"/>
            <a:ext cx="201168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52744" y="280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高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01000" y="2700000"/>
            <a:ext cx="201168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01000" y="280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049256" y="2700000"/>
            <a:ext cx="201168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49256" y="280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适中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049256" y="2700000"/>
            <a:ext cx="201168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49256" y="280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推荐主干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95528" y="3320000"/>
            <a:ext cx="310896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5528" y="3420000"/>
            <a:ext cx="310896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方案B：自选技术路线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52744" y="3320000"/>
            <a:ext cx="201168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52744" y="342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中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01000" y="3320000"/>
            <a:ext cx="201168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1000" y="342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中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049256" y="3320000"/>
            <a:ext cx="201168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49256" y="342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多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049256" y="3320000"/>
            <a:ext cx="201168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49256" y="342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A层可选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95528" y="3940000"/>
            <a:ext cx="310896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95528" y="4040000"/>
            <a:ext cx="310896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方案C：直接改现成项目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952744" y="3940000"/>
            <a:ext cx="201168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952744" y="404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低（无过程分）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001000" y="3940000"/>
            <a:ext cx="201168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001000" y="404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低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049256" y="3940000"/>
            <a:ext cx="201168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049256" y="404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少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049256" y="3940000"/>
            <a:ext cx="201168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049256" y="404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不建议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0000" y="468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组内打分3分钟，结论与理由写入工单决策记录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33 / 63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决策怎么下：方案对比三问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本课决策题：CNN或LSTM二选一（竞标）：备选方案决策矩阵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问①可行吗——每个方案的实现路径走得通吗（技术风险）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问②值吗——精度/耗时/可复现性三角权衡（工程账）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问③谁拍板——组内数据说话，理由写进工单（决策追责制）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规则：没有记录的决策=没有决策——写下来才算数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34 / 63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实施任务：工单M2-3b《CNN或LSTM二选一（竞标）（上）：基础实现》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实施步骤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1. 回顾预习卡与微课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2. 知识精讲（先例后理）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3. 演示代码骨架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4. 基础实现（D/C层保底）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5. 小结+布置第2次课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及格标准（D）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指标达标+竞标书完整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优秀标准（B+）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赢得竞标且指标优秀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35 / 63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工单完成效果图 · 先看终点（本课目标预览）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36 / 63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" y="1801368"/>
            <a:ext cx="10899648" cy="2286000"/>
          </a:xfrm>
          <a:prstGeom prst="roundRect">
            <a:avLst>
              <a:gd name="adj" fmla="val 6000"/>
            </a:avLst>
          </a:prstGeom>
          <a:solidFill>
            <a:srgbClr val="F3F6FD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758952" y="4178808"/>
            <a:ext cx="10899648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758952" y="5321808"/>
            <a:ext cx="10899648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60120" y="1929384"/>
            <a:ext cx="10469880" cy="2048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545E8"/>
                </a:solidFill>
              </a:rPr>
              <a:t>① 参考实现真实运行输出（本工单完成态）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=== 工单 M2-3b 竞标：CNN焊缝 vs LSTM风机（轻量基线）· 完成态 ===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图像线（CNN焊缝·块统计特征3维）: 3折交叉验证 cv = 1.000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时序线（LSTM风机·RMS比值1维）  : 3折交叉验证 cv = 0.995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竞标建议: 轻量基线支持选「CNN焊缝」（差 0.005）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答辩要点: 基线≠上限——本表只证明'哪条路线更容易起步'；真模型预期增益需说明数据量、算力与标注成本三项证据。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297680"/>
            <a:ext cx="104698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545E8"/>
                </a:solidFill>
              </a:rPr>
              <a:t>② 关键自检点（对照工单逐项核对）</a:t>
            </a:r>
          </a:p>
          <a:p>
            <a:pPr algn="l">
              <a:spcBef>
                <a:spcPts val="200"/>
              </a:spcBef>
            </a:pPr>
            <a:r>
              <a:rPr sz="1150" b="0">
                <a:solidFill>
                  <a:srgbClr val="010328"/>
                </a:solidFill>
              </a:rPr>
              <a:t>□ 代码从头跑到尾不报错　□ 指标与工单及格线逐项对齐　□ 随机种子已固定（可复现）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5431536"/>
            <a:ext cx="1046988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5670F"/>
                </a:solidFill>
              </a:rPr>
              <a:t>③ 提交与达标（过程性证据）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010328"/>
                </a:solidFill>
              </a:rPr>
              <a:t>达标线 D≥60 / C≥70 / B≥80 / A≥90　｜　提交 学号_姓名_工单号 + 运行截图 + 决策记录 + Git≥1次commit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本工单的工程化项目 · 第三种代码形态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37 / 63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" y="1801368"/>
            <a:ext cx="10899648" cy="2286000"/>
          </a:xfrm>
          <a:prstGeom prst="roundRect">
            <a:avLst>
              <a:gd name="adj" fmla="val 6000"/>
            </a:avLst>
          </a:prstGeom>
          <a:solidFill>
            <a:srgbClr val="F3F6FD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758952" y="4178808"/>
            <a:ext cx="10899648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758952" y="5321808"/>
            <a:ext cx="10899648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60120" y="1929384"/>
            <a:ext cx="10469880" cy="2048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545E8"/>
                </a:solidFill>
              </a:rPr>
              <a:t>① 项目位置与一键运行</a:t>
            </a:r>
          </a:p>
          <a:p>
            <a:pPr algn="l"/>
            <a:r>
              <a:rPr sz="1400" b="1">
                <a:solidFill>
                  <a:srgbClr val="0545E8"/>
                </a:solidFill>
              </a:rPr>
              <a:t>工程化项目/m23b_bidding/</a:t>
            </a:r>
          </a:p>
          <a:p>
            <a:pPr algn="l"/>
            <a:r>
              <a:rPr sz="1400" b="1">
                <a:solidFill>
                  <a:srgbClr val="0545E8"/>
                </a:solidFill>
              </a:rPr>
              <a:t>python run.py          # 输出 output/report.txt + result.json</a:t>
            </a:r>
          </a:p>
          <a:p>
            <a:pPr algn="l"/>
            <a:r>
              <a:rPr sz="1400" b="1">
                <a:solidFill>
                  <a:srgbClr val="0545E8"/>
                </a:solidFill>
              </a:rPr>
              <a:t>python -m pytest -q    # 全量测试应全绿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297680"/>
            <a:ext cx="104698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545E8"/>
                </a:solidFill>
              </a:rPr>
              <a:t>② 目录结构（23 个文件）</a:t>
            </a:r>
          </a:p>
          <a:p>
            <a:pPr algn="l"/>
            <a:r>
              <a:rPr sz="1300" b="1">
                <a:solidFill>
                  <a:srgbClr val="0545E8"/>
                </a:solidFill>
              </a:rPr>
              <a:t>config/rules.yaml      规则外置：改配置不改代码</a:t>
            </a:r>
          </a:p>
          <a:p>
            <a:pPr algn="l"/>
            <a:r>
              <a:rPr sz="1300" b="1">
                <a:solidFill>
                  <a:srgbClr val="0545E8"/>
                </a:solidFill>
              </a:rPr>
              <a:t>src/bidding_lines/  config · core · io_utils · report · pipeline</a:t>
            </a:r>
          </a:p>
          <a:p>
            <a:pPr algn="l"/>
            <a:r>
              <a:rPr sz="1300" b="1">
                <a:solidFill>
                  <a:srgbClr val="0545E8"/>
                </a:solidFill>
              </a:rPr>
              <a:t>tests/      正常 / 边界 / 异常三档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5431536"/>
            <a:ext cx="1046988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5670F"/>
                </a:solidFill>
              </a:rPr>
              <a:t>③ 国标与 TOGAF 落地</a:t>
            </a:r>
          </a:p>
          <a:p>
            <a:pPr algn="l"/>
            <a:r>
              <a:rPr sz="1300" b="1">
                <a:solidFill>
                  <a:srgbClr val="F5670F"/>
                </a:solidFill>
              </a:rPr>
              <a:t>GB/T 9385 需求规格 / 15532 测试 / 8567 文档 / 8566 过程组</a:t>
            </a:r>
          </a:p>
          <a:p>
            <a:pPr algn="l"/>
            <a:r>
              <a:rPr sz="1300" b="1">
                <a:solidFill>
                  <a:srgbClr val="F5670F"/>
                </a:solidFill>
              </a:rPr>
              <a:t>TOGAF 四域：业务 · 数据 · 应用 · 技术架构</a:t>
            </a:r>
          </a:p>
          <a:p>
            <a:pPr algn="l"/>
            <a:r>
              <a:rPr sz="1300" b="1">
                <a:solidFill>
                  <a:srgbClr val="F5670F"/>
                </a:solidFill>
              </a:rPr>
              <a:t>docs/07 ADR-001 架构决策记录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工单完成效果图 · 完成后长这样（真实运行 · 参考实现） · 课末对照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38 / 63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" y="1801368"/>
            <a:ext cx="10899648" cy="2286000"/>
          </a:xfrm>
          <a:prstGeom prst="roundRect">
            <a:avLst>
              <a:gd name="adj" fmla="val 6000"/>
            </a:avLst>
          </a:prstGeom>
          <a:solidFill>
            <a:srgbClr val="F3F6FD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758952" y="4178808"/>
            <a:ext cx="10899648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758952" y="5321808"/>
            <a:ext cx="10899648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60120" y="1929384"/>
            <a:ext cx="10469880" cy="2048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545E8"/>
                </a:solidFill>
              </a:rPr>
              <a:t>① 参考实现真实运行输出（本工单完成态）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=== 工单 M2-3b 竞标：CNN焊缝 vs LSTM风机（轻量基线）· 完成态 ===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图像线（CNN焊缝·块统计特征3维）: 3折交叉验证 cv = 1.000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时序线（LSTM风机·RMS比值1维）  : 3折交叉验证 cv = 0.995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竞标建议: 轻量基线支持选「CNN焊缝」（差 0.005）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答辩要点: 基线≠上限——本表只证明'哪条路线更容易起步'；真模型预期增益需说明数据量、算力与标注成本三项证据。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297680"/>
            <a:ext cx="104698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545E8"/>
                </a:solidFill>
              </a:rPr>
              <a:t>② 关键自检点（对照工单逐项核对）</a:t>
            </a:r>
          </a:p>
          <a:p>
            <a:pPr algn="l">
              <a:spcBef>
                <a:spcPts val="200"/>
              </a:spcBef>
            </a:pPr>
            <a:r>
              <a:rPr sz="1150" b="0">
                <a:solidFill>
                  <a:srgbClr val="010328"/>
                </a:solidFill>
              </a:rPr>
              <a:t>□ 代码从头跑到尾不报错　□ 指标与工单及格线逐项对齐　□ 随机种子已固定（可复现）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5431536"/>
            <a:ext cx="1046988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5670F"/>
                </a:solidFill>
              </a:rPr>
              <a:t>③ 提交与达标（过程性证据）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010328"/>
                </a:solidFill>
              </a:rPr>
              <a:t>达标线 D≥60 / C≥70 / B≥80 / A≥90　｜　提交 学号_姓名_工单号 + 运行截图 + 决策记录 + Git≥1次commit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D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学徒 · 跟做保底层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跑通给定starter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按题选starter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默认参数训练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记录指标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指标可复现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39 / 63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C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操作员 · 基础完成层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达标加竞标书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调2个关键参数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四段论成文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组内排练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CNN≥75%或LSTM误差达标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40 / 63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B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组长 · 标准达成层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答辩制胜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指标对标优秀线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风险与对策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模拟问答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赢得竞标或评委加分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41 / 63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A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师傅 · 进阶拓展层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双路线通吃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跑另一路线mini版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对比表加适用边界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答辩展示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给出选型决策矩阵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42 / 63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常见错误速查（避坑清单）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19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Conv输入报维度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0000" y="19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未加channel维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000" y="19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reshape成N1HW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31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31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000" y="32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窗口错位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0000" y="32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X与y长度不齐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0000" y="32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统一用[:-horizon]截断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44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44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000" y="45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答辩超时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0000" y="45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堆细节无结构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0000" y="45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四段论加计时排练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43 / 63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实施步骤与注意事项（做）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850000"/>
            <a:ext cx="6300000" cy="41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000" y="1980000"/>
            <a:ext cx="59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545E8"/>
                </a:solidFill>
                <a:latin typeface="微软雅黑"/>
              </a:rPr>
              <a:t>实施步骤</a:t>
            </a:r>
          </a:p>
        </p:txBody>
      </p:sp>
      <p:sp>
        <p:nvSpPr>
          <p:cNvPr id="7" name="Rectangle 6"/>
          <p:cNvSpPr/>
          <p:nvPr/>
        </p:nvSpPr>
        <p:spPr>
          <a:xfrm>
            <a:off x="920000" y="266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0000" y="268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0000" y="2600000"/>
            <a:ext cx="5300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回顾预习卡与微课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0000" y="299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0000" y="301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0000" y="293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知识精讲（先例后理）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0000" y="332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0000" y="334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0000" y="3260000"/>
            <a:ext cx="5300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演示代码骨架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20000" y="365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0000" y="367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0000" y="359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基础实现（D/C层保底）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0000" y="398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0000" y="400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0000" y="392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小结+布置第2次课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50000" y="1850000"/>
            <a:ext cx="4300000" cy="410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50000" y="1980000"/>
            <a:ext cx="395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5670F"/>
                </a:solidFill>
                <a:latin typeface="微软雅黑"/>
              </a:rPr>
              <a:t>⚠ 注意事项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50000" y="2600000"/>
            <a:ext cx="3950000" cy="3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步骤1先看工单样例再动手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步骤2先看工单样例再动手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步骤3先看工单样例再动手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44 / 63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ABCD四层任务总览（先看全貌再领任务）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D·学徒（≥60）：跑通给定starter——跟做保底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C·操作员（≥70）：达标加竞标书——基础完成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B·组长（≥80）：答辩制胜——标准达成+帮带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A·师傅（≥90）：双路线通吃——进阶拓展+费曼讲解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规则：每人按工单勾选自己的层；每4周动态升降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45 / 63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提交前最后一查（90秒）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代码能从头跑到尾不报错（python xx.py再跑一遍）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指标达标：准确率/F1/耗时对齐工单及格线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随机种子已固定（random_state=42）——结果可复现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文件命名：学号_姓名_工单号.py+模型文件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conda环境正确（提示符显示(ai48)）再运行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46 / 63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06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检查与评价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三层质检 · 评分 · 课后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47 / 63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过程检查（三层质检）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1  自检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对照工单checklist逐项自查并截图留证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2  互检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组间交换检查，互检表记录问题≥1条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0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3  师查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教师抽查复核，重点盯D层完成度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000" y="520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复盘追问：如果当初选另一个方案，结果会怎样？（决策追责）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48 / 63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提交物与评分（工单M2-3b）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38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提交清单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程序/notebook（含运行输出）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分层工单纸件（勾层+自评）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决策矩阵照片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4. 过程记录/避坑笔记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命名: 学号_姓名_M2-3b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0" y="1800000"/>
            <a:ext cx="5300000" cy="38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评分构成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功能完成 40%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技术质量 25%（指标达标）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代码规范 20%（PEP 8）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工程素养 15%（留痕/协作）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50" b="1">
                <a:solidFill>
                  <a:srgbClr val="44546A"/>
                </a:solidFill>
                <a:latin typeface="微软雅黑"/>
              </a:rPr>
              <a:t>D≥60 / C≥70 / B≥80 / A≥90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49 / 63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A层加餐：原理深挖（选读）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为什么有效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卷积=小核滑动扫全图，参数共享天然适合图像——应用：见工单starter与教师参——背后是统计/优化原理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怎么验证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改一个参数跑对比实验——用数据说话，不凭感觉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边界在哪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什么场景会失效？——数据漂移/样本不平衡/泄漏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延伸阅读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微课深化版+多解法手册——A层自己挖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50 / 63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素养目标（课程思政融入点）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0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责任感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206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可信AI：模型要有据可查，指标不许造假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18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18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48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34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工程纪律：限时调参与过程留痕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46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46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76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数据伦理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62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团队与档案：竞标协作，档案袋沉淀三年资产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51 / 63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工单评分细则（四级量表）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等级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达标线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对应要求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A·师傅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≥90分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进阶拓展完成+2分钟费曼展示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B·组长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≥80分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全功能+代码规范+帮带D/C层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C·操作员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≥70分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基础功能完成+错误速查自查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0000" y="456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000" y="466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D·学徒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≥60分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跟做完成核心步骤+达标自评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530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功能40%+技术质量25%+代码规范20%+工程素养15%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52 / 63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高频FAQ（先自查再举手）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2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9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torch安装失败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用--index-url cpu官方源；确认在ai48环境里装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28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280000"/>
            <a:ext cx="2000000" cy="12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72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模型指标波动大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40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设random_state=42；数据先shuffle再划分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71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710000"/>
            <a:ext cx="2000000" cy="128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515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ONNX推理不一致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83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对齐预处理——同一scaler/归一化参数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53 / 63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资源导航（卡住时按顺序查）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6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M2-3b任务书——步骤/及格线/评分细则都在里面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82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820000"/>
            <a:ext cx="2000000" cy="8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03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starter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294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学生代码框架/w6_xxx_starter.py——TODO注释即步骤提示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9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90000"/>
            <a:ext cx="2000000" cy="8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00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软件指南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391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../软件操作指南/——PyCharm/Jupyter/Git/Anaconda六份图文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6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60000"/>
            <a:ext cx="2000000" cy="8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497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488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Jupyter实训/——本周notebook师生版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000" y="573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0000" y="5730000"/>
            <a:ext cx="2000000" cy="8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000" y="594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Git提交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00000" y="585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做完按Ctrl+K提交推送——每周至少1次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54 / 63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07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拓展与自测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把今天的能力圈再画大一圈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55 / 63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产业应用案例（学这个能干什么）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真实场景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质检靠老师傅目检，漏检率高且疲劳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用什么解决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分类模型+阈值规则——先自动化易判样本，人只复核疑难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本课对应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M2-3b的技能点即其最小实现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延伸方向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视觉检测（M3）/大模型辅助诊断（M4）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56 / 63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多解法一瞥（同一任务的不同打法）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解法A·直白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按工单步骤顺序实现——好懂好调试，D/C层路线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解法B·工程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函数封装+管道化——可复用，B层路线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解法C·进阶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集成/调参/特征工程组合拳——冲指标，A层路线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怎么选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先让它跑起来→再让它对→最后让它准（KISS原则）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57 / 63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课程思政：如盐入水（30秒一个点）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数据诚信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指标不许造假——改数字骗过测试=产线事故的起点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可解释性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不迷信黑盒——每个预测能说出'为什么'才敢上线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算力节约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CPU优先调优——绿色计算从课堂开始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职业底线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模型抄袭=岗位上的'无证驾驶'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58 / 63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全课知识图谱回顾（一图收束）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CNN或L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STM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4条分支导览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知识回顾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卷积=小核滑动扫全图，参数共享天然适合图像——应用：见工单starter与教师参考实现 · 池化降维：留最强信号，缩计算量——应用：见工单starter与教师参考实现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技能回顾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能按题完成CNN或LSTM建模——应用：见工单starter与教师参考实现 · 能组队产出竞标书——应用：见工单starter与教师参考实现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易错回顾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Conv输入报维度 · 窗口错位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交付物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工单M2-3b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59 / 63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今日一图流总结（贴脑墙上）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知识：卷积=小核滑动扫全图，参数共享天然适合图；池化降维：留最强信号，缩计算量；滑动窗口造样本：一段序列切出无数训练对（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技能：能按题完成CNN或LSTM建模——应用：见工单starter与教师参考实现；能组队产出竞标书——应用：见工单starter与教师参考实现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交付：工单M2-3b《CNN或LSTM二选一（竞标）（上）：基础实现》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习惯：调参每进一步就commit——每周至少1次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4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2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明日：课前微课+导学单（下次课quiz从中出题）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60 / 63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睡前自查三问（30秒）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问①今天的核心概念能一句话说清吗？——说不清回看知识卡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问②工单步骤全部勾完了吗？——没勾的明早第一件事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问③Git推送今天做了吗？——每周至少1次，工程素养分依据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三问通过=今天闭环；明天从微课开始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61 / 63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62 / 63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下次课预告（第15周）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" cy="1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000" y="2050000"/>
            <a:ext cx="105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主题: 能加载预训练ResNet并替换分类头——应用：见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预习快问: 课前测①：本课工单M2-3b的及格线是什么？（答：指标达标+竞标书完整）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39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课前完成：导学单 + 预习自测 + starter环境自检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带着问题来上课——Predict先于Run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W09-第11次课-CNN或LSTM二选一（</dc:title>
  <dc:subject>AI48授课PPT（v9风格+讲稿）</dc:subject>
  <dc:creator>工业互联网应用专业教学资源库</dc:creator>
  <cp:keywords>两江智造;AI48;岗课赛证创;课程思政;双创中心302</cp:keywords>
  <dc:description>48课时扩展版·每页备注为教师讲稿</dc:description>
  <cp:lastModifiedBy>Steve Canny</cp:lastModifiedBy>
  <cp:revision>1</cp:revision>
  <dcterms:created xsi:type="dcterms:W3CDTF">2026-09-09T00:00:00Z</dcterms:created>
  <dcterms:modified xsi:type="dcterms:W3CDTF">2026-09-09T00:00:00Z</dcterms:modified>
  <cp:category>高职高专教学文件</cp:category>
</cp:coreProperties>
</file>