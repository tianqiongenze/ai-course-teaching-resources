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89" r:id="rId41"/>
    <p:sldId id="291" r:id="rId43"/>
    <p:sldId id="292" r:id="rId44"/>
    <p:sldId id="294" r:id="rId46"/>
    <p:sldId id="295" r:id="rId47"/>
    <p:sldId id="297" r:id="rId49"/>
    <p:sldId id="298" r:id="rId50"/>
    <p:sldId id="300" r:id="rId52"/>
    <p:sldId id="301" r:id="rId53"/>
    <p:sldId id="303" r:id="rId55"/>
    <p:sldId id="306" r:id="rId58"/>
    <p:sldId id="309" r:id="rId61"/>
    <p:sldId id="311" r:id="rId63"/>
    <p:sldId id="313" r:id="rId65"/>
    <p:sldId id="315" r:id="rId67"/>
    <p:sldId id="316" r:id="rId68"/>
    <p:sldId id="317" r:id="rId69"/>
    <p:sldId id="318" r:id="rId70"/>
    <p:sldId id="319" r:id="rId71"/>
    <p:sldId id="367" r:id="rId75"/>
    <p:sldId id="368" r:id="rId66"/>
    <p:sldId id="366" r:id="rId73"/>
    <p:sldId id="320" r:id="rId72"/>
    <p:sldId id="322" r:id="rId74"/>
    <p:sldId id="324" r:id="rId76"/>
    <p:sldId id="326" r:id="rId78"/>
    <p:sldId id="328" r:id="rId80"/>
    <p:sldId id="330" r:id="rId82"/>
    <p:sldId id="331" r:id="rId83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4" r:id="rId96"/>
    <p:sldId id="345" r:id="rId97"/>
    <p:sldId id="346" r:id="rId98"/>
    <p:sldId id="347" r:id="rId99"/>
    <p:sldId id="354" r:id="rId106"/>
    <p:sldId id="359" r:id="rId111"/>
    <p:sldId id="360" r:id="rId112"/>
    <p:sldId id="364" r:id="rId116"/>
    <p:sldId id="365" r:id="rId1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9" Type="http://schemas.openxmlformats.org/officeDocument/2006/relationships/slide" Target="slides/slide28.xml"/><Relationship Id="rId50" Type="http://schemas.openxmlformats.org/officeDocument/2006/relationships/slide" Target="slides/slide29.xml"/><Relationship Id="rId52" Type="http://schemas.openxmlformats.org/officeDocument/2006/relationships/slide" Target="slides/slide30.xml"/><Relationship Id="rId53" Type="http://schemas.openxmlformats.org/officeDocument/2006/relationships/slide" Target="slides/slide31.xml"/><Relationship Id="rId55" Type="http://schemas.openxmlformats.org/officeDocument/2006/relationships/slide" Target="slides/slide32.xml"/><Relationship Id="rId58" Type="http://schemas.openxmlformats.org/officeDocument/2006/relationships/slide" Target="slides/slide33.xml"/><Relationship Id="rId61" Type="http://schemas.openxmlformats.org/officeDocument/2006/relationships/slide" Target="slides/slide34.xml"/><Relationship Id="rId63" Type="http://schemas.openxmlformats.org/officeDocument/2006/relationships/slide" Target="slides/slide35.xml"/><Relationship Id="rId65" Type="http://schemas.openxmlformats.org/officeDocument/2006/relationships/slide" Target="slides/slide36.xml"/><Relationship Id="rId66" Type="http://schemas.openxmlformats.org/officeDocument/2006/relationships/slide" Target="slides/slide43.xml"/><Relationship Id="rId67" Type="http://schemas.openxmlformats.org/officeDocument/2006/relationships/slide" Target="slides/slide37.xml"/><Relationship Id="rId68" Type="http://schemas.openxmlformats.org/officeDocument/2006/relationships/slide" Target="slides/slide38.xml"/><Relationship Id="rId69" Type="http://schemas.openxmlformats.org/officeDocument/2006/relationships/slide" Target="slides/slide39.xml"/><Relationship Id="rId70" Type="http://schemas.openxmlformats.org/officeDocument/2006/relationships/slide" Target="slides/slide40.xml"/><Relationship Id="rId71" Type="http://schemas.openxmlformats.org/officeDocument/2006/relationships/slide" Target="slides/slide41.xml"/><Relationship Id="rId72" Type="http://schemas.openxmlformats.org/officeDocument/2006/relationships/slide" Target="slides/slide45.xml"/><Relationship Id="rId73" Type="http://schemas.openxmlformats.org/officeDocument/2006/relationships/slide" Target="slides/slide44.xml"/><Relationship Id="rId74" Type="http://schemas.openxmlformats.org/officeDocument/2006/relationships/slide" Target="slides/slide46.xml"/><Relationship Id="rId75" Type="http://schemas.openxmlformats.org/officeDocument/2006/relationships/slide" Target="slides/slide42.xml"/><Relationship Id="rId76" Type="http://schemas.openxmlformats.org/officeDocument/2006/relationships/slide" Target="slides/slide47.xml"/><Relationship Id="rId78" Type="http://schemas.openxmlformats.org/officeDocument/2006/relationships/slide" Target="slides/slide48.xml"/><Relationship Id="rId80" Type="http://schemas.openxmlformats.org/officeDocument/2006/relationships/slide" Target="slides/slide49.xml"/><Relationship Id="rId82" Type="http://schemas.openxmlformats.org/officeDocument/2006/relationships/slide" Target="slides/slide50.xml"/><Relationship Id="rId83" Type="http://schemas.openxmlformats.org/officeDocument/2006/relationships/slide" Target="slides/slide51.xml"/><Relationship Id="rId85" Type="http://schemas.openxmlformats.org/officeDocument/2006/relationships/slide" Target="slides/slide52.xml"/><Relationship Id="rId87" Type="http://schemas.openxmlformats.org/officeDocument/2006/relationships/slide" Target="slides/slide53.xml"/><Relationship Id="rId88" Type="http://schemas.openxmlformats.org/officeDocument/2006/relationships/slide" Target="slides/slide54.xml"/><Relationship Id="rId89" Type="http://schemas.openxmlformats.org/officeDocument/2006/relationships/slide" Target="slides/slide55.xml"/><Relationship Id="rId90" Type="http://schemas.openxmlformats.org/officeDocument/2006/relationships/slide" Target="slides/slide56.xml"/><Relationship Id="rId91" Type="http://schemas.openxmlformats.org/officeDocument/2006/relationships/slide" Target="slides/slide57.xml"/><Relationship Id="rId92" Type="http://schemas.openxmlformats.org/officeDocument/2006/relationships/slide" Target="slides/slide58.xml"/><Relationship Id="rId93" Type="http://schemas.openxmlformats.org/officeDocument/2006/relationships/slide" Target="slides/slide59.xml"/><Relationship Id="rId94" Type="http://schemas.openxmlformats.org/officeDocument/2006/relationships/slide" Target="slides/slide60.xml"/><Relationship Id="rId96" Type="http://schemas.openxmlformats.org/officeDocument/2006/relationships/slide" Target="slides/slide61.xml"/><Relationship Id="rId97" Type="http://schemas.openxmlformats.org/officeDocument/2006/relationships/slide" Target="slides/slide62.xml"/><Relationship Id="rId98" Type="http://schemas.openxmlformats.org/officeDocument/2006/relationships/slide" Target="slides/slide63.xml"/><Relationship Id="rId99" Type="http://schemas.openxmlformats.org/officeDocument/2006/relationships/slide" Target="slides/slide64.xml"/><Relationship Id="rId106" Type="http://schemas.openxmlformats.org/officeDocument/2006/relationships/slide" Target="slides/slide65.xml"/><Relationship Id="rId111" Type="http://schemas.openxmlformats.org/officeDocument/2006/relationships/slide" Target="slides/slide66.xml"/><Relationship Id="rId112" Type="http://schemas.openxmlformats.org/officeDocument/2006/relationships/slide" Target="slides/slide67.xml"/><Relationship Id="rId116" Type="http://schemas.openxmlformats.org/officeDocument/2006/relationships/slide" Target="slides/slide68.xml"/><Relationship Id="rId117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开场30秒：《多智能体检修调度（上）：基础实现》，80分钟=2课时×40分钟。课前已发工单+微课知识卡。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情境说书30秒：三台泵站三个智能体，谁先检修、谁让路？gym-industrial仿真环境上线——工单M5-1：多智能体协调，奖励函数就…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详解B1·强化学习三要素：先读定义→场景为什么用它→看代码实例→扩展给A层。C/D层掌握前三格，A层加扩展格。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详解B2·奖励函数：先读定义→场景为什么用它→看代码实例→扩展给A层。C/D层掌握前三格，A层加扩展格。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详解B3·多智能体分工：先读定义→场景为什么用它→看代码实例→扩展给A层。C/D层掌握前三格，A层加扩展格。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详解B4·奖励漏洞：先读定义→场景为什么用它→看代码实例→扩展给A层。C/D层掌握前三格，A层加扩展格。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详解B5·课程表映射：先读定义→场景为什么用它→看代码实例→扩展给A层。C/D层掌握前三格，A层加扩展格。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详解B6·仿真先行：先读定义→场景为什么用它→看代码实例→扩展给A层。C/D层掌握前三格，A层加扩展格。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演示《环境骨架》：跑通→逐行→改参数（演的核心素材）。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演示《奖励设计》：跑通→逐行→改参数（演的核心素材）。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工单发布：'设备智能运维中心工单M5-1'——及格线正确率≥75%+说明书。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错误速查：现场制造「env注册不到」带学生三步排查。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预习知识点：智能体(Agent)概念；多智能体协调；强化学习直觉(MDP/奖励) | 课中检查知识点：设计奖励函数并跑仿真调度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多智能体检修调度（上）：基础实现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第19周 · 第21次课（2课时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多智能体检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修调度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强化学习三要素：状态动作奖励，试错中学会策略——应用：状态=3泵站队列长度，动作=选哪台先修，奖励=等待时长缩短 · 奖励函数=管理哲学：奖励什么就得到什么——应用：奖励=-平均等待时长；只奖'修得快'会忽视紧急单，须加权紧急度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多智能体分工：感知调度执行三类agent——应用：监测agent读队列(感知)，调度agent定顺序(决策)，检修agent执行(作业) · 奖励漏洞：智能体学会空转刷分，设计即治理——应用：若只奖完工数，agent会挑软柿子反复修小故障——须加'紧急单权重'堵漏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 · 能设计奖励函数并说明规则来源——应用：见工单starter与教师参考实现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技能线：能跑通仿真环境随机基线——应用：见工单starter与教师参考实现；能设计奖励函数并说明规则来源——应用：见工单starter与教师参考实现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M5-1《多智能体检修调度（上）：基础实现》——本课工单即考核单元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知识：强化学习三要素：状态动作奖励，试错中学会策略——应用：状态=3泵站队列长度，动作=选哪台先修，奖励=等待时长缩短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能力：能跑通仿真环境随机基线——应用：见工单starter与教师参考实现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W19课前测①：本课工单M5-1的及格线是什么？（答：正确率≥75%+说明书）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W19课前测②：'状态-动作-奖励'用一句话说说你的理解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项目8 大模型·综合应用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智能体(Agent)概念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多智能体协调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强化学习直觉(MDP/奖励)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搭建最小RAG链路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回答带出处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题目：W19课前测①：本课工单M5-1的及格线是什么？（答：正确率≥75%+说明书）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目标：强化学习三要素：状态动作奖励，试错中学会策略——应用：状态=3泵站队列长度，动作=选哪台先修，奖励=等待时长缩短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目标：能跑通仿真环境随机基线——应用：见工单starter与教师参考实现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三台泵站三个智能体，谁先检修、谁让路？gym-industrial仿真环境上线——工单M5-1：多智能体协调，奖励函数就是老周的管理哲学。</a:t>
            </a:r>
          </a:p>
        </p:txBody>
      </p:sp>
      <p:pic>
        <p:nvPicPr>
          <p:cNvPr id="9" name="Picture 8" descr="W1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任务背景：三台泵站三个智能体，谁先检修、谁让路？gym-industrial仿真环境上线——工单M5-1：多智能体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知识详解：强化学习三要素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强化学习三要素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状态/动作/奖励——智能体在试错中学会策略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排产调度这类'规则写不全'的决策问题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state=队列, action=派人, reward=-停机时间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误区：RL万能——奖励难设计时规则引擎更稳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知识应用（1）：强化学习三要素：状态动作奖励，试错中学会策略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强化学习三要素：状态动作奖励，试错中学会策略。在两江智造产线上的用法：状态=3泵站队列长度，动作=选哪台先修，奖励=等待时长缩短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状态=3泵站队列长度，动作=选哪台先修，奖励=等待时长缩短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知识详解：奖励函数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奖励函数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奖励什么就得到什么——奖励函数是管理哲学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设计调度目标的唯一表达——写错全盘皆输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reward = -1*停机时长 - 0.1*换型次数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只奖产量会忘了质量——多目标加权平衡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知识应用（2）：奖励函数=管理哲学：奖励什么就得到什么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奖励函数=管理哲学：奖励什么就得到什么。在两江智造产线上的用法：奖励=-平均等待时长；只奖'修得快'会忽视紧急单，须加权紧急度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奖励=-平均等待时长；只奖'修得快'会忽视紧急单，须加权紧急度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知识详解：多智能体分工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多智能体分工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感知/调度/执行三类agent各司其职——像班组分工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车间级智能体系统——职责分离才可调试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感知agent读传感→调度agent决策→执行agent下单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误区：一个agent包打天下——分工是可维护性前提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知识应用（3）：多智能体分工：感知调度执行三类agent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多智能体分工：感知调度执行三类agent。在两江智造产线上的用法：监测agent读队列(感知)，调度agent定顺序(决策)，检修agent执行(作业)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监测agent读队列(感知)，调度agent定顺序(决策)，检修agent执行(作业)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知识详解：奖励漏洞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奖励漏洞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智能体学会空转刷分——设计即治理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只奖'完成任务数'它就把任务拆碎刷数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加入'空转惩罚'堵住漏洞后重训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上线前先找漏洞——想你会怎么作弊然后堵它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知识应用（4）：奖励漏洞：智能体学会空转刷分，设计即治理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奖励漏洞：智能体学会空转刷分，设计即治理。在两江智造产线上的用法：若只奖完工数，agent会挑软柿子反复修小故障——须加'紧急单权重'堵漏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知识详解：课程表映射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课程表映射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状态=排队工单、动作=派人、奖励=停机时间降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把抽象RL落到本课排产仿真——落地三行字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gym-industrial环境里跑通一轮完整episode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先仿真后实装——仿真收敛了才敢碰真产线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知识应用（5）：课程表映射：状态排队工单动作派人奖励停机时间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课程表映射：状态排队工单动作派人奖励停机时间降。在两江智造产线上的用法：见工单starter与教师参考实现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知识详解：仿真先行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仿真先行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gym环境里犯错零成本——虚拟车间当靶场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调度策略实验全在仿真做——不碰真设备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env.reset() → env.step(action) 循环训练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仿真与现实的差距(sim2real)是最后一步的坑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能设计奖励函数并说明规则来源——应用：见工单starter与教师参考实现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能训练简单策略提升协调正确率——应用：见工单starter与教师参考实现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能发现并修复奖励漏洞——应用：见工单starter与教师参考实现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关键代码：环境骨架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env = gym.make("industrial-sched-v0")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 = env.reset()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_ in range(200):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 = policy(s)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s, r, done, info = env.step(a)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 +=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关键代码：奖励设计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reward(state, action, next_state):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 = -next_state.downtime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action.is_idle and state.queue: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 -= 5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术语①：强化学习三要素——状态动作奖励，试错中学会策略——应用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术语②：奖励函数=管理哲学：奖励什么就得到什么——应用：奖励=-平均等待时长；只奖'修得快'会忽视紧急单，须加权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术语③：能跑通仿真环境随机基线——应用：见工单starter与教师参考实现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多智能体检修调度：备选方案决策矩阵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本课决策题：多智能体检修调度：备选方案决策矩阵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实施任务：工单M5-1《多智能体检修调度（上）：基础实现》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正确率≥75%+说明书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正确率≥90%或自适应策略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M5-1 多智能体检修调度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环境: 两江智造运维中心 3 台泵站 · 每步派 1 人检修或等待 · 停机计罚(-1/台) / 空转重罚(-5)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三策略对照（同一随机种子 42 · 200 步）: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策略                           总奖励       协调正确率      停机步数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解A 随机                     -404.0      20.9%       144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解B 奖励导向(含预检)               -91.0      19.6%        43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解C 安全优先(仅告警)              -788.0     100.0%        76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结论（本课最重要的工程判断）: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进阶(优秀): 在'安全优先'上叠加感知层——预测下一告警泵并提前派检，可同时抬高正确率与奖励。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工程化项目/m51_multiagent/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src/multiagent_sched/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M5-1 多智能体检修调度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环境: 两江智造运维中心 3 台泵站 · 每步派 1 人检修或等待 · 停机计罚(-1/台) / 空转重罚(-5)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三策略对照（同一随机种子 42 · 200 步）: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策略                           总奖励       协调正确率      停机步数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解A 随机                     -404.0      20.9%       144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解B 奖励导向(含预检)               -91.0      19.6%        43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解C 安全优先(仅告警)              -788.0     100.0%        76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结论（本课最重要的工程判断）: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进阶(优秀): 在'安全优先'上叠加感知层——预测下一告警泵并提前派检，可同时抬高正确率与奖励。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随机策略基线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env.reset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随机action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统计正确率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基线数据可复现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奖励v1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写reward函数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接入训练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正确率≥75%加说明书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堵漏洞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观察钻空行为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加惩罚项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修复1个漏洞有证据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自适应策略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课程难度递增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策略泛化测试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说明书v2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正确率≥90%或泛化实验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env注册不到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未装课程工具包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pip install工具包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奖励尺度失衡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归一化到-1到1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高分业务差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奖励与目标错位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回到老周规则重设计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D·学徒（≥60）：随机策略基线——跟做保底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C·操作员（≥70）：奖励v1——基础完成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B·组长（≥80）：堵漏洞——标准达成+帮带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A·师傅（≥90）：自适应策略——进阶拓展+费曼讲解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提交物与评分（工单M5-1）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学号_姓名_M5-1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强化学习三要素：状态动作奖励，试错中学会策略——应用：状态=3泵站队列长度，动作——背后是统计/优化原理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学生代码框架/w11_xxx_starter.py——TODO注释即步骤提示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M5-1的技能点即其最小实现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多智能体检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修调度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强化学习三要素：状态动作奖励，试错中学会策略——应用：状态=3泵站队列长度，动作=选哪台先修，奖励=等待时长缩短 · 奖励函数=管理哲学：奖励什么就得到什么——应用：奖励=-平均等待时长；只奖'修得快'会忽视紧急单，须加权紧急度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能跑通仿真环境随机基线——应用：见工单starter与教师参考实现 · 能设计奖励函数并说明规则来源——应用：见工单starter与教师参考实现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env注册不到 · 训练不收敛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工单M5-1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知识：强化学习三要素：状态动作奖励，试错中学会；奖励函数=管理哲学：奖励什么就得到什么；多智能体分工：感知调度执行三类agent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技能：能跑通仿真环境随机基线——应用：见工单starter与教师参考实现；能设计奖励函数并说明规则来源——应用：见工单starter与教师参考实现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交付：工单M5-1《多智能体检修调度（上）：基础实现》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69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69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69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能组织12周资产成完整故事——应用：见工单sta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W19课前测①：本课工单M5-1的及格线是什么？（答：正确率≥75%+说明书）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W14-第21次课-多智能体检修调度（上）：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