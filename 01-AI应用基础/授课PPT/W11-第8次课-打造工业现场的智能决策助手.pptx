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97" r:id="rId49"/>
    <p:sldId id="299" r:id="rId51"/>
    <p:sldId id="300" r:id="rId52"/>
    <p:sldId id="301" r:id="rId53"/>
    <p:sldId id="302" r:id="rId54"/>
    <p:sldId id="304" r:id="rId56"/>
    <p:sldId id="308" r:id="rId60"/>
    <p:sldId id="309" r:id="rId61"/>
    <p:sldId id="310" r:id="rId62"/>
    <p:sldId id="311" r:id="rId63"/>
    <p:sldId id="358" r:id="rId74"/>
    <p:sldId id="359" r:id="rId76"/>
    <p:sldId id="360" r:id="rId71"/>
    <p:sldId id="361" r:id="rId78"/>
    <p:sldId id="362" r:id="rId69"/>
    <p:sldId id="312" r:id="rId64"/>
    <p:sldId id="314" r:id="rId66"/>
    <p:sldId id="316" r:id="rId68"/>
    <p:sldId id="318" r:id="rId70"/>
    <p:sldId id="320" r:id="rId72"/>
    <p:sldId id="321" r:id="rId73"/>
    <p:sldId id="323" r:id="rId75"/>
    <p:sldId id="325" r:id="rId77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9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6" Type="http://schemas.openxmlformats.org/officeDocument/2006/relationships/slide" Target="slides/slide27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4.xml"/><Relationship Id="rId66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72.xml"/><Relationship Id="rId70" Type="http://schemas.openxmlformats.org/officeDocument/2006/relationships/slide" Target="slides/slide37.xml"/><Relationship Id="rId71" Type="http://schemas.openxmlformats.org/officeDocument/2006/relationships/slide" Target="slides/slide70.xml"/><Relationship Id="rId72" Type="http://schemas.openxmlformats.org/officeDocument/2006/relationships/slide" Target="slides/slide38.xml"/><Relationship Id="rId73" Type="http://schemas.openxmlformats.org/officeDocument/2006/relationships/slide" Target="slides/slide39.xml"/><Relationship Id="rId74" Type="http://schemas.openxmlformats.org/officeDocument/2006/relationships/slide" Target="slides/slide32.xml"/><Relationship Id="rId75" Type="http://schemas.openxmlformats.org/officeDocument/2006/relationships/slide" Target="slides/slide40.xml"/><Relationship Id="rId76" Type="http://schemas.openxmlformats.org/officeDocument/2006/relationships/slide" Target="slides/slide33.xml"/><Relationship Id="rId77" Type="http://schemas.openxmlformats.org/officeDocument/2006/relationships/slide" Target="slides/slide41.xml"/><Relationship Id="rId78" Type="http://schemas.openxmlformats.org/officeDocument/2006/relationships/slide" Target="slides/slide71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3" Type="http://schemas.openxmlformats.org/officeDocument/2006/relationships/slide" Target="slides/slide46.xml"/><Relationship Id="rId84" Type="http://schemas.openxmlformats.org/officeDocument/2006/relationships/slide" Target="slides/slide47.xml"/><Relationship Id="rId85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9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开场30秒：本次课《打造工业现场的智能决策助手》，80分钟＝2课时×40分钟。课前已发工单+starter+微课知识卡，资讯·计划线上完成。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现场演示《带容错的调用》：三步走——先整段跑通看结果，再逐行讲关键语句，最后现场改一个参数看输出变化（演10分钟的核心素材）。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现场演示《RAG注入》：三步走——先整段跑通看结果，再逐行讲关键语句，最后现场改一个参数看输出变化（演10分钟的核心素材）。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工单发布话术：'设备智能运维中心发来工单M4.2《工业智能决策助手系统》，及格线是正，优秀线看A层标准'——念完发starter。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错误速查：现场演示第一条——制造「回答无依据」，带着学生按'现象→原因→解决'三步排查。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打造工业现场的智能决策助手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RAG=检索+生成：知识库TopK注入Prompt · Agent：LLM+工具调用+多步规划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基础知识线：LLM大语言模型：生成式文本能力；Prompt工程：角色设定/上下文/示例引导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继续夯实线：RAG=检索+生成：知识库TopK注入Prompt；Agent：LLM+工具调用+多步规划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技能线：三版Prompt对比实验；KnowledgeBase检索注入CONTEXT（检索双解：重合度打分→Chroma向量库）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M4.2《工业智能决策助手系统》——本课工单即考核单元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目标：能够构建集成LLM与知识库的工业智能决策助手（正确回答≥5个典型工业问题）；能够设计Agent类、Tool类并实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目标：树立AI伦理与数据安全意识（企业数据不出域），培养追踪前沿技术并落地工业场景的创新精神。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题目：RAG相比纯LLM回答的优势是什么？企业数据合规要注意什么？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之课。老周把终极愿望提上日程：新员工遇到报警只会打电话问老师傅。'给集团造一个不睡觉的值班工程师。'——工单M4.2：本地大模型+知识库RAG+智能体，做成工业智能决策助手（结业综合项目同步布置）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任务背景：收官之课。老周把终极愿望提上日程：新员工遇到报警只会打电话问老师傅。'给集团造一个不睡觉的值班工程师。'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理解LLM、Prompt工程、RAG、Agent的基本概念与相互关系；掌握大模型API调用的基本方法。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能够构建集成LLM与知识库的工业智能决策助手（正确回答≥5个典型工业问题）；能够设计Agent类、Tool类并实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树立AI伦理与数据安全意识（企业数据不出域），培养追踪前沿技术并落地工业场景的创新精神。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对应工单M4.2评分：功能40%+技术25%+规范20%+素养15%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三版Prompt对比实验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KnowledgeBase检索注入CONTEXT（检索双解：重合度打分→Chroma向量库）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Agent两步推理(判断→工具→汇总)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requests容错( timeout/重试/降级)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大模型与智能体技术：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大语言模型（LLM）基础：ChatGPT、文心一言、通义千问的能力边界；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Prompt工程：角色设定、上下文、示例引导等提示词优化技巧；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检索增强生成（RAG）：知识库+LLM的问答架构；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智能体（Agent）系统：多步推理、工具调用链；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工业应用：智能问答、文档理解、决策支持。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打造工业现场的智能决策助手（2）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演示与工单项目M4.2实验（60分钟，离线可用）：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758863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648863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演示LLM工业问答与RAG检索效果、简单智能体的决策过程；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357726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247726"/>
            <a:ext cx="10200000" cy="827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通过本地模拟LLM服务（离线可用、OpenAI兼容接口）调用大模型解决工业问题，优化Prompt获得更精准回答（课内必做）；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185566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75566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构建简单RAG系统（工业规范知识库+查询）；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784429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674429"/>
            <a:ext cx="10200000" cy="827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设计Agent类、Tool类、KnowledgeBase类，实现多步推理与工具调用链；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612269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502269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真实国产大模型API为课后选做（企业数据脱敏合规前置）；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6211132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6101132"/>
            <a:ext cx="10200000" cy="59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课程总结与综合项目布置。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关键代码：带容错的调用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chat(msgs, retries=2):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i in range(retries+1):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r = requests.post(URL, json={"messages":msgs},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if r.status_code == 200: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return r.json()["choices"][0]["message"]["content"]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except requests.RequestException: pass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"[降级]服务暂不可用，已转人工工单。"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关键代码：RAG注入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"\n".join(kb.retrieve(question, topk=2))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answer = chat([{"role":"system","content":"CONTEXT:"+ctx},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{"role":"user","content":question}])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决策：检索策略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命中率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实现难度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关键词匹配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TF-IDF相似度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本课决策题：决策：检索策略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实施任务：工单M4.2《工业智能决策助手系统》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同一问题3版Prompt对比(朴素/角色/示例)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KnowledgeBase检索注入CONTEXT再生成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Agent: 工具判断→阈值判定→汇总回答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容错: 超时重试+降级话术实测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正确回答≥5个典型问题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≥10问+RAG提升明显+多轮对话+容错通过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题库实测正确回答 14 个 ｜ 库外正确拒答 2 个 ｜ Prompt 对比 3 版(最优分差 1.000) ｜ RAG-纯LLM 实测提升 +14 题 ｜ Agent/多轮/容错: OK/OK/OK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规范率门槛≥60% [达标] ｜ 功能OK ｜ 题库实测正确回答数达标（真实检索命中，非自称）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规范率门槛≥70% [达标] ｜ 功能OK ｜ 正确回答数达标 + Prompt 三版真实运行、实测分差有结论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规范率门槛≥80% [达标] ｜ 功能OK ｜ 正确回答数达标 + RAG 链路完整 + 对比纯 LLM 实测有提升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且：Agent 两步推理实测成功；多轮对话实测；容错注入实测通过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条（不自动判达标，教师答辩时确认）: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1. 响应清晰可用：回答口径经值班师傅现场抽检确认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2. Prompt 对比结论能口述（为何结构化+引用编号更可用）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3. Agent「判断→调用工具→汇总」两步推理思路能口述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工程化项目/m42_ops_rag/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src/ops_rag/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跑通一次问答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把Prompt改得更具体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观察回答变化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能复述容错逻辑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规范率门槛≥60%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基础问答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调用本地LLM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优化一次Prompt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记录5组问答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≥5问正确回答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RAG链路+Prompt对比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三版Prompt实验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检索注入CONTEXT再生成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记录是否grounded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≥7问有依据回答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多轮对话+容错实测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加对话历史拼接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HALLUCINATE=1容错实测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RAG前后对比记录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≥10问且过程清晰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实现多轮对话记忆（历史拼接），测试连续追问的上下文保持)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同一问题3版Prompt对比(朴素/角色/示例)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KnowledgeBase检索注入CONTEXT再生成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Agent: 工具判断→阈值判定→汇总回答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容错: 超时重试+降级话术实测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requests必须timeout=5并捕获异常做降级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企业数据不出域：课内用本地模拟LLM，真实API选做且先脱敏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检索只取Top2，Prompt过长反而稀释注意力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回答无依据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没接知识库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检索结果注入CONTEXT前缀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程序卡死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requests加timeout=5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真实API被叫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合规红线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课内只用本地模拟LLM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C·操作员（≥70）：基础问答——基础完成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B·组长（≥80）：RAG链路+Prompt对比——标准达成+帮带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A·师傅（≥90）：多轮对话+容错实测——进阶拓展+费曼讲解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完成工单项目M4.2《工业智能决策助手系统》：正确回答≥5个典型工业问题，优秀标准≥10个、支持多轮对话且Agent推理过程清晰；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完成课程学习总结（各模块知识图谱）；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准备综合项目：自选1个工业场景，设计完整AI应用系统方案。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Q: 泵振动7.5mm/s怎么处理？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A: 根据知识库检索到以下依据：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泵类设备振动速度有效值超过4.5mm/s应列入重点关注，超过7.1mm/s必须停机检查。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轴承温度报警阈值设定为75℃，达到85℃应立即停机并检查润滑与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Q: 轴承温度82℃要不要停机？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A: 根据知识库检索到以下依据：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泵类设备振动速度有效值超过4.5mm/s应列入重点关注，超过7.1mm/s必须停机检查。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轴承温度报警阈值设定为75℃，达到85℃应立即停机并检查润滑与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Q: 变频器过流报警如何排查？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A: 根据知识库检索到以下依据：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泵类设备振动速度有效值超过4.5mm/s应列入重点关注，超过7.1mm/s必须停机检查。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轴承温度报警阈值设定为75℃，达到85℃应立即停机并检查润滑与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微课知识卡：三版Prompt对比实验（5分钟视频+导学单）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LLM大语言模型：生成式文本能力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Prompt工程：角色设定/上下文/示例引导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RAG=检索+生成：知识库TopK注入Prompt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打造工业现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场的智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LLM大语言模型：生成式文本能力 · Prompt工程：角色设定/上下文/示例引导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三版Prompt对比实验 · KnowledgeBase检索注入CONTEXT（检索双解：重合度打分→Chroma向量库）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回答无依据 · 程序卡死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本周主题：三版Prompt对比实验——5分钟视频+导学单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RAG相比纯LLM回答的优势是什么？企业数据合规要注意什么？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排错题：出现「回答无依据」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原因：没接知识库；解决：检索结果注入CONTEXT前缀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LLM大语言模型：生成式文本能力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知识：LLM大语言模型：生成式文本能力；Prompt工程：角色设定/上下文/示例；RAG=检索+生成：知识库TopK注入P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技能：三版Prompt对比实验；KnowledgeBase检索注入CONTEXT（检索双解：重合度打分→Chroma向量库）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交付：工单M4.2《工业智能决策助手系统》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m42_ops_rag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题库实测正确回答 14 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库外正确拒答 2 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Prompt 对比 3 版(最优分差 1.000)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RAG-纯LLM 实测提升 +14 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Agent/多轮/容错: OK/OK/OK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题库实测正确回答数达标（真实检索命中，非自称）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规范率门槛≥60%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正确回答数达标 + Prompt 三版真实运行、实测分差有结论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正确回答数达标 + RAG 链路完整 + 对比纯 LLM 实测有提升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且：Agent 两步推理实测成功；多轮对话实测；容错注入实测通过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3 条（代码不代判，答辩现场确认）：. 响应清晰可用：回答口径经值班师傅现场抽检确认；. Prompt 对比结论能口述（为何结构化+引用编号更可用）；. Agent「判断→调用工具→汇总」两步推理思路能口述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m42_ops_rag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项目：01-AI应用基础/工程化项目/m42_ops_rag/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工具/ppt97/evidence/m42_ops_rag/（capture97.py 真跑捕获，未改写数字）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m42_ops_rag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prompt_compare.png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output/prompt_compare.png ｜ 25 KB ｜ run.py 本次落盘</a:t>
            </a:r>
          </a:p>
        </p:txBody>
      </p:sp>
      <p:pic>
        <p:nvPicPr>
          <p:cNvPr id="19" name="Picture 18" descr="promp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867" y="1993392"/>
            <a:ext cx="5709513" cy="4078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