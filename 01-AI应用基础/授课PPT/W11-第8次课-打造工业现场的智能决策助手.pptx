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9" r:id="rId31"/>
    <p:sldId id="280" r:id="rId32"/>
    <p:sldId id="281" r:id="rId33"/>
    <p:sldId id="286" r:id="rId38"/>
    <p:sldId id="297" r:id="rId49"/>
    <p:sldId id="299" r:id="rId51"/>
    <p:sldId id="300" r:id="rId52"/>
    <p:sldId id="301" r:id="rId53"/>
    <p:sldId id="302" r:id="rId54"/>
    <p:sldId id="304" r:id="rId56"/>
    <p:sldId id="308" r:id="rId60"/>
    <p:sldId id="309" r:id="rId61"/>
    <p:sldId id="310" r:id="rId62"/>
    <p:sldId id="311" r:id="rId63"/>
    <p:sldId id="358" r:id="rId74"/>
    <p:sldId id="359" r:id="rId76"/>
    <p:sldId id="312" r:id="rId64"/>
    <p:sldId id="314" r:id="rId66"/>
    <p:sldId id="316" r:id="rId68"/>
    <p:sldId id="318" r:id="rId70"/>
    <p:sldId id="320" r:id="rId72"/>
    <p:sldId id="321" r:id="rId73"/>
    <p:sldId id="323" r:id="rId75"/>
    <p:sldId id="325" r:id="rId77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7" r:id="rId10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3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1" Type="http://schemas.openxmlformats.org/officeDocument/2006/relationships/slide" Target="slides/slide18.xml"/><Relationship Id="rId32" Type="http://schemas.openxmlformats.org/officeDocument/2006/relationships/slide" Target="slides/slide19.xml"/><Relationship Id="rId33" Type="http://schemas.openxmlformats.org/officeDocument/2006/relationships/slide" Target="slides/slide20.xml"/><Relationship Id="rId38" Type="http://schemas.openxmlformats.org/officeDocument/2006/relationships/slide" Target="slides/slide21.xml"/><Relationship Id="rId49" Type="http://schemas.openxmlformats.org/officeDocument/2006/relationships/slide" Target="slides/slide22.xml"/><Relationship Id="rId51" Type="http://schemas.openxmlformats.org/officeDocument/2006/relationships/slide" Target="slides/slide23.xml"/><Relationship Id="rId52" Type="http://schemas.openxmlformats.org/officeDocument/2006/relationships/slide" Target="slides/slide24.xml"/><Relationship Id="rId53" Type="http://schemas.openxmlformats.org/officeDocument/2006/relationships/slide" Target="slides/slide25.xml"/><Relationship Id="rId54" Type="http://schemas.openxmlformats.org/officeDocument/2006/relationships/slide" Target="slides/slide26.xml"/><Relationship Id="rId56" Type="http://schemas.openxmlformats.org/officeDocument/2006/relationships/slide" Target="slides/slide27.xml"/><Relationship Id="rId60" Type="http://schemas.openxmlformats.org/officeDocument/2006/relationships/slide" Target="slides/slide28.xml"/><Relationship Id="rId61" Type="http://schemas.openxmlformats.org/officeDocument/2006/relationships/slide" Target="slides/slide29.xml"/><Relationship Id="rId62" Type="http://schemas.openxmlformats.org/officeDocument/2006/relationships/slide" Target="slides/slide30.xml"/><Relationship Id="rId63" Type="http://schemas.openxmlformats.org/officeDocument/2006/relationships/slide" Target="slides/slide31.xml"/><Relationship Id="rId64" Type="http://schemas.openxmlformats.org/officeDocument/2006/relationships/slide" Target="slides/slide34.xml"/><Relationship Id="rId66" Type="http://schemas.openxmlformats.org/officeDocument/2006/relationships/slide" Target="slides/slide35.xml"/><Relationship Id="rId68" Type="http://schemas.openxmlformats.org/officeDocument/2006/relationships/slide" Target="slides/slide36.xml"/><Relationship Id="rId70" Type="http://schemas.openxmlformats.org/officeDocument/2006/relationships/slide" Target="slides/slide37.xml"/><Relationship Id="rId72" Type="http://schemas.openxmlformats.org/officeDocument/2006/relationships/slide" Target="slides/slide38.xml"/><Relationship Id="rId73" Type="http://schemas.openxmlformats.org/officeDocument/2006/relationships/slide" Target="slides/slide39.xml"/><Relationship Id="rId74" Type="http://schemas.openxmlformats.org/officeDocument/2006/relationships/slide" Target="slides/slide32.xml"/><Relationship Id="rId75" Type="http://schemas.openxmlformats.org/officeDocument/2006/relationships/slide" Target="slides/slide40.xml"/><Relationship Id="rId76" Type="http://schemas.openxmlformats.org/officeDocument/2006/relationships/slide" Target="slides/slide33.xml"/><Relationship Id="rId77" Type="http://schemas.openxmlformats.org/officeDocument/2006/relationships/slide" Target="slides/slide41.xml"/><Relationship Id="rId79" Type="http://schemas.openxmlformats.org/officeDocument/2006/relationships/slide" Target="slides/slide42.xml"/><Relationship Id="rId80" Type="http://schemas.openxmlformats.org/officeDocument/2006/relationships/slide" Target="slides/slide43.xml"/><Relationship Id="rId81" Type="http://schemas.openxmlformats.org/officeDocument/2006/relationships/slide" Target="slides/slide44.xml"/><Relationship Id="rId82" Type="http://schemas.openxmlformats.org/officeDocument/2006/relationships/slide" Target="slides/slide45.xml"/><Relationship Id="rId83" Type="http://schemas.openxmlformats.org/officeDocument/2006/relationships/slide" Target="slides/slide46.xml"/><Relationship Id="rId84" Type="http://schemas.openxmlformats.org/officeDocument/2006/relationships/slide" Target="slides/slide47.xml"/><Relationship Id="rId85" Type="http://schemas.openxmlformats.org/officeDocument/2006/relationships/slide" Target="slides/slide48.xml"/><Relationship Id="rId86" Type="http://schemas.openxmlformats.org/officeDocument/2006/relationships/slide" Target="slides/slide49.xml"/><Relationship Id="rId87" Type="http://schemas.openxmlformats.org/officeDocument/2006/relationships/slide" Target="slides/slide50.xml"/><Relationship Id="rId88" Type="http://schemas.openxmlformats.org/officeDocument/2006/relationships/slide" Target="slides/slide51.xml"/><Relationship Id="rId89" Type="http://schemas.openxmlformats.org/officeDocument/2006/relationships/slide" Target="slides/slide52.xml"/><Relationship Id="rId90" Type="http://schemas.openxmlformats.org/officeDocument/2006/relationships/slide" Target="slides/slide53.xml"/><Relationship Id="rId91" Type="http://schemas.openxmlformats.org/officeDocument/2006/relationships/slide" Target="slides/slide54.xml"/><Relationship Id="rId92" Type="http://schemas.openxmlformats.org/officeDocument/2006/relationships/slide" Target="slides/slide55.xml"/><Relationship Id="rId93" Type="http://schemas.openxmlformats.org/officeDocument/2006/relationships/slide" Target="slides/slide56.xml"/><Relationship Id="rId94" Type="http://schemas.openxmlformats.org/officeDocument/2006/relationships/slide" Target="slides/slide57.xml"/><Relationship Id="rId95" Type="http://schemas.openxmlformats.org/officeDocument/2006/relationships/slide" Target="slides/slide58.xml"/><Relationship Id="rId96" Type="http://schemas.openxmlformats.org/officeDocument/2006/relationships/slide" Target="slides/slide59.xml"/><Relationship Id="rId97" Type="http://schemas.openxmlformats.org/officeDocument/2006/relationships/slide" Target="slides/slide60.xml"/><Relationship Id="rId98" Type="http://schemas.openxmlformats.org/officeDocument/2006/relationships/slide" Target="slides/slide61.xml"/><Relationship Id="rId99" Type="http://schemas.openxmlformats.org/officeDocument/2006/relationships/slide" Target="slides/slide62.xml"/><Relationship Id="rId100" Type="http://schemas.openxmlformats.org/officeDocument/2006/relationships/slide" Target="slides/slide63.xml"/><Relationship Id="rId101" Type="http://schemas.openxmlformats.org/officeDocument/2006/relationships/slide" Target="slides/slide64.xml"/><Relationship Id="rId102" Type="http://schemas.openxmlformats.org/officeDocument/2006/relationships/slide" Target="slides/slide65.xml"/><Relationship Id="rId103" Type="http://schemas.openxmlformats.org/officeDocument/2006/relationships/slide" Target="slides/slide66.xml"/><Relationship Id="rId104" Type="http://schemas.openxmlformats.org/officeDocument/2006/relationships/slide" Target="slides/slide67.xml"/><Relationship Id="rId105" Type="http://schemas.openxmlformats.org/officeDocument/2006/relationships/slide" Target="slides/slide68.xml"/><Relationship Id="rId109" Type="http://schemas.openxmlformats.org/officeDocument/2006/relationships/slide" Target="slides/slide6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开场30秒：本次课《打造工业现场的智能决策助手》，80分钟＝2课时×40分钟。课前已发工单+starter+微课知识卡，资讯·计划线上完成。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目录页：给学生'地图感'——翻到哪部分干什么，30秒。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分支详解一：基础两条线各点一个产线例子，说明'为什么先学这个'。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决策10→实施30→检查5→实施25→评价10；评价环节不压缩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收官之课。老周把终极愿望提上日程：新员工遇到报警只会打电话问老师傅。'给集团造一个不睡觉的值班工程师。'——工单M4.2：本地大模型+知识库RAG+智能体，做成工业智能决策助手（结业综合项目同步布置）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现场演示《带容错的调用》：三步走——先整段跑通看结果，再逐行讲关键语句，最后现场改一个参数看输出变化（演10分钟的核心素材）。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现场演示《RAG注入》：三步走——先整段跑通看结果，再逐行讲关键语句，最后现场改一个参数看输出变化（演10分钟的核心素材）。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工单发布话术：'设备智能运维中心发来工单M4.2《工业智能决策助手系统》，及格线是正，优秀线看A层标准'——念完发starter。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错误速查：现场演示第一条——制造「回答无依据」，带着学生按'现象→原因→解决'三步排查。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课后任务逐条念，说明下次课的衔接关系；预告下次课前微课与导学单。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部分小结：评价收束。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学习策略：四个方法贯穿全学期——第一周讲透，以后每周复用。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进阶路线：把一门课放进三年坐标系——学完这周能走到哪。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达标预期：四层的预期比例——D层100%保底是底线承诺。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预习清单：三项任务5-15分钟——闭环从课前开始。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口袋书：三条概念卡——期末汇总成全册，学生自查工具。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好差对比：两份同功能输出对比——规范分不是白给的。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场景应对：四种状态四种动作——课堂自主运转的说明书。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微课资源：四个自学入口——补弱看微课，拓强看多解法。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答辩预演：每周2分钟练一环——期末不慌。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实录清单：过程性考核的取证清单——学生自查，教师抽查。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打造工业现场的智能决策助手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第十一周 · 第8次课（2课时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本课主用：Jupyter（实训/演示）+ PyCharm CE（编码）+ Git/GitHub（每周提交）</a:t>
            </a:r>
          </a:p>
        </p:txBody>
      </p:sp>
      <p:pic>
        <p:nvPicPr>
          <p:cNvPr id="7" name="Picture 6" descr="W1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80分钟时间盒与ABCD分层节奏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带着目标进课堂+两江智造本课剧情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基础知识大卡+代码演示（先例后理）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工单发布·分层执行·避坑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69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本课目录（结构速览）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①课程定位：定位/知识地图/课证赛岗——为什么学这门课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②课堂流程：80分钟时间盒/分层节奏——今天怎么安排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③目标与情境：三维目标/剧情拆解/随堂自测——学什么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④知识精讲：知识卡×应用×深化×代码走读——怎么教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⑤任务实施：工单/四层任务/避坑/核对清单——怎么做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000" y="55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000" y="54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⑥检查评价+⑦拓展：质检/评分/工具箱/一图流——怎么收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69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69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课程定位：AI应用基础（课程标准摘录）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专业核心能力进阶课：无代码体验→轻代码实现→工业级应用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AI应用工程师、工业视觉开发、工业互联网数据分析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AI应用实践（中级）、工业互联网平台运维、计算机视觉工程师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前：无Python先修（零基础入门） → 本课(第4-11周，与Python基础并行) → 后：项目实战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69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打造工业现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场的智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LLM大语言模型：生成式文本能力 · Prompt工程：角色设定/上下文/示例引导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RAG=检索+生成：知识库TopK注入Prompt · Agent：LLM+工具调用+多步规划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三版Prompt对比实验 · KnowledgeBase检索注入CONTEXT（检索双解：重合度打分→Chroma向量库）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69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知识地图分支详解（一）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基础知识线：LLM大语言模型：生成式文本能力；Prompt工程：角色设定/上下文/示例引导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继续夯实线：RAG=检索+生成：知识库TopK注入Prompt；Agent：LLM+工具调用+多步规划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两条线的关系：先打地基（概念/类型），再上楼层（组合应用）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学法提示：每条知识都配'车间例子'，先例后理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69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技能线：三版Prompt对比实验；KnowledgeBase检索注入CONTEXT（检索双解：重合度打分→Chroma向量库）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69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设备智能运维中心：AI应用工程师、工业视觉开发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M4.2《工业智能决策助手系统》——本课工单即考核单元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1+X AI应用实践（初级=M1-M3/中级=M4）——本课工单即考点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69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69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69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69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目标：理解LLM、Prompt工程、RAG、Agent的基本概念与相互关系；掌握大模型API调用的基本方法。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69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目标：能够构建集成LLM与知识库的工业智能决策助手（正确回答≥5个典型工业问题）；能够设计Agent类、Tool类并实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69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目标：树立AI伦理与数据安全意识（企业数据不出域），培养追踪前沿技术并落地工业场景的创新精神。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69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RAG相比纯LLM回答的优势是什么？企业数据合规要注意什么？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导学单+预习自测已完成；data/数据已就位、starter可运行（--check环境OK）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69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题目：RAG相比纯LLM回答的优势是什么？企业数据合规要注意什么？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69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收官之课。老周把终极愿望提上日程：新员工遇到报警只会打电话问老师傅。'给集团造一个不睡觉的值班工程师。'——工单M4.2：本地大模型+知识库RAG+智能体，做成工业智能决策助手（结业综合项目同步布置）。</a:t>
            </a:r>
          </a:p>
        </p:txBody>
      </p:sp>
      <p:pic>
        <p:nvPicPr>
          <p:cNvPr id="9" name="Picture 8" descr="W1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69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任务背景：收官之课。老周把终极愿望提上日程：新员工遇到报警只会打电话问老师傅。'给集团造一个不睡觉的值班工程师。'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69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理解LLM、Prompt工程、RAG、Agent的基本概念与相互关系；掌握大模型API调用的基本方法。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能够构建集成LLM与知识库的工业智能决策助手（正确回答≥5个典型工业问题）；能够设计Agent类、Tool类并实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树立AI伦理与数据安全意识（企业数据不出域），培养追踪前沿技术并落地工业场景的创新精神。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对应工单M4.2评分：功能40%+技术25%+规范20%+素养15%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69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69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三版Prompt对比实验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KnowledgeBase检索注入CONTEXT（检索双解：重合度打分→Chroma向量库）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Agent两步推理(判断→工具→汇总)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requests容错( timeout/重试/降级)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69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评估指标公式卡（贴在显示器上）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4900000" cy="165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4900000" cy="54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0000" y="191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准确率 Accuracy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0000" y="247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5670F"/>
                </a:solidFill>
                <a:latin typeface="微软雅黑"/>
              </a:rPr>
              <a:t>对的 / 全部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0000" y="300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总体把握, 不均衡时会骗人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60000" y="1850000"/>
            <a:ext cx="4900000" cy="165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000" y="1850000"/>
            <a:ext cx="4900000" cy="54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10000" y="191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精确率 Precision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10000" y="247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5670F"/>
                </a:solidFill>
                <a:latin typeface="微软雅黑"/>
              </a:rPr>
              <a:t>报的真 / 全部报的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10000" y="3000000"/>
            <a:ext cx="4600000" cy="4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误报成本高时看它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700000"/>
            <a:ext cx="4900000" cy="165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700000"/>
            <a:ext cx="4900000" cy="54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0000" y="376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召回率 Recall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0000" y="432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5670F"/>
                </a:solidFill>
                <a:latin typeface="微软雅黑"/>
              </a:rPr>
              <a:t>抓到的真 / 全部真的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0000" y="485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漏报(漏检)代价高时看它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60000" y="3700000"/>
            <a:ext cx="4900000" cy="165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60000" y="3700000"/>
            <a:ext cx="4900000" cy="54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10000" y="3760000"/>
            <a:ext cx="4600000" cy="4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F1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10000" y="432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5670F"/>
                </a:solidFill>
                <a:latin typeface="微软雅黑"/>
              </a:rPr>
              <a:t>2PR / (P+R)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10000" y="485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精确与召回的调和平均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69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打造工业现场的智能决策助手（1）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大模型与智能体技术：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大语言模型（LLM）基础：ChatGPT、文心一言、通义千问的能力边界；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Prompt工程：角色设定、上下文、示例引导等提示词优化技巧；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检索增强生成（RAG）：知识库+LLM的问答架构；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1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0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智能体（Agent）系统：多步推理、工具调用链；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000" y="58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000" y="57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工业应用：智能问答、文档理解、决策支持。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69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打造工业现场的智能决策助手（2）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59886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演示与工单项目M4.2实验（60分钟，离线可用）：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758863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648863"/>
            <a:ext cx="10200000" cy="59886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演示LLM工业问答与RAG检索效果、简单智能体的决策过程；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357726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247726"/>
            <a:ext cx="10200000" cy="827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通过本地模拟LLM服务（离线可用、OpenAI兼容接口）调用大模型解决工业问题，优化Prompt获得更精准回答（课内必做）；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185566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75566"/>
            <a:ext cx="10200000" cy="59886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构建简单RAG系统（工业规范知识库+查询）；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784429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674429"/>
            <a:ext cx="10200000" cy="827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设计Agent类、Tool类、KnowledgeBase类，实现多步推理与工具调用链；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000" y="5612269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000" y="5502269"/>
            <a:ext cx="10200000" cy="59886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真实国产大模型API为课后选做（企业数据脱敏合规前置）；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0000" y="6211132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00000" y="6101132"/>
            <a:ext cx="10200000" cy="59886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课程总结与综合项目布置。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69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关键代码：带容错的调用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def chat(msgs, retries=2):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for i in range(retries+1):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try: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    r = requests.post(URL, json={"messages":msgs}, timeout=5)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    if r.status_code == 200: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        return r.json()["choices"][0]["message"]["content"]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except requests.RequestException: pass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return "[降级]服务暂不可用，已转人工工单。"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69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关键代码：RAG注入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ctx = "\n".join(kb.retrieve(question, topk=2))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answer = chat([{"role":"system","content":"CONTEXT:"+ctx},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       {"role":"user","content":question}])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69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69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决策：检索策略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策略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命中率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实现难度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关键词匹配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TF-IDF相似度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000" y="406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决策结论写入工单，答辩必答；实施失误回溯决策复盘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69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本课决策题：决策：检索策略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69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实施任务：工单M4.2《工业智能决策助手系统》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同一问题3版Prompt对比(朴素/角色/示例)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KnowledgeBase检索注入CONTEXT再生成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Agent: 工具判断→阈值判定→汇总回答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容错: 超时重试+降级话术实测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正确回答≥5个典型问题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≥10问+RAG提升明显+多轮对话+容错通过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69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Q: 泵振动7.5mm/s怎么处理？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A: 根据知识库检索到以下依据：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泵类设备振动速度有效值超过4.5mm/s应列入重点关注，超过7.1mm/s必须停机检查。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轴承温度报警阈值设定为75℃，达到85℃应立即停机并检查润滑与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Q: 轴承温度82℃要不要停机？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A: 根据知识库检索到以下依据：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泵类设备振动速度有效值超过4.5mm/s应列入重点关注，超过7.1mm/s必须停机检查。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轴承温度报警阈值设定为75℃，达到85℃应立即停机并检查润滑与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Q: 变频器过流报警如何排查？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A: 根据知识库检索到以下依据：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泵类设备振动速度有效值超过4.5mm/s应列入重点关注，超过7.1mm/s必须停机检查。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轴承温度报警阈值设定为75℃，达到85℃应立即停机并检查润滑与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69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工程化项目/m42_ops_rag/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src/ops_rag/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69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调用体验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跑通一次问答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把Prompt改得更具体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观察回答变化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能复述容错逻辑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69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基础问答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调用本地LLM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优化一次Prompt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记录5组问答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≥5问正确回答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69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RAG链路+Prompt对比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三版Prompt实验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检索注入CONTEXT再生成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记录是否grounded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≥7问有依据回答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69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多轮对话+容错实测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加对话历史拼接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HALLUCINATE=1容错实测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RAG前后对比记录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≥10问且过程清晰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(A层加码: 实现多轮对话记忆（历史拼接），测试连续追问的上下文保持)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69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同一问题3版Prompt对比(朴素/角色/示例)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KnowledgeBase检索注入CONTEXT再生成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Agent: 工具判断→阈值判定→汇总回答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0000" y="365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000" y="3670000"/>
            <a:ext cx="480000" cy="4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0000" y="359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容错: 超时重试+降级话术实测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requests必须timeout=5并捕获异常做降级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企业数据不出域：课内用本地模拟LLM，真实API选做且先脱敏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检索只取Top2，Prompt过长反而稀释注意力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69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回答无依据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没接知识库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检索结果注入CONTEXT前缀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程序卡死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无timeout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requests加timeout=5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真实API被叫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合规红线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课内只用本地模拟LLM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69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D·学徒（≥60）：调用体验——跟做保底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C·操作员（≥70）：基础问答——基础完成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B·组长（≥80）：RAG链路+Prompt对比——标准达成+帮带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A·师傅（≥90）：多轮对话+容错实测——进阶拓展+费曼讲解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69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conda环境正确（提示符显示(ai01）再运行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69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69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69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提交物与评分（工单M4.2）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学号_姓名_M4.2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69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完成工单项目M4.2《工业智能决策助手系统》：正确回答≥5个典型工业问题，优秀标准≥10个、支持多轮对话且Agent推理过程清晰；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完成课程学习总结（各模块知识图谱）；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准备综合项目：自选1个工业场景，设计完整AI应用系统方案。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69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模型可解释与数据伦理：不迷信黑盒, 尊重隐私与合规红线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工程化思维：从模型精度到系统可用, 版本可管理、结果可复现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持续学习：追踪大模型前沿, 用工单沉淀个人知识资产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69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Q: 泵振动7.5mm/s怎么处理？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A: 根据知识库检索到以下依据：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泵类设备振动速度有效值超过4.5mm/s应列入重点关注，超过7.1mm/s必须停机检查。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轴承温度报警阈值设定为75℃，达到85℃应立即停机并检查润滑与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Q: 轴承温度82℃要不要停机？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A: 根据知识库检索到以下依据：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泵类设备振动速度有效值超过4.5mm/s应列入重点关注，超过7.1mm/s必须停机检查。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轴承温度报警阈值设定为75℃，达到85℃应立即停机并检查润滑与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Q: 变频器过流报警如何排查？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A: 根据知识库检索到以下依据：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泵类设备振动速度有效值超过4.5mm/s应列入重点关注，超过7.1mm/s必须停机检查。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轴承温度报警阈值设定为75℃，达到85℃应立即停机并检查润滑与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69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69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torch安装失败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用--index-url cpu官方源；确认在ai48环境里装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模型指标波动大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设random_state=42；数据先shuffle再划分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ONNX推理结果不一致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对齐预处理（同一scaler/归一化参数）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69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M4.2任务书——步骤/及格线/评分细则都在里面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69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检查与评价 · 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2800000" cy="42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3300000"/>
            <a:ext cx="28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000" y="4300000"/>
            <a:ext cx="28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部分小结</a:t>
            </a:r>
          </a:p>
        </p:txBody>
      </p:sp>
      <p:sp>
        <p:nvSpPr>
          <p:cNvPr id="8" name="Rectangle 7"/>
          <p:cNvSpPr/>
          <p:nvPr/>
        </p:nvSpPr>
        <p:spPr>
          <a:xfrm>
            <a:off x="3900000" y="2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0000" y="19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三层质检：自检→互查签字→教师抽查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00000" y="27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0000" y="26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评分四级量表+四权重已明确，24小时内平台反馈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00000" y="34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0000" y="33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课后任务+下次课预告形成学习闭环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69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69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质检靠老师傅目检，漏检率高且疲劳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分类模型+阈值规则，先自动化易判样本，人只复核疑难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M4.2的技能点即其最小实现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下一步：视觉检测（M3）/大模型辅助诊断（M4）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69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69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学习策略：这门课怎么学最有效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先例后理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先跑代码看结果，再回头懂原理——PRIMM教学法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费曼技巧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A层讲给D层听——讲得清才是真懂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错题资产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每个报错记入错误速查表——期末它是你的复习宝典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提交习惯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小步提交（每完成一步就commit）——回退不求人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69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进阶路线图（从今天的课往哪走）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本周：工单核心技能→下周：组合应用→期末：综合项目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横向：本课技能在03课P项目链中的位置（工程化/全栈）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纵向：证书线——初级操作题→中级工程题（1+X/工信部）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竞赛线：校级选拔→世界职业院校技能大赛（人工智能赛道）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岗位线：跟做学徒→独立操作→带组师傅→产线负责人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69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本周各层达标预期（%）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896000" y="2600000"/>
            <a:ext cx="1400000" cy="28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6000" y="20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D层·跟做保底</a:t>
            </a:r>
          </a:p>
        </p:txBody>
      </p:sp>
      <p:sp>
        <p:nvSpPr>
          <p:cNvPr id="8" name="Rectangle 7"/>
          <p:cNvSpPr/>
          <p:nvPr/>
        </p:nvSpPr>
        <p:spPr>
          <a:xfrm>
            <a:off x="3996000" y="3160000"/>
            <a:ext cx="1400000" cy="224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6000" y="26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C层·基础完成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0" y="3720000"/>
            <a:ext cx="1400000" cy="1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6000" y="316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B层·标准达成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6000" y="4560000"/>
            <a:ext cx="1400000" cy="8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6000" y="40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A层·进阶拓展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00000" y="5400000"/>
            <a:ext cx="9400000" cy="3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61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预期≠上限：动态升降制下人人可冲上一层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69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课前预习清单（下次课前完成）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微课知识卡：三版Prompt对比实验（5分钟视频+导学单）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Jupyter实训notebook：先跑教师版看答案，再试学生版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预习快问：下次课quiz从微课与导学单出题——带着答案来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Git推送本周工单：还没提交的课后补上（周达标率依据）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69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知识口袋书（本课概念速记）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 LLM大语言模型：生成式文本能力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 Prompt工程：角色设定/上下文/示例引导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 RAG=检索+生成：知识库TopK注入Prompt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用法：睡前30秒过一遍——口袋书越翻越薄，技能越练越厚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69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输出对比：好的 vs 差的（规范从第一课开始）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好的输出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表头对齐·单位齐全·小数位统一·命名规范（snake_case）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差的输出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数字裸奔无单位·列不对齐·temp1/temp2乱命名·中文引号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差多少分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同样的功能——规范20%+素养15%两项就能差出35分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车间台账要给人看——读不懂的输出=没交付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69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打造工业现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场的智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LLM大语言模型：生成式文本能力 · Prompt工程：角色设定/上下文/示例引导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三版Prompt对比实验 · KnowledgeBase检索注入CONTEXT（检索双解：重合度打分→Chroma向量库）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回答无依据 · 程序卡死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工单M4.2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69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常见场景应对（卡住了怎么办）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场景①代码报错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读报错最后一行→查错误速查表→还没解决举手（附截图）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场景②不知道做啥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回看操作核对清单□——第一个没勾的就是下一步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场景③做完了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90秒最后一查→Git提交→帮同组D/C层（B层职责）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场景④提前全完成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A层拓展任务→费曼准备→预习下次课微课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69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微课与自学资源（课后补弱/拓强）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微课知识卡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本周主题：三版Prompt对比实验——5分钟视频+导学单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数字人版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同内容数字人讲解——喜欢听的换着看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Jupyter师生版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教师版有完整答案——先看懂再独立做学生版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多解法手册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教师参考/多解法手册——同一任务三种深度解法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69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答辩预演（期末综合项目的彩排）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①30秒讲需求：这个工单解决什么问题、给谁用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②60秒讲方案：数据从哪来→怎么处理→输出什么（三段式）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③60秒讲亮点：我踩过的坑+怎么爬出来的（错误速查表就是素材）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④答辩礼仪：指着屏幕讲，不念稿；被问住就说'这个我课后验证'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从本周开始练——期末答辩=12周彩排的总和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69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课堂实录清单（过程性考核证据）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运行截图：代码+输出同框（截全不截半）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工单过程栏：步骤勾选+决策理由+自查记录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Git提交：本次课至少1条commit（message规范）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同伴签字：互查通过后签名（讲得清才算会）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四项齐全=过程分满分；缺一项课后24小时内补齐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69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69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RAG相比纯LLM回答的优势是什么？企业数据合规要注意什么？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排错题：出现「回答无依据」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原因：没接知识库；解决：检索结果注入CONTEXT前缀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LLM大语言模型：生成式文本能力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69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知识：LLM大语言模型：生成式文本能力；Prompt工程：角色设定/上下文/示例；RAG=检索+生成：知识库TopK注入P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技能：三版Prompt对比实验；KnowledgeBase检索注入CONTEXT（检索双解：重合度打分→Chroma向量库）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交付：工单M4.2《工业智能决策助手系统》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69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