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3" r:id="rId55"/>
    <p:sldId id="305" r:id="rId57"/>
    <p:sldId id="306" r:id="rId58"/>
    <p:sldId id="307" r:id="rId59"/>
    <p:sldId id="309" r:id="rId61"/>
    <p:sldId id="313" r:id="rId65"/>
    <p:sldId id="314" r:id="rId66"/>
    <p:sldId id="315" r:id="rId67"/>
    <p:sldId id="316" r:id="rId68"/>
    <p:sldId id="364" r:id="rId79"/>
    <p:sldId id="365" r:id="rId83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5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1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9.xml"/><Relationship Id="rId71" Type="http://schemas.openxmlformats.org/officeDocument/2006/relationships/slide" Target="slides/slide40.xml"/><Relationship Id="rId73" Type="http://schemas.openxmlformats.org/officeDocument/2006/relationships/slide" Target="slides/slide41.xml"/><Relationship Id="rId75" Type="http://schemas.openxmlformats.org/officeDocument/2006/relationships/slide" Target="slides/slide42.xml"/><Relationship Id="rId77" Type="http://schemas.openxmlformats.org/officeDocument/2006/relationships/slide" Target="slides/slide43.xml"/><Relationship Id="rId78" Type="http://schemas.openxmlformats.org/officeDocument/2006/relationships/slide" Target="slides/slide44.xml"/><Relationship Id="rId79" Type="http://schemas.openxmlformats.org/officeDocument/2006/relationships/slide" Target="slides/slide37.xml"/><Relationship Id="rId80" Type="http://schemas.openxmlformats.org/officeDocument/2006/relationships/slide" Target="slides/slide45.xml"/><Relationship Id="rId81" Type="http://schemas.openxmlformats.org/officeDocument/2006/relationships/slide" Target="slides/slide46.xml"/><Relationship Id="rId82" Type="http://schemas.openxmlformats.org/officeDocument/2006/relationships/slide" Target="slides/slide47.xml"/><Relationship Id="rId83" Type="http://schemas.openxmlformats.org/officeDocument/2006/relationships/slide" Target="slides/slide38.xml"/><Relationship Id="rId84" Type="http://schemas.openxmlformats.org/officeDocument/2006/relationships/slide" Target="slides/slide48.xml"/><Relationship Id="rId85" Type="http://schemas.openxmlformats.org/officeDocument/2006/relationships/slide" Target="slides/slide49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0" Type="http://schemas.openxmlformats.org/officeDocument/2006/relationships/slide" Target="slides/slide74.xml"/><Relationship Id="rId114" Type="http://schemas.openxmlformats.org/officeDocument/2006/relationships/slide" Target="slides/slide75.xml"/><Relationship Id="rId115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开场30秒：本次课《看得懂缺陷的神经网络》，80分钟＝2课时×40分钟。课前已发工单+starter+微课知识卡，资讯·计划线上完成。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情境说书（30秒，口头讲，不必逐字念）：质检科求助：焊接机器人 nightly 抽检靠老师傅目视，夜班漏检率高。老周调来6台焊机半年的缺陷照片库，'能不能让机器自己看？'——工单M2.1：在CPU上训练一个会认'气孔/夹渣/裂纹'的小型CNN。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详解B1·线程并发：先读定义→场景为什么用它→看代码实例→扩展给A层。C/D层掌握前三格，A层加扩展格。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详解B2·Queue传送带：先读定义→场景为什么用它→看代码实例→扩展给A层。C/D层掌握前三格，A层加扩展格。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详解B3·get超时防死等：先读定义→场景为什么用它→看代码实例→扩展给A层。C/D层掌握前三格，A层加扩展格。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详解B4·退避重试：先读定义→场景为什么用它→看代码实例→扩展给A层。C/D层掌握前三格，A层加扩展格。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详解B5·daemon守护线程：先读定义→场景为什么用它→看代码实例→扩展给A层。C/D层掌握前三格，A层加扩展格。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详解B6·对账公式：先读定义→场景为什么用它→看代码实例→扩展给A层。C/D层掌握前三格，A层加扩展格。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现场演示《TinyCNN前向(填空核心)》：三步走——先整段跑通看结果，再逐行讲关键语句，最后现场改一个参数看输出变化（演10分钟的核心素材）。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现场演示《训练循环骨架》：三步走——先整段跑通看结果，再逐行讲关键语句，最后现场改一个参数看输出变化（演10分钟的核心素材）。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工单发布话术：'设备智能运维中心发来工单M2.1《工业焊接缺陷检测系统》，及格线是准，优秀线看A层标准'——念完发starter。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错误速查：现场演示第一条——制造「loss停在1.386不动」，带着学生按'现象→原因→解决'三步排查。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看得懂缺陷的神经网络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看得懂缺陷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的神经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神经元：加权求和+非线性激活(ReLU) · 网络=层堆叠：Input→Conv→Pool→FC→Output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卷积核3×3扫图做局部加权→提取边缘/纹理 · 池化2×2取最大→尺寸减半、保留显著特征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完成TinyCNN的forward前向传播 · 编写batch训练循环并打印loss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基础知识线：神经元：加权求和+非线性激活(ReLU)；网络=层堆叠：Input→Conv→Pool→FC→Output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继续夯实线：卷积核3×3扫图做局部加权→提取边缘/纹理；池化2×2取最大→尺寸减半、保留显著特征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技能线：完成TinyCNN的forward前向传播；编写batch训练循环并打印loss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M2.1《工业焊接缺陷检测系统》——本课工单即考核单元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目标：理解神经网络的基本结构与前向传播概念；掌握CNN在缺陷检测中的应用原理；了解迁移学习的基本思想。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目标：能够使用预训练CNN模型完成工业焊接缺陷检测（准确率≥0.80）；能够上传测试图片并得到预测结果。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目标：理解深度学习“黑盒”特性的可解释性需求，树立模型可视化与结果验证的科学态度。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卷积核3×3、输入64×64、不加padding，输出尺寸是多少？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题目：卷积核3×3、输入64×64、不加padding，输出尺寸是多少？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质检科求助：焊接机器人 nightly 抽检靠老师傅目视，夜班漏检率高。老周调来6台焊机半年的缺陷照片库，'能不能让机器自己看？'——工单M2.1：在CPU上训练一个会认'气孔/夹渣/裂纹'的小型CNN。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任务背景：质检科求助：焊接机器人 nightly 抽检靠老师傅目视，夜班漏检率高。老周调来6台焊机半年的缺陷照片库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理解神经网络的基本结构与前向传播概念；掌握CNN在缺陷检测中的应用原理；了解迁移学习的基本思想。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能够使用预训练CNN模型完成工业焊接缺陷检测（准确率≥0.80）；能够上传测试图片并得到预测结果。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理解深度学习“黑盒”特性的可解释性需求，树立模型可视化与结果验证的科学态度。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对应工单M2.1评分：功能40%+技术25%+规范20%+素养15%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知识详解：线程并发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线程并发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线程=车间三条传送带同时转：采集/处理/入库互不挡道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采集不能被入库阻塞——三线程并行是主链路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 = threading.Thread(target=worker); t.start()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误区：以为多线程必然更快——GIL下CPU密集不加速，IO密集才香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知识详解：Queue传送带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Queue传送带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queue.Queue=自带保险锁的传送带——线程间传数据不丢不撞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采集线程与入库线程解耦——快慢各干各的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q.put(row) / row = q.get(timeout=3)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误区：直接共享全局列表传数据——裸列表非线程安全，必加锁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知识详解：get超时防死等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get超时防死等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get(timeout)=传送带空转3秒就检查——不给死等机会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采集断流时入库线程能检查退出标志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row=q.get(timeout=3) except Empty: continue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误区：裸get()死等——采集一断入库线程永久卡死成僵尸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知识详解：退避重试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退避重试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指数退避=敲门礼仪：1s没应等2s再4s——封顶8s不轰炸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P4.1核心考点：2号PLC随机掉线必须重连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delay=min(delay*2, 8)——间隔翻倍不爆炸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误区：无退避疯狂重试=DDOS自己——掉线风暴越试越瘫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知识详解：daemon守护线程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daemon守护线程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daemon=True=随主灯灭的值夜班——主程序退出它跟着退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Ctrl+C后采集进程能干净退出不留后台僵尸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 = threading.Thread(target=worker, daemon=True)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误区：守护线程里放'必须写完'的落库逻辑——可能中途被掐断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知识详解：对账公式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对账公式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对账=钱货两清：源计数=入库+异常+丢弃，一条不差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采集完整性的数学表达——工单验收硬指标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assert total_src == total_db + total_err + total_drop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误区：只报采集条数不对账——丢的行去哪了说不清等于失控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完成TinyCNN的forward前向传播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编写batch训练循环并打印loss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用张量形状追踪法定位维度错误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对测试图输出预测+softmax置信度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看得懂缺陷的神经网络（1）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神经网络与CNN理论（30分钟，只讲直观原理，不推导公式）：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685249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575249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神经网络的基本结构：层、节点、权重、偏置与激活函数；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210498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100498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卷积神经网络（CNN）的基本概念：卷积核、特征图、池化；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3735747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3625747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工业缺陷检测应用：表面裂纹、焊接气孔、夹渣等缺陷的识别流程。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260996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150996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演示与工单项目M2.1实验：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4786245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4676245"/>
            <a:ext cx="10200000" cy="525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演示CNN识别工业表面缺陷的实时效果与特征图、注意力图可视化；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0000" y="5311494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0000" y="5201494"/>
            <a:ext cx="10200000" cy="726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加载预训练CNN模型，对焊接图像（无缺陷、气孔、夹渣、裂纹4类）进行推理；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0000" y="6037573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0000" y="5927573"/>
            <a:ext cx="10200000" cy="7724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图像标准化预处理、模型推理与评估；知识补充：神经网络即多层对象（Input→Layer→Output），用Sequential API面向对象地构建模型。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关键代码：TinyCNN前向(填空核心)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TinyCNN(nn.Module):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forward(self, x):                  # (N,1,64,64)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x = self.pool(torch.relu(self.conv1(x)))  # →(N,8,31,31)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x = self.pool(torch.relu(self.conv2(x)))  # →(N,16,14,14)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x = x.flatten(1)                   # →(N,3136)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self.fc2(torch.relu(self.fc1(x)))  # →(N,4)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关键代码：训练循环骨架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range(0, len(Xtr), 32):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b = perm[i:i+32]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opt.zero_grad()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loss = lossf(model(Xtr[b]), ytr[b])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loss.backward(); opt.step()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决策：训练方案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耗时(CPU)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从零训练tiny-CNN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~2min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预训练微调(演示)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~10min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本课决策题：决策：训练方案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实施任务：工单M2.1《工业焊接缺陷检测系统》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加载npy数据并归一化(/255)+划分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补全forward与训练循环(3 epochs)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记录每轮loss与测试准确率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输出2张测试图预测+置信度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准确率≥0.80；形状追踪表基本正确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≥0.88；数据增强对比+loss曲线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epoch1 loss=1.3993 测试acc=0.208  ×6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形状追踪: (N,1,64,64)→conv1(N,8,62,62)→pool(31)→conv2(N,16,29,29)→p…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工程化项目/m21_weld_cnn/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src/weld_cnn/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推理体验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加载预训练权重仅推理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上传图片看预测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抄写形状追踪表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能读懂形状表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跑通训练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加载npy数据并归一化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完成forward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训练6轮看acc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准确率≥0.80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完整训练评估流程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补全forward与训练循环(6轮)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记录每轮loss与测试acc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输出形状追踪表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准确率≥0.85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数据增强对比+loss曲线+混淆矩阵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加随机水平翻转增强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绘制loss/acc曲线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混淆矩阵分析1个误判样本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准确率≥0.88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加数据增强（随机翻转/平移）对比训练曲线，解释增强为何有效)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加载npy数据并归一化(/255)+划分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补全forward与训练循环(3 epochs)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记录每轮loss与测试准确率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输出2张测试图预测+置信度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输入必须/255归一化，否则loss居高不下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PyTorch通道序是N,C,H,W——numpy转tensor后要补通道维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测试集指标为准，禁止在测试集上挑图刷准确率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loss停在1.386不动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忘记/255归一化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X=X.astype('float32')/255.0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尺寸不匹配报错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通道序/flatten位置错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逐步打印x.shape定位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batch太小/full-batch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batch=32并只训6轮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D·学徒（≥60）：推理体验——跟做保底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C·操作员（≥70）：跑通训练——基础完成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B·组长（≥80）：完整训练评估流程——标准达成+帮带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A·师傅（≥90）：数据增强对比+loss曲线+混淆矩阵——进阶拓展+费曼讲解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步骤1：加载npy数据并归一化(/255)+划分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步骤2：补全forward与训练循环(3 epochs)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步骤3：记录每轮loss与测试准确率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步骤4：输出2张测试图预测+置信度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完成工单项目M2.1《工业焊接缺陷检测系统》：准确率≥0.80，优秀标准≥0.88并完成特征图可视化或数据增强尝试；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收集5张含缺陷的工业图片并用模型检测，记录结果；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预习时间序列数据的基本特性。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epoch1 loss=1.3993 测试acc=0.208  ×6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形状追踪: (N,1,64,64)→conv1(N,8,62,62)→pool(31)→conv2(N,16,29,29)→p…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微课知识卡：完成TinyCNN的forward前向传播（5分钟视频+导学单）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神经元：加权求和+非线性激活(ReLU)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网络=层堆叠：Input→Conv→Pool→FC→Output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卷积核3×3扫图做局部加权→提取边缘/纹理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看得懂缺陷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的神经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神经元：加权求和+非线性激活(ReLU) · 网络=层堆叠：Input→Conv→Pool→FC→Output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完成TinyCNN的forward前向传播 · 编写batch训练循环并打印loss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loss停在1.386不动 · 尺寸不匹配报错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本周主题：完成TinyCNN的forward前向传播——5分钟视频+导学单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卷积核3×3、输入64×64、不加padding，输出尺寸是多少？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排错题：出现「loss停在1.386不动」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原因：忘记/255归一化；解决：X=X.astype('float32')/255.0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神经元：加权求和+非线性激活(ReLU)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知识：神经元：加权求和+非线性激活(ReLU)；网络=层堆叠：Input→Conv→Po；卷积核3×3扫图做局部加权→提取边缘/纹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技能：完成TinyCNN的forward前向传播；编写batch训练循环并打印loss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交付：工单M2.1《工业焊接缺陷检测系统》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可视化窗口-标签对应关系(--viz)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窗口长度20、步长1，长度200的序列能切出多少个样本？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