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3" r:id="rId15"/>
    <p:sldId id="264" r:id="rId16"/>
    <p:sldId id="266" r:id="rId18"/>
    <p:sldId id="267" r:id="rId19"/>
    <p:sldId id="271" r:id="rId23"/>
    <p:sldId id="273" r:id="rId25"/>
    <p:sldId id="274" r:id="rId26"/>
    <p:sldId id="275" r:id="rId27"/>
    <p:sldId id="276" r:id="rId28"/>
    <p:sldId id="277" r:id="rId29"/>
    <p:sldId id="279" r:id="rId31"/>
    <p:sldId id="280" r:id="rId32"/>
    <p:sldId id="281" r:id="rId33"/>
    <p:sldId id="286" r:id="rId38"/>
    <p:sldId id="288" r:id="rId40"/>
    <p:sldId id="290" r:id="rId42"/>
    <p:sldId id="292" r:id="rId44"/>
    <p:sldId id="294" r:id="rId46"/>
    <p:sldId id="296" r:id="rId48"/>
    <p:sldId id="298" r:id="rId50"/>
    <p:sldId id="300" r:id="rId52"/>
    <p:sldId id="304" r:id="rId56"/>
    <p:sldId id="306" r:id="rId58"/>
    <p:sldId id="307" r:id="rId59"/>
    <p:sldId id="308" r:id="rId60"/>
    <p:sldId id="309" r:id="rId61"/>
    <p:sldId id="311" r:id="rId63"/>
    <p:sldId id="315" r:id="rId67"/>
    <p:sldId id="316" r:id="rId68"/>
    <p:sldId id="317" r:id="rId69"/>
    <p:sldId id="318" r:id="rId70"/>
    <p:sldId id="366" r:id="rId81"/>
    <p:sldId id="367" r:id="rId78"/>
    <p:sldId id="319" r:id="rId71"/>
    <p:sldId id="321" r:id="rId73"/>
    <p:sldId id="323" r:id="rId75"/>
    <p:sldId id="325" r:id="rId77"/>
    <p:sldId id="327" r:id="rId79"/>
    <p:sldId id="328" r:id="rId80"/>
    <p:sldId id="330" r:id="rId82"/>
    <p:sldId id="331" r:id="rId83"/>
    <p:sldId id="332" r:id="rId84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4" r:id="rId116"/>
    <p:sldId id="365" r:id="rId11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3" Type="http://schemas.openxmlformats.org/officeDocument/2006/relationships/slide" Target="slides/slide11.xml"/><Relationship Id="rId25" Type="http://schemas.openxmlformats.org/officeDocument/2006/relationships/slide" Target="slides/slide12.xml"/><Relationship Id="rId26" Type="http://schemas.openxmlformats.org/officeDocument/2006/relationships/slide" Target="slides/slide13.xml"/><Relationship Id="rId27" Type="http://schemas.openxmlformats.org/officeDocument/2006/relationships/slide" Target="slides/slide14.xml"/><Relationship Id="rId28" Type="http://schemas.openxmlformats.org/officeDocument/2006/relationships/slide" Target="slides/slide15.xml"/><Relationship Id="rId29" Type="http://schemas.openxmlformats.org/officeDocument/2006/relationships/slide" Target="slides/slide16.xml"/><Relationship Id="rId31" Type="http://schemas.openxmlformats.org/officeDocument/2006/relationships/slide" Target="slides/slide17.xml"/><Relationship Id="rId32" Type="http://schemas.openxmlformats.org/officeDocument/2006/relationships/slide" Target="slides/slide18.xml"/><Relationship Id="rId33" Type="http://schemas.openxmlformats.org/officeDocument/2006/relationships/slide" Target="slides/slide19.xml"/><Relationship Id="rId38" Type="http://schemas.openxmlformats.org/officeDocument/2006/relationships/slide" Target="slides/slide20.xml"/><Relationship Id="rId40" Type="http://schemas.openxmlformats.org/officeDocument/2006/relationships/slide" Target="slides/slide21.xml"/><Relationship Id="rId42" Type="http://schemas.openxmlformats.org/officeDocument/2006/relationships/slide" Target="slides/slide22.xml"/><Relationship Id="rId44" Type="http://schemas.openxmlformats.org/officeDocument/2006/relationships/slide" Target="slides/slide23.xml"/><Relationship Id="rId46" Type="http://schemas.openxmlformats.org/officeDocument/2006/relationships/slide" Target="slides/slide24.xml"/><Relationship Id="rId48" Type="http://schemas.openxmlformats.org/officeDocument/2006/relationships/slide" Target="slides/slide25.xml"/><Relationship Id="rId50" Type="http://schemas.openxmlformats.org/officeDocument/2006/relationships/slide" Target="slides/slide26.xml"/><Relationship Id="rId52" Type="http://schemas.openxmlformats.org/officeDocument/2006/relationships/slide" Target="slides/slide27.xml"/><Relationship Id="rId56" Type="http://schemas.openxmlformats.org/officeDocument/2006/relationships/slide" Target="slides/slide28.xml"/><Relationship Id="rId58" Type="http://schemas.openxmlformats.org/officeDocument/2006/relationships/slide" Target="slides/slide29.xml"/><Relationship Id="rId59" Type="http://schemas.openxmlformats.org/officeDocument/2006/relationships/slide" Target="slides/slide30.xml"/><Relationship Id="rId60" Type="http://schemas.openxmlformats.org/officeDocument/2006/relationships/slide" Target="slides/slide31.xml"/><Relationship Id="rId61" Type="http://schemas.openxmlformats.org/officeDocument/2006/relationships/slide" Target="slides/slide32.xml"/><Relationship Id="rId63" Type="http://schemas.openxmlformats.org/officeDocument/2006/relationships/slide" Target="slides/slide33.xml"/><Relationship Id="rId67" Type="http://schemas.openxmlformats.org/officeDocument/2006/relationships/slide" Target="slides/slide34.xml"/><Relationship Id="rId68" Type="http://schemas.openxmlformats.org/officeDocument/2006/relationships/slide" Target="slides/slide35.xml"/><Relationship Id="rId69" Type="http://schemas.openxmlformats.org/officeDocument/2006/relationships/slide" Target="slides/slide36.xml"/><Relationship Id="rId70" Type="http://schemas.openxmlformats.org/officeDocument/2006/relationships/slide" Target="slides/slide37.xml"/><Relationship Id="rId71" Type="http://schemas.openxmlformats.org/officeDocument/2006/relationships/slide" Target="slides/slide40.xml"/><Relationship Id="rId73" Type="http://schemas.openxmlformats.org/officeDocument/2006/relationships/slide" Target="slides/slide41.xml"/><Relationship Id="rId75" Type="http://schemas.openxmlformats.org/officeDocument/2006/relationships/slide" Target="slides/slide42.xml"/><Relationship Id="rId77" Type="http://schemas.openxmlformats.org/officeDocument/2006/relationships/slide" Target="slides/slide43.xml"/><Relationship Id="rId78" Type="http://schemas.openxmlformats.org/officeDocument/2006/relationships/slide" Target="slides/slide39.xml"/><Relationship Id="rId79" Type="http://schemas.openxmlformats.org/officeDocument/2006/relationships/slide" Target="slides/slide44.xml"/><Relationship Id="rId80" Type="http://schemas.openxmlformats.org/officeDocument/2006/relationships/slide" Target="slides/slide45.xml"/><Relationship Id="rId81" Type="http://schemas.openxmlformats.org/officeDocument/2006/relationships/slide" Target="slides/slide38.xml"/><Relationship Id="rId82" Type="http://schemas.openxmlformats.org/officeDocument/2006/relationships/slide" Target="slides/slide46.xml"/><Relationship Id="rId83" Type="http://schemas.openxmlformats.org/officeDocument/2006/relationships/slide" Target="slides/slide47.xml"/><Relationship Id="rId84" Type="http://schemas.openxmlformats.org/officeDocument/2006/relationships/slide" Target="slides/slide48.xml"/><Relationship Id="rId86" Type="http://schemas.openxmlformats.org/officeDocument/2006/relationships/slide" Target="slides/slide49.xml"/><Relationship Id="rId87" Type="http://schemas.openxmlformats.org/officeDocument/2006/relationships/slide" Target="slides/slide50.xml"/><Relationship Id="rId88" Type="http://schemas.openxmlformats.org/officeDocument/2006/relationships/slide" Target="slides/slide51.xml"/><Relationship Id="rId89" Type="http://schemas.openxmlformats.org/officeDocument/2006/relationships/slide" Target="slides/slide52.xml"/><Relationship Id="rId90" Type="http://schemas.openxmlformats.org/officeDocument/2006/relationships/slide" Target="slides/slide53.xml"/><Relationship Id="rId91" Type="http://schemas.openxmlformats.org/officeDocument/2006/relationships/slide" Target="slides/slide54.xml"/><Relationship Id="rId92" Type="http://schemas.openxmlformats.org/officeDocument/2006/relationships/slide" Target="slides/slide55.xml"/><Relationship Id="rId93" Type="http://schemas.openxmlformats.org/officeDocument/2006/relationships/slide" Target="slides/slide56.xml"/><Relationship Id="rId94" Type="http://schemas.openxmlformats.org/officeDocument/2006/relationships/slide" Target="slides/slide57.xml"/><Relationship Id="rId95" Type="http://schemas.openxmlformats.org/officeDocument/2006/relationships/slide" Target="slides/slide58.xml"/><Relationship Id="rId96" Type="http://schemas.openxmlformats.org/officeDocument/2006/relationships/slide" Target="slides/slide59.xml"/><Relationship Id="rId97" Type="http://schemas.openxmlformats.org/officeDocument/2006/relationships/slide" Target="slides/slide60.xml"/><Relationship Id="rId98" Type="http://schemas.openxmlformats.org/officeDocument/2006/relationships/slide" Target="slides/slide61.xml"/><Relationship Id="rId99" Type="http://schemas.openxmlformats.org/officeDocument/2006/relationships/slide" Target="slides/slide62.xml"/><Relationship Id="rId100" Type="http://schemas.openxmlformats.org/officeDocument/2006/relationships/slide" Target="slides/slide63.xml"/><Relationship Id="rId101" Type="http://schemas.openxmlformats.org/officeDocument/2006/relationships/slide" Target="slides/slide64.xml"/><Relationship Id="rId102" Type="http://schemas.openxmlformats.org/officeDocument/2006/relationships/slide" Target="slides/slide65.xml"/><Relationship Id="rId103" Type="http://schemas.openxmlformats.org/officeDocument/2006/relationships/slide" Target="slides/slide66.xml"/><Relationship Id="rId104" Type="http://schemas.openxmlformats.org/officeDocument/2006/relationships/slide" Target="slides/slide67.xml"/><Relationship Id="rId105" Type="http://schemas.openxmlformats.org/officeDocument/2006/relationships/slide" Target="slides/slide68.xml"/><Relationship Id="rId106" Type="http://schemas.openxmlformats.org/officeDocument/2006/relationships/slide" Target="slides/slide69.xml"/><Relationship Id="rId107" Type="http://schemas.openxmlformats.org/officeDocument/2006/relationships/slide" Target="slides/slide70.xml"/><Relationship Id="rId108" Type="http://schemas.openxmlformats.org/officeDocument/2006/relationships/slide" Target="slides/slide71.xml"/><Relationship Id="rId109" Type="http://schemas.openxmlformats.org/officeDocument/2006/relationships/slide" Target="slides/slide72.xml"/><Relationship Id="rId110" Type="http://schemas.openxmlformats.org/officeDocument/2006/relationships/slide" Target="slides/slide73.xml"/><Relationship Id="rId111" Type="http://schemas.openxmlformats.org/officeDocument/2006/relationships/slide" Target="slides/slide74.xml"/><Relationship Id="rId112" Type="http://schemas.openxmlformats.org/officeDocument/2006/relationships/slide" Target="slides/slide75.xml"/><Relationship Id="rId116" Type="http://schemas.openxmlformats.org/officeDocument/2006/relationships/slide" Target="slides/slide76.xml"/><Relationship Id="rId117" Type="http://schemas.openxmlformats.org/officeDocument/2006/relationships/slide" Target="slides/slide7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1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1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开场30秒：本次课《让机器学会判断设备是否故障》，80分钟＝2课时×40分钟。课前已发工单+starter+微课知识卡，资讯·计划线上完成。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议程页30秒：指读六个部分的分钟归属，强调'资讯计划课前已完成'；告诉学生'每次课都知道现在在哪一步、还剩多少时间'。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目录页：给学生'地图感'——翻到哪部分干什么，30秒。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过渡页：一句话点明本部分——先明确这门课'为什么学、学了去哪'。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念'课程性质'一行即可，重点指读'对接证书'与'课程衔接'，让学生知道本课与前后课程的关系（30秒）。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知识地图：先见森林后见树木。指着四条分支预告本课路线，不展开细讲（40秒）。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分支详解二：强调'技能=今天的验收口径'，评价权重即打分表。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课证赛岗对照：说明本课工单在证书/竞赛中的对应考点，30秒。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流程预告：强调'资讯·计划已在课前完成'，课堂从决策直接开始。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决策10→实施30→检查5→实施25→评价10；评价环节不压缩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PRIMM的Predict：先让学生猜，再揭晓。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课前测讲评：随机点2名学生说答案，只追问'为什么'，不展开讲；错得多的题记到'检查'环节再回收。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逐题精讲：只讲错得最多的题——其余对答案即可。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（30秒，口头讲，不必逐字念）：周一早会，运维中心大屏跳出黄色预警：3号泵站振动连续三日爬升。老周把'泵类故障诊断'立项单递给林工：'别再凭耳朵听了，教小郑用数据说话。'林工转头发来300条历史运行参数和首张工单M1.1——你的AI第一课，从让模型听懂泵的'心跳'开始。</a:t>
            </a:r>
          </a:p>
          <a:p>
            <a:r>
              <a:t>讲完抛出问题：'如果是你，第一步先干什么？'——自然过渡到决策环节。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剧情拆解：把情境页的故事拆成三要素，让学生明确'解决什么'。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目标对照页：逐维读目标，指读达标口径=评分表，目标可测可评。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知识精讲开始：每条知识对应一张大卡，讲法'先例后理'。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详解B1·ndarray同构数组：先读定义→场景为什么用它→看代码实例→扩展给A层。C/D层掌握前三格，A层加扩展格。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详解B2·向量化：先读定义→场景为什么用它→看代码实例→扩展给A层。C/D层掌握前三格，A层加扩展格。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详解B3·广播：先读定义→场景为什么用它→看代码实例→扩展给A层。C/D层掌握前三格，A层加扩展格。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详解B4·rfft频域：先读定义→场景为什么用它→看代码实例→扩展给A层。C/D层掌握前三格，A层加扩展格。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详解B5·峭度与偏度：先读定义→场景为什么用它→看代码实例→扩展给A层。C/D层掌握前三格，A层加扩展格。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详解B6·主频=谱峰位置：先读定义→场景为什么用它→看代码实例→扩展给A层。C/D层掌握前三格，A层加扩展格。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详解B7·标准化防泄漏：先读定义→场景为什么用它→看代码实例→扩展给A层。C/D层掌握前三格，A层加扩展格。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技能点＝今天'做完你应该会'，逐条对应工单步骤与评分点。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实施内容清单：本页条目与工单步骤一一对应，逐项过一遍即可，细节留到代码演示。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实施内容清单：本页条目与工单步骤一一对应，逐项过一遍即可，细节留到代码演示。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现场演示《五步模板(核心骨架)》：三步走——先整段跑通看结果，再逐行讲关键语句，最后现场改一个参数看输出变化（演10分钟的核心素材）。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现场演示《四指标一次算齐》：三步走——先整段跑通看结果，再逐行讲关键语句，最后现场改一个参数看输出变化（演10分钟的核心素材）。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进入实施：先决策、再领工单、按层执行。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决策矩阵用法（10分钟）：组内对备选方案打分→选型→把结论和理由写进工单'决策记录'栏；教师抽查2组口头说理由（决策追责）。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方案对比：三问框架通用——以后每个决策环节都用这三问。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工单发布话术：'设备智能运维中心发来工单M1.1《泵类设备故障诊断系统》，及格线是准，优秀线看A层标准'——念完发starter。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D层·学徒：跟做保底。教师或屏幕领做，做完即达标，绝不留白。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C层·操作员：基础完成。按工单步骤独立完成，卡壳先查错误速查表。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B层·组长：标准达成。全部功能+规范，完成后帮带同组D/C层。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A层·师傅：进阶拓展。完成拓展任务并准备2分钟展示；费曼式讲给D层听。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避坑清单：每条问'为什么会踩'，点名学生解释，把'注意'变成'知道为什么注意'。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错误速查：现场演示第一条——制造「准确率忽高忽低」，带着学生按'现象→原因→解决'三步排查。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四层总览：一页看全四层目标与达标线——学生选层前先看全局。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核对清单：把工单步骤变成checklist，做完勾选——防漏做。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最后一查：五项90秒自查——退回率最低的五个点。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收尾5分钟检查+10分钟评价。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三层质检组织：自查明细→同伴互查（签字）→教师抽查2组；查出的缺陷当场修，修不完记入课后任务。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提交强调：文件命名'学号_姓名_工单号.zip'，24小时内教师在平台反馈评分。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课后任务逐条念，说明下次课的衔接关系；预告下次课前微课与导学单。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素养页：结合本课内容点一个真实案例（如数据脱敏、代码抄袭后果），30秒即可。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提醒：运行截图/实拍照片贴到工单过程记录栏，作为过程性考核证据。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评分细则：四级量表逐行读——学生知道自己'到哪条线得多少分'。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FAQ三题：覆盖装包/启动/规范三大高频问题——贴在工单背面。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资源导航：五级求助顺序=工单→starter→指南→notebook→教师。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部分小结：评价收束。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拓展部分：A层必看，B层选看，C/D层课后看——差异化作业。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产业案例：讲一个真实岗位场景，把课堂技能挂到职业坐标系。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思政页：结合本课内容点一个真实案例，30秒即可，不贴标签。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学习策略：四个方法贯穿全学期——第一周讲透，以后每周复用。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进阶路线：把一门课放进三年坐标系——学完这周能走到哪。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达标预期：四层的预期比例——D层100%保底是底线承诺。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预习清单：三项任务5-15分钟——闭环从课前开始。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口袋书：三条概念卡——期末汇总成全册，学生自查工具。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好差对比：两份同功能输出对比——规范分不是白给的。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图谱回顾：回到开课的地图——现在每条分支都走过了。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场景应对：四种状态四种动作——课堂自主运转的说明书。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微课资源：四个自学入口——补弱看微课，拓强看多解法。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答辩预演：每周2分钟练一环——期末不慌。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实录清单：过程性考核的取证清单——学生自查，教师抽查。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多解法页：同一工单三种深度——层不同，解法不同，都算对。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自测答案：逐题讲'为什么'——错题定位到知识卡编号。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一图流总结：五句话收束全天——知识/技能/交付/习惯/明日。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下课提醒：关机→椅归位→带走工单；教师课后24h内完成反馈。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下次课预告：布置课前微课知识卡与导学单，形成学习闭环。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0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1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2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3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4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5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6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8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9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0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1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2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3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4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5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6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8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9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3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AI应用基础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让机器学会判断设备是否故障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第四周 · 第1次课（2课时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 ·  理实一体  ·  配套：分层工单+starter  ·  本课主用：Jupyter（实训/演示）+ PyCharm CE（编码）+ Git/GitHub（每周提交）</a:t>
            </a:r>
          </a:p>
        </p:txBody>
      </p:sp>
      <p:pic>
        <p:nvPicPr>
          <p:cNvPr id="7" name="Picture 6" descr="W4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本次课议程（六部分 · 80分钟）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80000" y="200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课程定位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课前已读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8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性质·岗位·证书：为什么学这门课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90000" y="2000000"/>
            <a:ext cx="39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课堂流程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约2′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9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80分钟时间盒与ABCD分层节奏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8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目标与资讯·情境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约5′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8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带着目标进课堂+两江智造本课剧情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7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7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7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9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知识精讲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9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基础知识大卡+代码演示（先例后理）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8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任务实施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六步法核心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8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工单发布·分层执行·避坑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7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7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7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9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检查与评价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9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三层质检·当堂评分·课后任务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0000" y="6350000"/>
            <a:ext cx="10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资讯·计划已于课前线上完成——课堂从决策/演示直接开始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 / 77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本课目录（结构速览）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①课程定位：定位/知识地图/课证赛岗——为什么学这门课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②课堂流程：80分钟时间盒/分层节奏——今天怎么安排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③目标与情境：三维目标/剧情拆解/随堂自测——学什么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④知识精讲：知识卡×应用×深化×代码走读——怎么教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⑤任务实施：工单/四层任务/避坑/核对清单——怎么做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0000" y="55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00000" y="54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⑥检查评价+⑦拓展：质检/评分/工具箱/一图流——怎么收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77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01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课程定位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本课在课程体系中的位置（课程标准摘录）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77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课程定位：AI应用基础（课程标准摘录）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26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6000" y="1880000"/>
            <a:ext cx="2652500" cy="5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6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课程性质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6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专业核心能力进阶课：无代码体验→轻代码实现→工业级应用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8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88500" y="1880000"/>
            <a:ext cx="2652500" cy="56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8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面向岗位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8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AI应用工程师、工业视觉开发、工业互联网数据分析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51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51000" y="1880000"/>
            <a:ext cx="2652500" cy="56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51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对接证书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81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AI应用实践（中级）、工业互联网平台运维、计算机视觉工程师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13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13500" y="1880000"/>
            <a:ext cx="2652500" cy="5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13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课程衔接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43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前：无Python先修（零基础入门） → 本课(第4-11周，与Python基础并行) → 后：项目实战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77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本课知识图谱（先见森林，再见树木）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让机器学会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判断设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5条分支导览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基础知识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监督学习：从带标签历史数据学习“特征→类别”映射 · 分类vs回归：离散类别vs连续数值；故障三态判别属分类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继续夯实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逻辑回归：线性边界+sigmoid概率，可解释强、速度快的基线模型 · 决策树：if-else树状切分，可读性最好，易过拟合需限深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用NumPy读写CSV并切分X/y · 调用sklearn三分类器并fit/predict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分层任务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D跟做保底 · C基础完成 · B标准达成 · A进阶拓展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400000" y="3350000"/>
            <a:ext cx="1050000" cy="237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3500000" y="533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500000" y="533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60000" y="555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课堂评价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40000" y="542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功能40% · 技术25% · 规范20% · 素养15%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77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知识地图分支详解（二）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技能线：用NumPy读写CSV并切分X/y；调用sklearn三分类器并fit/predict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分层任务线：D跟做→C独立→B帮带→A拓展（每4周动态升降）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课堂评价线：功能40%+技术25%+规范20%+素养15%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三条线闭环：技能靠任务练，任务按评价收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77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岗课赛证对照（本课坐标）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设备智能运维中心：AI应用工程师、工业视觉开发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M1.1《泵类设备故障诊断系统》——本课工单即考核单元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1+X AI应用实践（初级=M1-M3/中级=M4）——本课工单即考点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赛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世界职业院校技能大赛（人工智能赛道）数据采集/处理赛项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77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02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课堂流程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80分钟时间盒与个人节奏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77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本次课流程（80分钟时间盒）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0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190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0000" y="200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资讯·计划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00000" y="200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课前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00000" y="200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线上导学单+预习自测（已完成的打√）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0000" y="269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0000" y="269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0000" y="279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决策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00000" y="279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00000" y="279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备选方案对比 → 决策矩阵打分 → 结论公示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000" y="348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000" y="348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0000" y="358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00000" y="358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30min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00000" y="358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骨架贯通：体验→应用，完成工单核心功能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0000" y="427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0000" y="427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000" y="437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检查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00000" y="437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5min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00000" y="437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三层质检：自检—互检—师查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0000" y="506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0000" y="506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0000" y="516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00000" y="516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25min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00000" y="516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优化迭代：冲优秀标准/拓展任务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0000" y="585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0000" y="585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0000" y="595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评价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00000" y="595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00000" y="595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D/C/B/A量表评分 + 课后任务布置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1234440"/>
            <a:ext cx="10000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每课时40分钟 · 共80分钟（六步法课堂化）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77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03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目标与资讯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带着目标进课堂（Predict·预测）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11 / 77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知识目标：怎么学·怎么证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目标：理解监督学习、分类与回归的基本概念；掌握逻辑回归、决策树、随机森林的原理与适用场景；理解准确率、精确率、召回率、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怎么学：知识卡先例后理→快查核对→应用页回到产线场景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怎么证：课前quiz+随堂自测+工单'技术质量25%'项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达标线：能复述定义+能说出产线例子=过关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12 / 77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能力目标：怎么练·怎么证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目标：能够使用scikit-learn加载预训练模型并对新的故障数据进行预测；能够计算并解读模型评估指标；能够用OOP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怎么练：starter跟做（D）→独立完成（C）→规范+帮带（B）→拓展（A）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怎么证：工单'功能40%'全项+运行截图贴过程记录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达标线：代码能跑+输出符合工单样例=过关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13 / 77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素质目标：怎么养·怎么证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目标：树立数据驱动的工程决策意识，理解AI技术在设备健康管理（PHM）中的岗位价值，培养“工业互联网现场工程师”的职业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怎么养：规范命名/及时提交/报错必究——每个工单都在练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怎么证：Git提交历史（每周≥1次）+工单'素养15%'项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达标线：提交记录连续+命名规范=过关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14 / 77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课前资讯回顾（六步之“资讯·计划”）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100000"/>
            <a:ext cx="10600000" cy="17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100000"/>
            <a:ext cx="120000" cy="1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280000"/>
            <a:ext cx="100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预习快问：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010328"/>
                </a:solidFill>
                <a:latin typeface="微软雅黑"/>
              </a:rPr>
              <a:t>监督学习中"分类"与"回归"的区别是什么？漏报更影响精确率还是召回率？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4100000"/>
            <a:ext cx="106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课前检查：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导学单+预习自测已完成；data/数据已就位、starter可运行（--check环境OK）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15 / 77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课前测逐题精讲（错得最多的那道）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题目：监督学习中"分类"与"回归"的区别是什么？漏报更影响精确率还是召回率？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正确思路：从'考哪个知识卡'入手——先定位再作答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常见错误：背概念不看场景；看到代码就慌，先读注释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本课回收：这道题的考点会在知识卡X和随堂自测中再次出现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16 / 77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周一早会，运维中心大屏跳出黄色预警：3号泵站振动连续三日爬升。老周把'泵类故障诊断'立项单递给林工：'别再凭耳朵听了，教小郑用数据说话。'林工转头发来300条历史运行参数和首张工单M1.1——你的AI第一课，从让模型听懂泵的'心跳'开始。</a:t>
            </a:r>
          </a:p>
        </p:txBody>
      </p:sp>
      <p:pic>
        <p:nvPicPr>
          <p:cNvPr id="9" name="Picture 8" descr="W4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17 / 77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剧情拆解：任务 → 冲突 → 你的决策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任务背景：周一早会，运维中心大屏跳出黄色预警：3号泵站振动连续三日爬升。老周把'泵类故障诊断'立项单递给林工：'别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冲突点：产线数据量大/格式杂/时限紧——手工做不完，必须编程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决策点：先做什么再做什么？数据从哪来？输出给谁看？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带着这三个问题进入知识精讲——每个知识点都是解药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18 / 77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三维目标 → 怎么算达标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知识目标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理解监督学习、分类与回归的基本概念；掌握逻辑回归、决策树、随机森林的原理与适用场景；理解准确率、精确率、召回率、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能力目标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能够使用scikit-learn加载预训练模型并对新的故障数据进行预测；能够计算并解读模型评估指标；能够用OOP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素质目标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树立数据驱动的工程决策意识，理解AI技术在设备健康管理（PHM）中的岗位价值，培养“工业互联网现场工程师”的职业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达标口径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对应工单M1.1评分：功能40%+技术25%+规范20%+素养15%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19 / 77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04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知识精讲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基础知识 → 详解 → 技能 → 代码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20 / 77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知识详解：ndarray同构数组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B01 · ndarray同构数组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ndarray=同规格集装箱阵列：同类型/shape量形状/dtype标材质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向量化计算的地基——30维特征的容器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X = np.array([[78.5, 4.2, …], …]); X.shape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误区：往ndarray塞混合类型——异构先用Pandas再取.values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21 / 77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知识详解：向量化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B02 · 向量化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向量化=整箱叉车vs逐件搬砖：底层C一次处理整块内存快10-100倍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3000行特征提取&lt;100ms的验收指标靠它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(X - X.mean(axis=0)) / X.std(axis=0) 整列标准化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误区：以为for循环只是慢一点——数据量大时是分钟vs毫秒的量级差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22 / 77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知识详解：广播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B03 · 广播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广播=小矩阵自动复印对齐：列均值(30,)摊到3000行每行相减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每个样本减同一均值——一行代码全样本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X - X.mean(axis=0) 形状(3000,30)-(30,)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误区：维度不匹配想当然——从右往左对齐，缺的补1，不匹配报错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23 / 77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知识详解：rfft频域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B04 · rfft频域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rfft=声音拆音叉：时序信号拆成正弦成分——频域找主频指纹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振动信号找主频——频域指纹识别故障模式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spec = np.abs(np.fft.rfft(x)); 幅值×2/n补偿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误区：fft结果直接用——复数要取abs才是幅值，忘×2/n小一半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24 / 77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知识详解：峭度与偏度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B05 · 峭度与偏度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峭度=冲击探测器(尖峰多则大)；偏度=歪斜度(拖尾朝哪边)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无需标注的无监督健康指标——轴承点蚀高峭度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from scipy.stats import kurtosis; kurtosis(x)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误区：峭度&gt;3才有冲击成分——正态分布基准是3不是0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25 / 77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知识详解：主频=谱峰位置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B06 · 主频=谱峰位置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主频=频谱最高峰的位置——设备的'嗓音音调'，故障会变调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不同故障对应不同特征频率——频域诊断的钥匙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spec.argmax()取谱峰下标×频率分辨率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误区：只看最高峰——谐波峰也可能异常，二倍频常是松动信号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26 / 77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知识详解：标准化防泄漏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B07 · 标准化防泄漏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scaler只fit训练集=考官先定评分标准，考生(测试集)只准用同标准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数据泄漏是模型虚高的头号元凶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scaler.fit(X_train); X_test_s = scaler.transform(X_test)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误区：fit在测试集上=偷看答案——线上线下不一致的根源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27 / 77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技能点：做完你应该会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0000" y="200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205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50000" y="206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用NumPy读写CSV并切分X/y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93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0000" y="313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0000" y="318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50000" y="319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调用sklearn三分类器并fit/predict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06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0000" y="426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0000" y="431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50000" y="432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计算并解读四项评估指标(宏平均)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19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0000" y="539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0000" y="544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50000" y="545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按决策矩阵选择交付模型并说明理由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28 / 77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评估指标公式卡（贴在显示器上）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4900000" cy="165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4900000" cy="54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0000" y="1910000"/>
            <a:ext cx="4600000" cy="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准确率 Accuracy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0000" y="2470000"/>
            <a:ext cx="46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5670F"/>
                </a:solidFill>
                <a:latin typeface="微软雅黑"/>
              </a:rPr>
              <a:t>对的 / 全部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0000" y="3000000"/>
            <a:ext cx="4600000" cy="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44546A"/>
                </a:solidFill>
                <a:latin typeface="微软雅黑"/>
              </a:rPr>
              <a:t>总体把握, 不均衡时会骗人</a:t>
            </a:r>
          </a:p>
        </p:txBody>
      </p:sp>
      <p:sp>
        <p:nvSpPr>
          <p:cNvPr id="10" name="Rectangle 9"/>
          <p:cNvSpPr/>
          <p:nvPr/>
        </p:nvSpPr>
        <p:spPr>
          <a:xfrm>
            <a:off x="5760000" y="1850000"/>
            <a:ext cx="4900000" cy="165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760000" y="1850000"/>
            <a:ext cx="4900000" cy="54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10000" y="1910000"/>
            <a:ext cx="4600000" cy="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精确率 Precision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10000" y="2470000"/>
            <a:ext cx="4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5670F"/>
                </a:solidFill>
                <a:latin typeface="微软雅黑"/>
              </a:rPr>
              <a:t>报的真 / 全部报的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10000" y="3000000"/>
            <a:ext cx="4600000" cy="45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44546A"/>
                </a:solidFill>
                <a:latin typeface="微软雅黑"/>
              </a:rPr>
              <a:t>误报成本高时看它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3700000"/>
            <a:ext cx="4900000" cy="165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3700000"/>
            <a:ext cx="4900000" cy="54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0000" y="3760000"/>
            <a:ext cx="4600000" cy="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召回率 Recall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0000" y="4320000"/>
            <a:ext cx="4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5670F"/>
                </a:solidFill>
                <a:latin typeface="微软雅黑"/>
              </a:rPr>
              <a:t>抓到的真 / 全部真的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0000" y="4850000"/>
            <a:ext cx="4600000" cy="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44546A"/>
                </a:solidFill>
                <a:latin typeface="微软雅黑"/>
              </a:rPr>
              <a:t>漏报(漏检)代价高时看它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60000" y="3700000"/>
            <a:ext cx="4900000" cy="165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760000" y="3700000"/>
            <a:ext cx="4900000" cy="54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10000" y="3760000"/>
            <a:ext cx="4600000" cy="45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F1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10000" y="4320000"/>
            <a:ext cx="4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5670F"/>
                </a:solidFill>
                <a:latin typeface="微软雅黑"/>
              </a:rPr>
              <a:t>2PR / (P+R)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10000" y="4850000"/>
            <a:ext cx="4600000" cy="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44546A"/>
                </a:solidFill>
                <a:latin typeface="微软雅黑"/>
              </a:rPr>
              <a:t>精确与召回的调和平均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29 / 77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让机器学会判断设备是否故障（1）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机器学习与工业AI认知：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监督学习、分类与回归的基本概念与适用场景；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逻辑回归、决策树、随机森林三类分类算法的原理直观对比；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模型评估指标：准确率、精确率、召回率、F1值的含义与计算；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工业故障诊断业务逻辑：数据→特征→模型→决策的完整链条。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30 / 77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让机器学会判断设备是否故障（2）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演示与工单项目M1.1实验：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演示3个分类模型在泵类设备故障诊断中的实际应用与优缺点对比；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使用scikit-learn加载设备运行数据（转速、温度、压力、振动）；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数据预处理与训练集/测试集划分，训练分类模型并预测新样本；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51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503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评估模型并解读各指标；知识补充：模型即对象——属性（参数）与方法（predict、score），用类封装模型与数据处理流程。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31 / 77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关键代码：五步模板(核心骨架)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from sklearn.ensemble import RandomForestClassifier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from sklearn.model_selection import train_test_split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import numpy as np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data = np.genfromtxt("data/pump_fault.csv", delimiter=",", skip_header=1)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X, y = data[:, :5], data[:, 5].astype(int)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Xtr, Xte, ytr, yte = train_test_split(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X, y, test_size=0.25, stratify=y, random_state=42)   # 分层!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model = RandomForestClassifier(n_estimators=100, random_state=42)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model.fit(Xtr, ytr)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print("准确率:", (model.predict(Xte) == yte).mean())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32 / 77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关键代码：四指标一次算齐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from sklearn.metrics import (accuracy_score, precision_score,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                         recall_score, f1_score)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p = model.predict(Xte)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print(f"准确率{accuracy_score(yte,p):.3f} 精确率{precision_score(yte,p,average='macro'):.3f}"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  f" 召回率{recall_score(yte,p,average='macro'):.3f} F1{f1_score(yte,p,average='macro'):.3f}")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33 / 77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05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任务实施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工单 · 分层 · 步骤 · 避坑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34 / 77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决策：选择交付模型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候选模型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精度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速度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0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可解释性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逻辑回归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17" name="Rectangle 16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19" name="Rectangle 18"/>
          <p:cNvSpPr/>
          <p:nvPr/>
        </p:nvSpPr>
        <p:spPr>
          <a:xfrm>
            <a:off x="90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21" name="Rectangle 20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决策树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25" name="Rectangle 24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27" name="Rectangle 26"/>
          <p:cNvSpPr/>
          <p:nvPr/>
        </p:nvSpPr>
        <p:spPr>
          <a:xfrm>
            <a:off x="90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29" name="Rectangle 28"/>
          <p:cNvSpPr/>
          <p:nvPr/>
        </p:nvSpPr>
        <p:spPr>
          <a:xfrm>
            <a:off x="800000" y="394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000" y="404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随机森林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33" name="Rectangle 32"/>
          <p:cNvSpPr/>
          <p:nvPr/>
        </p:nvSpPr>
        <p:spPr>
          <a:xfrm>
            <a:off x="66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35" name="Rectangle 34"/>
          <p:cNvSpPr/>
          <p:nvPr/>
        </p:nvSpPr>
        <p:spPr>
          <a:xfrm>
            <a:off x="90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0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0000" y="468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决策结论写入工单，答辩必答；实施失误回溯决策复盘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35 / 77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决策怎么下：方案对比三问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本课决策题：决策：选择交付模型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问①可行吗——每个方案的实现路径走得通吗（技术风险）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问②值吗——开发时间/运行速度/可维护性三角权衡（工程账）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问③谁拍板——组内数据说话，理由写进工单（决策追责制）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规则：没有记录的决策=没有决策——写下来才算数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36 / 77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实施任务：工单M1.1《泵类设备故障诊断系统》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NumPy加载pump_fault.csv并分层划分(75%/25%)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训练三个分类器并计算四项指标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填写决策矩阵确定交付模型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4. 预测2个新样本并输出对照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准确率≥0.75；能口述四项指标含义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≥0.85；三模型对比表+决策矩阵规范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37 / 77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先看终点（本课目标预览）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参考实现真实运行输出（本课工单·完成态）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模型         准确     精确     召回     F1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逻辑回归    0.965  0.965  0.965  0.964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决策树     0.973  0.973  0.973  0.973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随机森林    0.982  0.984  0.982  0.983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决策矩阵结论: 随机森林精度最优且可给出特征重要度, 选为交付模型;逻辑回归可作为产线侧轻量基线。最终: ('随机森林', 0…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四级达标线（当堂评分）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D·学徒 ≥60 跟做完成核心步骤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C·操作员 ≥70 基础功能完成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B·组长 ≥80 全功能+规范+帮带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关键自检点（对照工单逐项核对）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代码从头跑到尾不报错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输出格式符合工单样例（对齐/单位/小数位）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文件名 学号_姓名_工单号.py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提交规范（过程性证据）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运行截图贴工单过程记录栏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Git 本次课≥1条 commit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互查签字后提交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38 / 77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本工单的工程化项目 · 第三种代码形态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项目位置与一键运行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工程化项目/m11_fault_diag/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python run.py          # 输出 output/report.txt + result.json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python -m pytest -q    # 全量测试应全绿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国标与 TOGAF 落地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GB/T 9385 需求规格 / 15532 测试 / 8567 文档 / 8566 过程组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TOGAF 四域：业务 · 数据 · 应用 · 技术架构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docs/07 ADR-001 架构决策记录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目录结构（23 个文件）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config/rules.yaml      规则外置：改配置不改代码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src/fault_diag/  config · core · io_utils · report · pipeline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tests/      正常 / 边界 / 异常三档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验收口径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pytest 全绿；run.py 产出报告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改配置不改代码；二次运行结果一致（种子固定）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8 份过程文档齐全 → 可直接构成答辩材料链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39 / 77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D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学徒 · 跟做保底层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跑通模型调用五步模板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运行starter示例单元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把模型换成决策树再跑一次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记录两轮准确率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445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程序出结果+口述指标含义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40 / 77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C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操作员 · 基础完成层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完成单模型基线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加载CSV并划分数据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训练随机森林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计算准确率与F1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准确率≥0.75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41 / 77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B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组长 · 标准达成层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完成三分类器训练与评估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加载pump_fault.csv并分层划分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训练LR/DT/RF三模型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输出四指标对照表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FDF0E6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准确率≥0.80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42 / 77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A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师傅 · 进阶拓展层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三模型对比+决策矩阵+错误样本分析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三模型同台对比并记录指标表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选2个错判样本分析共性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填写决策矩阵并准备1分钟讲解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98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准确率≥0.85且决策答辩流畅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>
                <a:solidFill>
                  <a:srgbClr val="44546A"/>
                </a:solidFill>
                <a:latin typeface="微软雅黑"/>
              </a:rPr>
              <a:t>(A层加码: 对比三模型在同一错误样本上的表现，找出难分样本共性并写改进假设)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43 / 77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实施步骤与注意事项（做）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1850000"/>
            <a:ext cx="6300000" cy="41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0000" y="1980000"/>
            <a:ext cx="59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545E8"/>
                </a:solidFill>
                <a:latin typeface="微软雅黑"/>
              </a:rPr>
              <a:t>实施步骤</a:t>
            </a:r>
          </a:p>
        </p:txBody>
      </p:sp>
      <p:sp>
        <p:nvSpPr>
          <p:cNvPr id="7" name="Rectangle 6"/>
          <p:cNvSpPr/>
          <p:nvPr/>
        </p:nvSpPr>
        <p:spPr>
          <a:xfrm>
            <a:off x="920000" y="266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0000" y="268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0000" y="260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NumPy加载pump_fault.csv并分层划分(75%/25%)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0000" y="319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0000" y="321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0000" y="313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训练三个分类器并计算四项指标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0000" y="352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0000" y="354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0000" y="346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填写决策矩阵确定交付模型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20000" y="385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0000" y="387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20000" y="379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预测2个新样本并输出对照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50000" y="1850000"/>
            <a:ext cx="4300000" cy="410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550000" y="1980000"/>
            <a:ext cx="395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5670F"/>
                </a:solidFill>
                <a:latin typeface="微软雅黑"/>
              </a:rPr>
              <a:t>⚠ 注意事项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50000" y="2600000"/>
            <a:ext cx="3950000" cy="3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train_test_split必须加stratify=y保持三类比例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固定random_state=42保证结果可复现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先看类别分布再谈指标，不均衡时准确率会骗人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44 / 77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常见错误速查（避坑清单）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19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准确率忽高忽低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50000" y="19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未固定random_state/未分层划分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00000" y="19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加random_state=42与stratify=y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0000" y="31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0000" y="31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000" y="32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漏检轴承磨损严重但指标尚可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50000" y="32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只看了准确率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0000" y="32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漏报代价高→重点核查召回率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44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44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0000" y="45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predict报维度错误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0000" y="45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训练时X含标签列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00000" y="45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切X=data[:,:5]勿带第6列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45 / 77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ABCD四层任务总览（先看全貌再领任务）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D·学徒（≥60）：跑通模型调用五步模板——跟做保底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C·操作员（≥70）：完成单模型基线——基础完成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B·组长（≥80）：完成三分类器训练与评估——标准达成+帮带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A·师傅（≥90）：三模型对比+决策矩阵+错误样本分析——进阶拓展+费曼讲解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51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50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规则：每人按工单勾选自己的层；每4周按达标情况动态升降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46 / 77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操作核对清单（做完一条勾一条）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步骤1：NumPy加载pump_fault.csv并分层划分(75%/25%)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步骤2：训练三个分类器并计算四项指标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步骤3：填写决策矩阵确定交付模型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步骤4：预测2个新样本并输出对照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51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50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全部勾完→同桌互查签字→提交工单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47 / 77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提交前最后一查（90秒）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代码能从头跑到尾不报错（python xx.py再跑一遍）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输出格式符合工单样例（对齐/单位/小数位）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文件命名：学号_姓名_工单号.py（不对=扣规范分）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运行截图已贴工单过程记录栏（过程性证据）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conda环境正确（提示符显示(ai01）再运行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48 / 77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06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检查与评价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三层质检 · 评分 · 课后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49 / 77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过程检查（三层质检）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1  自检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对照工单checklist逐项自查并截图留证</a:t>
            </a:r>
          </a:p>
        </p:txBody>
      </p:sp>
      <p:sp>
        <p:nvSpPr>
          <p:cNvPr id="8" name="Rectangle 7"/>
          <p:cNvSpPr/>
          <p:nvPr/>
        </p:nvSpPr>
        <p:spPr>
          <a:xfrm>
            <a:off x="425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5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2  互检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5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组间交换检查，互检表记录问题≥1条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3  师查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教师抽查复核，重点盯D层完成度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0000" y="5200000"/>
            <a:ext cx="10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复盘追问：如果当初选另一个方案，结果会怎样？（决策追责）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50 / 77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提交物与评分（工单M1.1）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38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提交清单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程序/notebook（含运行输出）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分层工单纸件（勾层+自评）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决策矩阵照片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4. 过程记录/避坑笔记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命名: 学号_姓名_M1.1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0" y="1800000"/>
            <a:ext cx="5300000" cy="38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5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评分构成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功能完成 40%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技术质量 25%（指标达标）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代码规范 20%（PEP 8）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工程素养 15%（留痕/协作）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50" b="1">
                <a:solidFill>
                  <a:srgbClr val="44546A"/>
                </a:solidFill>
                <a:latin typeface="微软雅黑"/>
              </a:rPr>
              <a:t>D≥60 / C≥70 / B≥80 / A≥90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51 / 77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总结评价与课后任务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10600000" cy="15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050000"/>
            <a:ext cx="103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评价（10分钟）：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按D/C/B/A量表当堂评分；工单24小时内反馈评语与改进建议。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000" y="370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1.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1. 完成工单项目M1.1《泵类设备故障诊断系统》：模型准确率≥0.75，能清晰说明各评估指标的含义；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000" y="442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2.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2. 撰写实验记录：记录三个分类模型在同一数据集上的指标对比表；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000" y="514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3.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3. 预习特征工程相关内容（数据归一化、标准化）。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000" y="5960000"/>
            <a:ext cx="10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475B6"/>
                </a:solidFill>
                <a:latin typeface="微软雅黑"/>
              </a:rPr>
              <a:t>下次课预告：</a:t>
            </a:r>
            <a:r>
              <a:rPr sz="1300" b="0">
                <a:solidFill>
                  <a:srgbClr val="44546A"/>
                </a:solidFill>
                <a:latin typeface="微软雅黑"/>
              </a:rPr>
              <a:t>见下次课工单任务书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52 / 77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素养目标（课程思政融入点）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0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责任感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206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模型可解释与数据伦理：不迷信黑盒, 尊重隐私与合规红线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18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18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48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34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工程化思维：从模型精度到系统可用, 版本可管理、结果可复现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46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46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76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数据伦理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62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持续学习：追踪大模型前沿, 用工单沉淀个人知识资产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53 / 77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完成后长这样（真实运行 · 参考实现） · 课末对照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参考实现真实运行输出（本课工单·完成态）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模型         准确     精确     召回     F1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逻辑回归    0.965  0.965  0.965  0.964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决策树     0.973  0.973  0.973  0.973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随机森林    0.982  0.984  0.982  0.983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决策矩阵结论: 随机森林精度最优且可给出特征重要度, 选为交付模型;逻辑回归可作为产线侧轻量基线。最终: ('随机森林', 0…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四级达标线（当堂评分）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D·学徒 ≥60 跟做完成核心步骤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C·操作员 ≥70 基础功能完成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B·组长 ≥80 全功能+规范+帮带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关键自检点（对照工单逐项核对）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代码从头跑到尾不报错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输出格式符合工单样例（对齐/单位/小数位）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文件名 学号_姓名_工单号.py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提交规范（过程性证据）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运行截图贴工单过程记录栏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Git 本次课≥1条 commit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互查签字后提交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54 / 77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工单评分细则（四级量表）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等级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达标线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对应要求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A·师傅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≥90分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进阶拓展完成+2分钟费曼展示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B·组长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≥80分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全功能+代码规范+帮带D/C层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0000" y="394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000" y="404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C·操作员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≥70分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基础功能完成+错误速查自查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000" y="456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000" y="466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D·学徒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≥60分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跟做完成核心步骤+达标自评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530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功能40%+技术质量25%+代码规范20%+工程素养15%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55 / 77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高频FAQ（先自查再举手）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28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9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torch安装失败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用--index-url cpu官方源；确认在ai48环境里装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28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280000"/>
            <a:ext cx="2000000" cy="12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72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模型指标波动大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40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设random_state=42；数据先shuffle再划分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71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710000"/>
            <a:ext cx="2000000" cy="128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515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ONNX推理结果不一致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83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对齐预处理（同一scaler/归一化参数）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56 / 77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资源导航（卡住时按顺序查）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82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06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M1.1任务书——步骤/及格线/评分细则都在里面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82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2820000"/>
            <a:ext cx="2000000" cy="8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03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starter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294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学生代码框架/——TODO注释即步骤提示，未填也能跑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379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3790000"/>
            <a:ext cx="2000000" cy="8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00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软件指南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391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../软件操作指南/——PyCharm/Jupyter/Git/Anaconda六份图文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476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4760000"/>
            <a:ext cx="2000000" cy="8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497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488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Jupyter实训/——本周notebook师生版，先跑教师版看答案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0000" y="573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0000" y="5730000"/>
            <a:ext cx="2000000" cy="8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0000" y="594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Git提交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00000" y="585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做完按Ctrl+K提交推送——每周至少1次，工程素养分依据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57 / 77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检查与评价 · 小结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2800000" cy="42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3300000"/>
            <a:ext cx="28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5670F"/>
                </a:solidFill>
                <a:latin typeface="微软雅黑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0000" y="4300000"/>
            <a:ext cx="28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部分小结</a:t>
            </a:r>
          </a:p>
        </p:txBody>
      </p:sp>
      <p:sp>
        <p:nvSpPr>
          <p:cNvPr id="8" name="Rectangle 7"/>
          <p:cNvSpPr/>
          <p:nvPr/>
        </p:nvSpPr>
        <p:spPr>
          <a:xfrm>
            <a:off x="3900000" y="20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80000" y="1900000"/>
            <a:ext cx="76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三层质检：自检→互查签字→教师抽查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00000" y="27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80000" y="2600000"/>
            <a:ext cx="76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评分四级量表+四权重已明确，24小时内平台反馈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00000" y="34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80000" y="3300000"/>
            <a:ext cx="76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课后任务+下次课预告形成学习闭环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58 / 77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07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拓展与自测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把今天的能力圈再画大一圈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59 / 77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产业应用案例（学这个能干什么）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真实场景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质检靠老师傅目检，漏检率高且疲劳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用什么解决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分类模型+阈值规则，先自动化易判样本，人只复核疑难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本课对应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M1.1的技能点即其最小实现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延伸方向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下一步：视觉检测（M3）/大模型辅助诊断（M4）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60 / 77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课程思政：如盐入水（30秒一个点）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报错必究——每个红色报错都是产线隐患的预演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数据诚信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指标不许造假——改数字骗过测试=产线事故的起点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协作素养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ABCD轮换履职——师傅带徒弟，贡献表如实填报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职业底线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代码抄作业=岗位上的'无证驾驶'，害人害己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61 / 77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学习策略：这门课怎么学最有效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先例后理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先跑代码看结果，再回头懂原理——PRIMM教学法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费曼技巧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A层讲给D层听——讲得清才是真懂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错题资产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每个报错记入错误速查表——期末它是你的复习宝典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提交习惯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小步提交（每完成一步就commit）——回退不求人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62 / 77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进阶路线图（从今天的课往哪走）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本周：工单核心技能→下周：组合应用→期末：综合项目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横向：本课技能在03课P项目链中的位置（工程化/全栈）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纵向：证书线——初级操作题→中级工程题（1+X/工信部）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竞赛线：校级选拔→世界职业院校技能大赛（人工智能赛道）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岗位线：跟做学徒→独立操作→带组师傅→产线负责人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63 / 77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本周各层达标预期（%）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1896000" y="2600000"/>
            <a:ext cx="1400000" cy="28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96000" y="204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100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D层·跟做保底</a:t>
            </a:r>
          </a:p>
        </p:txBody>
      </p:sp>
      <p:sp>
        <p:nvSpPr>
          <p:cNvPr id="8" name="Rectangle 7"/>
          <p:cNvSpPr/>
          <p:nvPr/>
        </p:nvSpPr>
        <p:spPr>
          <a:xfrm>
            <a:off x="3996000" y="3160000"/>
            <a:ext cx="1400000" cy="224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96000" y="260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80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C层·基础完成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0" y="3720000"/>
            <a:ext cx="1400000" cy="1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96000" y="316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60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B层·标准达成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96000" y="4560000"/>
            <a:ext cx="1400000" cy="8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96000" y="400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A层·进阶拓展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400000" y="5400000"/>
            <a:ext cx="9400000" cy="3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000" y="6100000"/>
            <a:ext cx="109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预期≠上限：动态升降制下人人可冲上一层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64 / 77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课前预习清单（下次课前完成）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微课知识卡：用NumPy读写CSV并切分X/y（5分钟视频+导学单）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Jupyter实训notebook：先跑教师版看答案，再试学生版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预习快问：下次课quiz从微课与导学单出题——带着答案来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Git推送本周工单：还没提交的课后补上（周达标率依据）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65 / 77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知识口袋书（本课概念速记）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① 监督学习：从带标签历史数据学习“特征→类别”映射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② 分类vs回归：离散类别vs连续数值；故障三态判别属分类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③ 逻辑回归：线性边界+sigmoid概率，可解释强、速度快的基线模型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用法：睡前30秒过一遍——口袋书越翻越薄，技能越练越厚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66 / 77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输出对比：好的 vs 差的（规范从第一课开始）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好的输出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表头对齐·单位齐全·小数位统一·命名规范（snake_case）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差的输出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数字裸奔无单位·列不对齐·temp1/temp2乱命名·中文引号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差多少分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同样的功能——规范20%+素养15%两项就能差出35分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为什么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车间台账要给人看——读不懂的输出=没交付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67 / 77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全课知识图谱回顾（一图收束）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让机器学会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判断设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4条分支导览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知识回顾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监督学习：从带标签历史数据学习“特征→类别”映射 · 分类vs回归：离散类别vs连续数值；故障三态判别属分类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技能回顾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用NumPy读写CSV并切分X/y · 调用sklearn三分类器并fit/predict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易错回顾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准确率忽高忽低 · 漏检轴承磨损严重但指标尚可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交付物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工单M1.1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68 / 77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常见场景应对（卡住了怎么办）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场景①代码报错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读报错最后一行→查错误速查表→还没解决举手（附截图）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场景②不知道做啥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回看操作核对清单□——第一个没勾的就是下一步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场景③做完了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90秒最后一查→Git提交→帮同组D/C层（B层职责）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场景④提前全完成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A层拓展任务→费曼准备→预习下次课微课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69 / 77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微课与自学资源（课后补弱/拓强）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微课知识卡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本周主题：用NumPy读写CSV并切分X/y——5分钟视频+导学单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数字人版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同内容数字人讲解——喜欢听的换着看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Jupyter师生版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教师版有完整答案——先看懂再独立做学生版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多解法手册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教师参考/多解法手册——同一任务三种深度解法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70 / 77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答辩预演（期末综合项目的彩排）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①30秒讲需求：这个工单解决什么问题、给谁用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②60秒讲方案：数据从哪来→怎么处理→输出什么（三段式）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③60秒讲亮点：我踩过的坑+怎么爬出来的（错误速查表就是素材）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④答辩礼仪：指着屏幕讲，不念稿；被问住就说'这个我课后验证'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从本周开始练——期末答辩=12周彩排的总和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71 / 77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课堂实录清单（过程性考核证据）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运行截图：代码+输出同框（截全不截半）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工单过程栏：步骤勾选+决策理由+自查记录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Git提交：本次课至少1条commit（message规范）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同伴签字：互查通过后签名（讲得清才算会）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四项齐全=过程分满分；缺一项课后24小时内补齐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72 / 77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多解法一瞥（同一任务的不同打法）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解法A·直白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按工单步骤顺序实现——好懂好调试，D/C层路线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解法B·工程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函数封装+异常处理——可复用，B层路线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解法C·进阶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向量化/推导式/设计模式——性能优雅，A层路线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怎么选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先让它跑起来→再让它对→最后让它快（KISS原则）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73 / 77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自测答案与讲解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课前快问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监督学习中"分类"与"回归"的区别是什么？漏报更影响精确率还是召回率？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排错题：出现「准确率忽高忽低」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原因：未固定random_state/未分层划分；解决：加random_state=42与stratify=y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复述题：用自己的话说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监督学习：从带标签历史数据学习“特征→类别”映射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错题怎么办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回看对应知识卡+应用页，再跑一遍starter验证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74 / 77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今日一图流总结（贴脑墙上）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知识：监督学习：从带标签历史数据学习“特征→类；分类vs回归：离散类别vs连续数值；故障；逻辑回归：线性边界+sigmoid概率，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技能：用NumPy读写CSV并切分X/y；调用sklearn三分类器并fit/predict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交付：工单M1.1《泵类设备故障诊断系统》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习惯：做完就Ctrl+K提交Git——每周至少1次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54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52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明日：课前微课+导学单（下次课quiz从中出题）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75 / 77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76 / 77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下次课预告（第5周）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派生≥2个物理含义明确的特征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Min-Max归一化与Z-score标准化各适用什么分布？树模型需要归一化吗？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