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0" r:id="rId74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8" r:id="rId50"/>
    <p:sldId id="300" r:id="rId52"/>
    <p:sldId id="304" r:id="rId56"/>
    <p:sldId id="306" r:id="rId58"/>
    <p:sldId id="307" r:id="rId59"/>
    <p:sldId id="308" r:id="rId60"/>
    <p:sldId id="309" r:id="rId61"/>
    <p:sldId id="311" r:id="rId63"/>
    <p:sldId id="315" r:id="rId67"/>
    <p:sldId id="316" r:id="rId68"/>
    <p:sldId id="317" r:id="rId69"/>
    <p:sldId id="318" r:id="rId70"/>
    <p:sldId id="366" r:id="rId81"/>
    <p:sldId id="367" r:id="rId78"/>
    <p:sldId id="368" r:id="rId85"/>
    <p:sldId id="369" r:id="rId76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1" r:id="rId83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4" r:id="rId116"/>
    <p:sldId id="365" r:id="rId117"/>
    <p:sldId id="371" r:id="rId72"/>
    <p:sldId id="372" r:id="rId6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8" Type="http://schemas.openxmlformats.org/officeDocument/2006/relationships/slide" Target="slides/slide20.xml"/><Relationship Id="rId40" Type="http://schemas.openxmlformats.org/officeDocument/2006/relationships/slide" Target="slides/slide21.xml"/><Relationship Id="rId42" Type="http://schemas.openxmlformats.org/officeDocument/2006/relationships/slide" Target="slides/slide22.xml"/><Relationship Id="rId44" Type="http://schemas.openxmlformats.org/officeDocument/2006/relationships/slide" Target="slides/slide23.xml"/><Relationship Id="rId46" Type="http://schemas.openxmlformats.org/officeDocument/2006/relationships/slide" Target="slides/slide24.xml"/><Relationship Id="rId48" Type="http://schemas.openxmlformats.org/officeDocument/2006/relationships/slide" Target="slides/slide25.xml"/><Relationship Id="rId50" Type="http://schemas.openxmlformats.org/officeDocument/2006/relationships/slide" Target="slides/slide26.xml"/><Relationship Id="rId52" Type="http://schemas.openxmlformats.org/officeDocument/2006/relationships/slide" Target="slides/slide27.xml"/><Relationship Id="rId56" Type="http://schemas.openxmlformats.org/officeDocument/2006/relationships/slide" Target="slides/slide28.xml"/><Relationship Id="rId58" Type="http://schemas.openxmlformats.org/officeDocument/2006/relationships/slide" Target="slides/slide29.xml"/><Relationship Id="rId59" Type="http://schemas.openxmlformats.org/officeDocument/2006/relationships/slide" Target="slides/slide30.xml"/><Relationship Id="rId60" Type="http://schemas.openxmlformats.org/officeDocument/2006/relationships/slide" Target="slides/slide31.xml"/><Relationship Id="rId61" Type="http://schemas.openxmlformats.org/officeDocument/2006/relationships/slide" Target="slides/slide32.xml"/><Relationship Id="rId63" Type="http://schemas.openxmlformats.org/officeDocument/2006/relationships/slide" Target="slides/slide33.xml"/><Relationship Id="rId66" Type="http://schemas.openxmlformats.org/officeDocument/2006/relationships/slide" Target="slides/slide82.xml"/><Relationship Id="rId67" Type="http://schemas.openxmlformats.org/officeDocument/2006/relationships/slide" Target="slides/slide34.xml"/><Relationship Id="rId68" Type="http://schemas.openxmlformats.org/officeDocument/2006/relationships/slide" Target="slides/slide35.xml"/><Relationship Id="rId69" Type="http://schemas.openxmlformats.org/officeDocument/2006/relationships/slide" Target="slides/slide36.xml"/><Relationship Id="rId70" Type="http://schemas.openxmlformats.org/officeDocument/2006/relationships/slide" Target="slides/slide37.xml"/><Relationship Id="rId71" Type="http://schemas.openxmlformats.org/officeDocument/2006/relationships/slide" Target="slides/slide42.xml"/><Relationship Id="rId72" Type="http://schemas.openxmlformats.org/officeDocument/2006/relationships/slide" Target="slides/slide81.xml"/><Relationship Id="rId73" Type="http://schemas.openxmlformats.org/officeDocument/2006/relationships/slide" Target="slides/slide43.xml"/><Relationship Id="rId74" Type="http://schemas.openxmlformats.org/officeDocument/2006/relationships/slide" Target="slides/slide80.xml"/><Relationship Id="rId75" Type="http://schemas.openxmlformats.org/officeDocument/2006/relationships/slide" Target="slides/slide44.xml"/><Relationship Id="rId76" Type="http://schemas.openxmlformats.org/officeDocument/2006/relationships/slide" Target="slides/slide41.xml"/><Relationship Id="rId77" Type="http://schemas.openxmlformats.org/officeDocument/2006/relationships/slide" Target="slides/slide45.xml"/><Relationship Id="rId78" Type="http://schemas.openxmlformats.org/officeDocument/2006/relationships/slide" Target="slides/slide39.xml"/><Relationship Id="rId79" Type="http://schemas.openxmlformats.org/officeDocument/2006/relationships/slide" Target="slides/slide46.xml"/><Relationship Id="rId80" Type="http://schemas.openxmlformats.org/officeDocument/2006/relationships/slide" Target="slides/slide47.xml"/><Relationship Id="rId81" Type="http://schemas.openxmlformats.org/officeDocument/2006/relationships/slide" Target="slides/slide38.xml"/><Relationship Id="rId82" Type="http://schemas.openxmlformats.org/officeDocument/2006/relationships/slide" Target="slides/slide48.xml"/><Relationship Id="rId83" Type="http://schemas.openxmlformats.org/officeDocument/2006/relationships/slide" Target="slides/slide49.xml"/><Relationship Id="rId84" Type="http://schemas.openxmlformats.org/officeDocument/2006/relationships/slide" Target="slides/slide50.xml"/><Relationship Id="rId85" Type="http://schemas.openxmlformats.org/officeDocument/2006/relationships/slide" Target="slides/slide4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0" Type="http://schemas.openxmlformats.org/officeDocument/2006/relationships/slide" Target="slides/slide55.xml"/><Relationship Id="rId91" Type="http://schemas.openxmlformats.org/officeDocument/2006/relationships/slide" Target="slides/slide56.xml"/><Relationship Id="rId92" Type="http://schemas.openxmlformats.org/officeDocument/2006/relationships/slide" Target="slides/slide57.xml"/><Relationship Id="rId93" Type="http://schemas.openxmlformats.org/officeDocument/2006/relationships/slide" Target="slides/slide58.xml"/><Relationship Id="rId94" Type="http://schemas.openxmlformats.org/officeDocument/2006/relationships/slide" Target="slides/slide59.xml"/><Relationship Id="rId95" Type="http://schemas.openxmlformats.org/officeDocument/2006/relationships/slide" Target="slides/slide60.xml"/><Relationship Id="rId96" Type="http://schemas.openxmlformats.org/officeDocument/2006/relationships/slide" Target="slides/slide61.xml"/><Relationship Id="rId97" Type="http://schemas.openxmlformats.org/officeDocument/2006/relationships/slide" Target="slides/slide62.xml"/><Relationship Id="rId98" Type="http://schemas.openxmlformats.org/officeDocument/2006/relationships/slide" Target="slides/slide63.xml"/><Relationship Id="rId99" Type="http://schemas.openxmlformats.org/officeDocument/2006/relationships/slide" Target="slides/slide64.xml"/><Relationship Id="rId100" Type="http://schemas.openxmlformats.org/officeDocument/2006/relationships/slide" Target="slides/slide65.xml"/><Relationship Id="rId101" Type="http://schemas.openxmlformats.org/officeDocument/2006/relationships/slide" Target="slides/slide66.xml"/><Relationship Id="rId102" Type="http://schemas.openxmlformats.org/officeDocument/2006/relationships/slide" Target="slides/slide67.xml"/><Relationship Id="rId103" Type="http://schemas.openxmlformats.org/officeDocument/2006/relationships/slide" Target="slides/slide68.xml"/><Relationship Id="rId104" Type="http://schemas.openxmlformats.org/officeDocument/2006/relationships/slide" Target="slides/slide69.xml"/><Relationship Id="rId105" Type="http://schemas.openxmlformats.org/officeDocument/2006/relationships/slide" Target="slides/slide70.xml"/><Relationship Id="rId106" Type="http://schemas.openxmlformats.org/officeDocument/2006/relationships/slide" Target="slides/slide71.xml"/><Relationship Id="rId107" Type="http://schemas.openxmlformats.org/officeDocument/2006/relationships/slide" Target="slides/slide72.xml"/><Relationship Id="rId108" Type="http://schemas.openxmlformats.org/officeDocument/2006/relationships/slide" Target="slides/slide73.xml"/><Relationship Id="rId109" Type="http://schemas.openxmlformats.org/officeDocument/2006/relationships/slide" Target="slides/slide74.xml"/><Relationship Id="rId110" Type="http://schemas.openxmlformats.org/officeDocument/2006/relationships/slide" Target="slides/slide75.xml"/><Relationship Id="rId111" Type="http://schemas.openxmlformats.org/officeDocument/2006/relationships/slide" Target="slides/slide76.xml"/><Relationship Id="rId112" Type="http://schemas.openxmlformats.org/officeDocument/2006/relationships/slide" Target="slides/slide77.xml"/><Relationship Id="rId116" Type="http://schemas.openxmlformats.org/officeDocument/2006/relationships/slide" Target="slides/slide78.xml"/><Relationship Id="rId117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开场30秒：本次课《让机器学会判断设备是否故障》，80分钟＝2课时×40分钟。课前已发工单+starter+微课知识卡，资讯·计划线上完成。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周一早会，运维中心大屏跳出黄色预警：3号泵站振动连续三日爬升。老周把'泵类故障诊断'立项单递给林工：'别再凭耳朵听了，教小郑用数据说话。'林工转头发来300条历史运行参数和首张工单M1.1——你的AI第一课，从让模型听懂泵的'心跳'开始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详解B1·ndarray同构数组：先读定义→场景为什么用它→看代码实例→扩展给A层。C/D层掌握前三格，A层加扩展格。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详解B2·向量化：先读定义→场景为什么用它→看代码实例→扩展给A层。C/D层掌握前三格，A层加扩展格。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详解B3·广播：先读定义→场景为什么用它→看代码实例→扩展给A层。C/D层掌握前三格，A层加扩展格。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详解B4·rfft频域：先读定义→场景为什么用它→看代码实例→扩展给A层。C/D层掌握前三格，A层加扩展格。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详解B5·峭度与偏度：先读定义→场景为什么用它→看代码实例→扩展给A层。C/D层掌握前三格，A层加扩展格。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详解B6·主频=谱峰位置：先读定义→场景为什么用它→看代码实例→扩展给A层。C/D层掌握前三格，A层加扩展格。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详解B7·标准化防泄漏：先读定义→场景为什么用它→看代码实例→扩展给A层。C/D层掌握前三格，A层加扩展格。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现场演示《五步模板(核心骨架)》：三步走——先整段跑通看结果，再逐行讲关键语句，最后现场改一个参数看输出变化（演10分钟的核心素材）。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现场演示《四指标一次算齐》：三步走——先整段跑通看结果，再逐行讲关键语句，最后现场改一个参数看输出变化（演10分钟的核心素材）。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工单发布话术：'设备智能运维中心发来工单M1.1《泵类设备故障诊断系统》，及格线是准，优秀线看A层标准'——念完发starter。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错误速查：现场演示第一条——制造「准确率忽高忽低」，带着学生按'现象→原因→解决'三步排查。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让机器学会判断设备是否故障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让机器学会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判断设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监督学习：从带标签历史数据学习“特征→类别”映射 · 分类vs回归：离散类别vs连续数值；故障三态判别属分类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逻辑回归：线性边界+sigmoid概率，可解释强、速度快的基线模型 · 决策树：if-else树状切分，可读性最好，易过拟合需限深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用NumPy读写CSV并切分X/y · 调用sklearn三分类器并fit/predict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技能线：用NumPy读写CSV并切分X/y；调用sklearn三分类器并fit/predict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M1.1《泵类设备故障诊断系统》——本课工单即考核单元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目标：理解监督学习、分类与回归的基本概念；掌握逻辑回归、决策树、随机森林的原理与适用场景；理解准确率、精确率、召回率、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目标：能够使用scikit-learn加载预训练模型并对新的故障数据进行预测；能够计算并解读模型评估指标；能够用OOP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目标：树立数据驱动的工程决策意识，理解AI技术在设备健康管理（PHM）中的岗位价值，培养“工业互联网现场工程师”的职业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监督学习中"分类"与"回归"的区别是什么？漏报更影响精确率还是召回率？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题目：监督学习中"分类"与"回归"的区别是什么？漏报更影响精确率还是召回率？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周一早会，运维中心大屏跳出黄色预警：3号泵站振动连续三日爬升。老周把'泵类故障诊断'立项单递给林工：'别再凭耳朵听了，教小郑用数据说话。'林工转头发来300条历史运行参数和首张工单M1.1——你的AI第一课，从让模型听懂泵的'心跳'开始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任务背景：周一早会，运维中心大屏跳出黄色预警：3号泵站振动连续三日爬升。老周把'泵类故障诊断'立项单递给林工：'别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理解监督学习、分类与回归的基本概念；掌握逻辑回归、决策树、随机森林的原理与适用场景；理解准确率、精确率、召回率、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能够使用scikit-learn加载预训练模型并对新的故障数据进行预测；能够计算并解读模型评估指标；能够用OOP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树立数据驱动的工程决策意识，理解AI技术在设备健康管理（PHM）中的岗位价值，培养“工业互联网现场工程师”的职业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知识详解：ndarray同构数组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ndarray同构数组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ndarray=同规格集装箱阵列：同类型/shape量形状/dtype标材质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向量化计算的地基——30维特征的容器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 = np.array([[78.5, 4.2, …], …]); X.shape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误区：往ndarray塞混合类型——异构先用Pandas再取.values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知识详解：向量化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向量化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向量化=整箱叉车vs逐件搬砖：底层C一次处理整块内存快10-100倍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3000行特征提取&lt;100ms的验收指标靠它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(X - X.mean(axis=0)) / X.std(axis=0) 整列标准化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误区：以为for循环只是慢一点——数据量大时是分钟vs毫秒的量级差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知识详解：广播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广播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广播=小矩阵自动复印对齐：列均值(30,)摊到3000行每行相减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每个样本减同一均值——一行代码全样本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 - X.mean(axis=0) 形状(3000,30)-(30,)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误区：维度不匹配想当然——从右往左对齐，缺的补1，不匹配报错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知识详解：rfft频域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rfft频域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rfft=声音拆音叉：时序信号拆成正弦成分——频域找主频指纹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振动信号找主频——频域指纹识别故障模式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spec = np.abs(np.fft.rfft(x)); 幅值×2/n补偿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误区：fft结果直接用——复数要取abs才是幅值，忘×2/n小一半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知识详解：峭度与偏度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峭度与偏度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峭度=冲击探测器(尖峰多则大)；偏度=歪斜度(拖尾朝哪边)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无需标注的无监督健康指标——轴承点蚀高峭度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from scipy.stats import kurtosis; kurtosis(x)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误区：峭度&gt;3才有冲击成分——正态分布基准是3不是0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知识详解：主频=谱峰位置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主频=谱峰位置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主频=频谱最高峰的位置——设备的'嗓音音调'，故障会变调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不同故障对应不同特征频率——频域诊断的钥匙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spec.argmax()取谱峰下标×频率分辨率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误区：只看最高峰——谐波峰也可能异常，二倍频常是松动信号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知识详解：标准化防泄漏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B07 · 标准化防泄漏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scaler只fit训练集=考官先定评分标准，考生(测试集)只准用同标准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数据泄漏是模型虚高的头号元凶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scaler.fit(X_train); X_test_s = scaler.transform(X_test)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误区：fit在测试集上=偷看答案——线上线下不一致的根源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用NumPy读写CSV并切分X/y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调用sklearn三分类器并fit/predict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计算并解读四项评估指标(宏平均)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按决策矩阵选择交付模型并说明理由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让机器学会判断设备是否故障（1）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机器学习与工业AI认知：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监督学习、分类与回归的基本概念与适用场景；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逻辑回归、决策树、随机森林三类分类算法的原理直观对比；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模型评估指标：准确率、精确率、召回率、F1值的含义与计算；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工业故障诊断业务逻辑：数据→特征→模型→决策的完整链条。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让机器学会判断设备是否故障（2）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演示与工单项目M1.1实验：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演示3个分类模型在泵类设备故障诊断中的实际应用与优缺点对比；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使用scikit-learn加载设备运行数据（转速、温度、压力、振动）；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数据预处理与训练集/测试集划分，训练分类模型并预测新样本；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评估模型并解读各指标；知识补充：模型即对象——属性（参数）与方法（predict、score），用类封装模型与数据处理流程。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关键代码：五步模板(核心骨架)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sklearn.ensemble import RandomForestClassifier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train_test_split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numpy as np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data = np.genfromtxt("data/pump_fault.csv", delimiter=",", skip_header=1)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X, y = data[:, :5], data[:, 5].astype(int)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Xtr, Xte, ytr, yte = train_test_split(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X, y, test_size=0.25, stratify=y, random_state=42)   # 分层!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model = RandomForestClassifier(n_estimators=100, random_state=42)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model.fit(Xtr, ytr)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print("准确率:", (model.predict(Xte) == yte).mean())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关键代码：四指标一次算齐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sklearn.metrics import (accuracy_score, precision_score,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  recall_score, f1_score)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 = model.predict(Xte)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print(f"准确率{accuracy_score(yte,p):.3f} 精确率{precision_score(yte,p,average='macro'):.3f}"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f" 召回率{recall_score(yte,p,average='macro'):.3f} F1{f1_score(yte,p,average='macro'):.3f}")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决策：选择交付模型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候选模型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逻辑回归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决策树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随机森林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本课决策题：决策：选择交付模型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实施任务：工单M1.1《泵类设备故障诊断系统》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NumPy加载pump_fault.csv并分层划分(75%/25%)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训练三个分类器并计算四项指标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填写决策矩阵确定交付模型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预测2个新样本并输出对照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准确率≥0.75；能口述四项指标含义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≥0.85；三模型对比表+决策矩阵规范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准确率≥0.75 → 实测达标（实测 0.9825） ｜ 工单原文：本行只判准确率门，同档其余条目见下方人工答辩项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准确率≥0.80 → 实测达标（实测 0.9825） ｜ 工单原文：本行只判准确率门，同档其余条目见下方人工答辩项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准确率≥0.85 → 实测达标（实测 0.9825） ｜ 工单原文：本行只判准确率门，同档其余条目见下方人工答辩项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准确率≥0.85 → 实测达标（实测 0.9825） ｜ 工单原文：本行只判准确率门，同档其余条目见下方人工答辩项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工程化项目/m11_fault_diag/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src/fault_diag/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m11_fault_diag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程序出结果+口述指标含义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准确率≥0.75 → 实测达标（实测 0.9825）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准确率≥0.75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准确率≥0.80 → 实测达标（实测 0.9825）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准确率≥0.85 → 实测达标（实测 0.9825）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准确率≥0.85且决策答辩流畅</a:t>
                      </a:r>
                    </a:p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(A层加码: 对比三模型在同一错误样本上的表现，找出难分样本共性并写改进假设)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准确率≥0.85 → 实测达标（实测 0.9825）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4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档位取数：本次真跑输出的「达标档位」行（报告头未写档位行）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m11_fault_diag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项目：01-AI应用基础/工程化项目/m11_fault_diag/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10:43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工具/ppt97/evidence/m11_fault_diag/（capture97.py 真跑捕获，未改写数字）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跑通模型调用五步模板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运行starter示例单元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把模型换成决策树再跑一次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记录两轮准确率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程序出结果+口述指标含义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准确率≥0.75 → 实测达标（实测 0.9825）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完成单模型基线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加载CSV并划分数据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训练随机森林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计算准确率与F1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准确率≥0.75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准确率≥0.80 → 实测达标（实测 0.9825）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完成三分类器训练与评估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加载pump_fault.csv并分层划分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训练LR/DT/RF三模型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输出四指标对照表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准确率≥0.80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准确率≥0.85 → 实测达标（实测 0.9825）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三模型对比+决策矩阵+错误样本分析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三模型同台对比并记录指标表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选2个错判样本分析共性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填写决策矩阵并准备1分钟讲解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准确率≥0.85且决策答辩流畅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对比三模型在同一错误样本上的表现，找出难分样本共性并写改进假设)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准确率≥0.85 → 实测达标（实测 0.9825）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NumPy加载pump_fault.csv并分层划分(75%/25%)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训练三个分类器并计算四项指标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填写决策矩阵确定交付模型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8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87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7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预测2个新样本并输出对照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train_test_split必须加stratify=y保持三类比例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固定random_state=42保证结果可复现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先看类别分布再谈指标，不均衡时准确率会骗人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准确率忽高忽低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未固定random_state/未分层划分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加random_state=42与stratify=y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漏检轴承磨损严重但指标尚可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只看了准确率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漏报代价高→重点核查召回率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predict报维度错误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训练时X含标签列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切X=data[:,:5]勿带第6列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D·学徒（≥60）：跑通模型调用五步模板——跟做保底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C·操作员（≥70）：完成单模型基线——基础完成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B·组长（≥80）：完成三分类器训练与评估——标准达成+帮带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A·师傅（≥90）：三模型对比+决策矩阵+错误样本分析——进阶拓展+费曼讲解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步骤1：NumPy加载pump_fault.csv并分层划分(75%/25%)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步骤2：训练三个分类器并计算四项指标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步骤3：填写决策矩阵确定交付模型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步骤4：预测2个新样本并输出对照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完成工单项目M1.1《泵类设备故障诊断系统》：模型准确率≥0.75，能清晰说明各评估指标的含义；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撰写实验记录：记录三个分类模型在同一数据集上的指标对比表；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预习特征工程相关内容（数据归一化、标准化）。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模型         准确     精确     召回     F1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逻辑回归    0.965  0.965  0.965  0.964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决策树     0.973  0.973  0.973  0.973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随机森林    0.982  0.984  0.982  0.983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决策矩阵结论: 随机森林精度最优且可给出特征重要度, 选为交付模型;逻辑回归可作为产线侧轻量基线。最终: ('随机森林', 0…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微课知识卡：用NumPy读写CSV并切分X/y（5分钟视频+导学单）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监督学习：从带标签历史数据学习“特征→类别”映射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分类vs回归：离散类别vs连续数值；故障三态判别属分类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逻辑回归：线性边界+sigmoid概率，可解释强、速度快的基线模型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让机器学会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判断设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监督学习：从带标签历史数据学习“特征→类别”映射 · 分类vs回归：离散类别vs连续数值；故障三态判别属分类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用NumPy读写CSV并切分X/y · 调用sklearn三分类器并fit/predict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准确率忽高忽低 · 漏检轴承磨损严重但指标尚可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本周主题：用NumPy读写CSV并切分X/y——5分钟视频+导学单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监督学习中"分类"与"回归"的区别是什么？漏报更影响精确率还是召回率？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排错题：出现「准确率忽高忽低」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原因：未固定random_state/未分层划分；解决：加random_state=42与stratify=y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监督学习：从带标签历史数据学习“特征→类别”映射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知识：监督学习：从带标签历史数据学习“特征→类；分类vs回归：离散类别vs连续数值；故障；逻辑回归：线性边界+sigmoid概率，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技能：用NumPy读写CSV并切分X/y；调用sklearn三分类器并fit/predict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交付：工单M1.1《泵类设备故障诊断系统》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79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79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派生≥2个物理含义明确的特征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Min-Max归一化与Z-score标准化各适用什么分布？树模型需要归一化吗？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