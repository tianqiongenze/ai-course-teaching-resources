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97" r:id="rId49"/>
    <p:sldId id="299" r:id="rId51"/>
    <p:sldId id="300" r:id="rId52"/>
    <p:sldId id="301" r:id="rId53"/>
    <p:sldId id="302" r:id="rId54"/>
    <p:sldId id="304" r:id="rId56"/>
    <p:sldId id="308" r:id="rId60"/>
    <p:sldId id="309" r:id="rId61"/>
    <p:sldId id="310" r:id="rId62"/>
    <p:sldId id="311" r:id="rId63"/>
    <p:sldId id="359" r:id="rId74"/>
    <p:sldId id="360" r:id="rId78"/>
    <p:sldId id="361" r:id="rId71"/>
    <p:sldId id="362" r:id="rId69"/>
    <p:sldId id="363" r:id="rId67"/>
    <p:sldId id="312" r:id="rId64"/>
    <p:sldId id="314" r:id="rId66"/>
    <p:sldId id="316" r:id="rId68"/>
    <p:sldId id="318" r:id="rId70"/>
    <p:sldId id="320" r:id="rId72"/>
    <p:sldId id="321" r:id="rId73"/>
    <p:sldId id="323" r:id="rId75"/>
    <p:sldId id="324" r:id="rId76"/>
    <p:sldId id="325" r:id="rId77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7" r:id="rId109"/>
    <p:sldId id="358" r:id="rId1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9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6" Type="http://schemas.openxmlformats.org/officeDocument/2006/relationships/slide" Target="slides/slide27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74.xml"/><Relationship Id="rId68" Type="http://schemas.openxmlformats.org/officeDocument/2006/relationships/slide" Target="slides/slide36.xml"/><Relationship Id="rId69" Type="http://schemas.openxmlformats.org/officeDocument/2006/relationships/slide" Target="slides/slide73.xml"/><Relationship Id="rId70" Type="http://schemas.openxmlformats.org/officeDocument/2006/relationships/slide" Target="slides/slide37.xml"/><Relationship Id="rId71" Type="http://schemas.openxmlformats.org/officeDocument/2006/relationships/slide" Target="slides/slide72.xml"/><Relationship Id="rId72" Type="http://schemas.openxmlformats.org/officeDocument/2006/relationships/slide" Target="slides/slide38.xml"/><Relationship Id="rId73" Type="http://schemas.openxmlformats.org/officeDocument/2006/relationships/slide" Target="slides/slide39.xml"/><Relationship Id="rId74" Type="http://schemas.openxmlformats.org/officeDocument/2006/relationships/slide" Target="slides/slide32.xml"/><Relationship Id="rId75" Type="http://schemas.openxmlformats.org/officeDocument/2006/relationships/slide" Target="slides/slide40.xml"/><Relationship Id="rId76" Type="http://schemas.openxmlformats.org/officeDocument/2006/relationships/slide" Target="slides/slide41.xml"/><Relationship Id="rId77" Type="http://schemas.openxmlformats.org/officeDocument/2006/relationships/slide" Target="slides/slide42.xml"/><Relationship Id="rId78" Type="http://schemas.openxmlformats.org/officeDocument/2006/relationships/slide" Target="slides/slide33.xml"/><Relationship Id="rId79" Type="http://schemas.openxmlformats.org/officeDocument/2006/relationships/slide" Target="slides/slide43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开场30秒：本次课《让机器读懂故障报告》，80分钟＝2课时×40分钟。课前已发工单+starter+微课知识卡，资讯·计划线上完成。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情境说书（30秒，口头讲，不必逐字念）：运维知识库积压了三年故障报修单，派单全靠调度员经验。老周要'让文字自己找到主人'——工单M4.1：训练一个把故障文本自动分到五个专业组的分类器。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现场演示《文本分类管线》：三步走——先整段跑通看结果，再逐行讲关键语句，最后现场改一个参数看输出变化（演10分钟的核心素材）。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现场演示《Top关键词》：三步走——先整段跑通看结果，再逐行讲关键语句，最后现场改一个参数看输出变化（演10分钟的核心素材）。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工单发布话术：'设备智能运维中心发来工单M4.1《工业故障报告自动分类系统》，及格线是准，优秀线看A层标准'——念完发starter。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错误速查：现场演示第一条——制造「Top10全是虚词」，带着学生按'现象→原因→解决'三步排查。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让机器读懂故障报告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让机器读懂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故障报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NLP：让机器处理自然语言文本 · 分词：jieba精确模式切词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停用词：的/了等无信息词需过滤 · 词袋模型：文本→词频向量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jieba分词+停用词过滤管线 · TF-IDF向量化(Pipeline防泄漏)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基础知识线：NLP：让机器处理自然语言文本；分词：jieba精确模式切词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继续夯实线：停用词：的/了等无信息词需过滤；词袋模型：文本→词频向量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技能线：jieba分词+停用词过滤管线；TF-IDF向量化(Pipeline防泄漏)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M4.1《工业故障报告自动分类系统》——本课工单即考核单元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目标：理解文本预处理、分词、向量化（TF-IDF）的基本原理；掌握文本分类的完整流程；理解大语言模型（LLM）的基本概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目标：能够使用jieba与TF-IDF完成工业故障报告自动分类（准确率≥0.75，优秀≥0.85）；能够解释关键词对分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目标：认识非结构化文本数据的价值，培养将现场经验沉淀为知识库的数据资产意识。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TF-IDF中的IDF让什么样的词权重更高？停用词不滤会怎样？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题目：TF-IDF中的IDF让什么样的词权重更高？停用词不滤会怎样？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运维知识库积压了三年故障报修单，派单全靠调度员经验。老周要'让文字自己找到主人'——工单M4.1：训练一个把故障文本自动分到五个专业组的分类器。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任务背景：运维知识库积压了三年故障报修单，派单全靠调度员经验。老周要'让文字自己找到主人'——工单M4.1：训练一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理解文本预处理、分词、向量化（TF-IDF）的基本原理；掌握文本分类的完整流程；理解大语言模型（LLM）的基本概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能够使用jieba与TF-IDF完成工业故障报告自动分类（准确率≥0.75，优秀≥0.85）；能够解释关键词对分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认识非结构化文本数据的价值，培养将现场经验沉淀为知识库的数据资产意识。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对应工单M4.1评分：功能40%+技术25%+规范20%+素养15%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jieba分词+停用词过滤管线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TF-IDF向量化(Pipeline防泄漏)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NB与LR双分类器对比评估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输出Top关键词并解释贡献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让机器读懂故障报告（1）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NLP基础理论（30分钟）：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自然语言处理概述与工业应用（故障说明分类、工程文档管理）；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文本预处理：分词（jieba）、去停用词；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文本向量化：词袋模型、TF-IDF；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文本分类与情感分析的基本流程。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让机器读懂故障报告（2）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演示与工单项目M4.1实验：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演示NLP模型处理中文故障报告的效果；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使用jieba对工业故障说明文本进行中文分词；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TF-IDF特征提取与分类模型训练（≥5类故障）；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评估分类准确率并解释关键词贡献；知识补充：TextVectorizer类与TextClassifier类的OOP设计。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关键代码：文本分类管线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sklearn.pipeline import make_pipeline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sklearn.feature_extraction.text import TfidfVectorizer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cut(t): return " ".join(w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 if w not in STOP and len(w)&gt;1)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pipe = make_pipeline(TfidfVectorizer(max_features=2000),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LogisticRegression(max_iter=1000))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pipe.fit([cut(t) for t in texts_train], labels_train)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关键代码：Top关键词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jieba.analyse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print(jieba.analyse.extract_tags(" ".join(all_texts), topK=10,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       withWeight=True))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决策：分类器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分类器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朴素贝叶斯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本课决策题：决策：分类器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实施任务：工单M4.1《工业故障报告自动分类系统》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jieba分词+停用词过滤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TF-IDF向量化(2000维)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训练两分类器并对比指标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预测自收集新文本+Top10关键词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准确率≥0.75；能预测新文本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≥0.85；混淆矩阵分析+关键词解释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终模型准确率 1.0000 ｜ 库外新文本预测 6 条(命中 5) ｜ 对比模型 4 个 ｜ 关键词覆盖 5/5 类 ｜ 易混类对: 仪表气动↔电气系统×5（预测正确时的第二选择近误计数） ｜ 调优Δacc +0.0000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规范率门槛≥60% [达标] ｜ 功能OK ｜ 准确率≥门槛 + 库外新文本实测预测命中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规范率门槛≥70% [达标] ｜ 功能OK ｜ 准确率≥门槛 + 朴素贝叶斯/逻辑回归同切分对比完整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规范率门槛≥80% [达标] ｜ 功能OK ｜ 准确率≥门槛 + 每类 Top10 关键词表全类覆盖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且：混淆矩阵实测定位最易混类对；自建词典+ngram 实测调优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条（不自动判达标，教师答辩时确认）: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1. 关键词贡献解释清晰：能指出决定「电气系统」类的关键词并口述依据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2. 混淆矩阵「为何易混」归因分析（共用词/工况相似）可口述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3. 决策矩阵权衡（准确率/训练速度/可解释性）能口述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工程化项目/m41_fault_text_clf/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src/fault_text_clf/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jieba.cut两句故障描述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对比去停用词前后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看Top10词表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能看懂词云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规范率门槛≥60%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单分类器管线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TF-IDF+NB训练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预测3条新文本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准确率≥0.75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双分类器完整对比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分词+停用词过滤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Pipeline(NB/LR)训练对比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预测自收集新文本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混淆矩阵+词典调优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混淆矩阵找易混两类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加自定义词典或ngram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解释关键词贡献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混淆矩阵分析哪两类易混并给出词表级解释（如液压vs传动共享词）)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jieba分词+停用词过滤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TF-IDF向量化(2000维)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训练两分类器并对比指标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预测自收集新文本+Top10关键词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停用词不滤则“的/了”霸榜Top10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Pipeline组合向量化与分类器可自动避免泄漏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新文本预测要过同一个cut()预处理函数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停用词没滤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扩充STOP表再统计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测试指标虚高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向量化fit了全量(泄漏)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Pipeline只在训练集fit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中文乱码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编码不一致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统一encoding='utf-8'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C·操作员（≥70）：单分类器管线——基础完成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B·组长（≥80）：双分类器完整对比——标准达成+帮带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A·师傅（≥90）：混淆矩阵+词典调优——进阶拓展+费曼讲解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步骤1：jieba分词+停用词过滤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步骤2：TF-IDF向量化(2000维)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步骤3：训练两分类器并对比指标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步骤4：预测自收集新文本+Top10关键词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完成工单项目M4.1《工业故障报告自动分类系统》：准确率≥0.75，优秀标准≥0.85且能解释关键词贡献、结果可视化；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每人收集10条真实风格的设备故障描述，扩充班级语料库；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预习Prompt工程与大模型API调用方式。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工单 M4.1 故障报告文本分类 · 完成态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语料: data/fault_reports.csv  225 条 · 5 类（仪表气动/传动系统/冷却系统/液压系统/电气系…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流水线: jieba分词+停用词 → TF-IDF → 线性分类器　划分 训练180/测试45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NB(朴素贝叶斯)      accuracy=1.000   macro-F1=1.000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LR(逻辑回归)       accuracy=1.000   macro-F1=1.000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对比结论: NB(朴素贝叶斯) macro-F1 最高（1.000）—— 短文本上线性模型已足够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在线演示: 「3号注塑机液压油温升高报警」→ 预测类别「液压系统」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结论: TF-IDF+线性模型即可高精度归类工业短文本；LLM 的价值在开放问答与生成解释（见 M4.2 RAG），二者互补而…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[明细] 分类报告（测试集）: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            precision    recall  f1-score   support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      仪表气动       1.00      1.00      1.00        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      传动系统       1.00      1.00      1.00      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微课知识卡：jieba分词+停用词过滤管线（5分钟视频+导学单）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NLP：让机器处理自然语言文本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分词：jieba精确模式切词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停用词：的/了等无信息词需过滤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让机器读懂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故障报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NLP：让机器处理自然语言文本 · 分词：jieba精确模式切词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jieba分词+停用词过滤管线 · TF-IDF向量化(Pipeline防泄漏)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Top10全是虚词 · 测试指标虚高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本周主题：jieba分词+停用词过滤管线——5分钟视频+导学单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TF-IDF中的IDF让什么样的词权重更高？停用词不滤会怎样？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排错题：出现「Top10全是虚词」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原因：停用词没滤；解决：扩充STOP表再统计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NLP：让机器处理自然语言文本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知识：NLP：让机器处理自然语言文本；分词：jieba精确模式切词；停用词：的/了等无信息词需过滤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技能：jieba分词+停用词过滤管线；TF-IDF向量化(Pipeline防泄漏)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交付：工单M4.1《工业故障报告自动分类系统》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三版Prompt对比实验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RAG相比纯LLM回答的优势是什么？企业数据合规要注意什么？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m41_fault_text_clf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终模型准确率 1.0000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库外新文本预测 6 条(命中 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对比模型 4 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关键词覆盖 5/5 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易混类对: 仪表气动↔电气系统×5（预测正确时的第二选择近误计数）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准确率≥门槛 + 库外新文本实测预测命中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规范率门槛≥60%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准确率≥门槛 + 朴素贝叶斯/逻辑回归同切分对比完整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准确率≥门槛 + 每类 Top10 关键词表全类覆盖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且：混淆矩阵实测定位最易混类对；自建词典+ngram 实测调优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条（代码不代判，答辩现场确认）：. 关键词贡献解释清晰：能指出决定「电气系统」类的关键词并口述依据；. 混淆矩阵「为何易混」归因分析（共用词/工况相似）可口述；. 决策矩阵权衡（准确率/训练速度/可解释性）能口述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m41_fault_text_clf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项目：01-AI应用基础/工程化项目/m41_fault_text_clf/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工具/ppt97/evidence/m41_fault_text_clf/（capture97.py 真跑捕获，未改写数字）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m41_fault_text_clf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confusion_matrix.png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output/confusion_matrix.png ｜ 35 KB ｜ run.py 本次落盘</a:t>
            </a:r>
          </a:p>
        </p:txBody>
      </p:sp>
      <p:pic>
        <p:nvPicPr>
          <p:cNvPr id="19" name="Picture 18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764" y="1993392"/>
            <a:ext cx="4819719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