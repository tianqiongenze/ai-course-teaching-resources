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4" r:id="rId65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9" r:id="rId31"/>
    <p:sldId id="280" r:id="rId32"/>
    <p:sldId id="281" r:id="rId33"/>
    <p:sldId id="286" r:id="rId38"/>
    <p:sldId id="297" r:id="rId49"/>
    <p:sldId id="299" r:id="rId51"/>
    <p:sldId id="300" r:id="rId52"/>
    <p:sldId id="301" r:id="rId53"/>
    <p:sldId id="302" r:id="rId54"/>
    <p:sldId id="304" r:id="rId56"/>
    <p:sldId id="308" r:id="rId60"/>
    <p:sldId id="309" r:id="rId61"/>
    <p:sldId id="310" r:id="rId62"/>
    <p:sldId id="311" r:id="rId63"/>
    <p:sldId id="359" r:id="rId74"/>
    <p:sldId id="360" r:id="rId78"/>
    <p:sldId id="361" r:id="rId71"/>
    <p:sldId id="362" r:id="rId69"/>
    <p:sldId id="363" r:id="rId67"/>
    <p:sldId id="312" r:id="rId64"/>
    <p:sldId id="314" r:id="rId66"/>
    <p:sldId id="316" r:id="rId68"/>
    <p:sldId id="318" r:id="rId70"/>
    <p:sldId id="320" r:id="rId72"/>
    <p:sldId id="321" r:id="rId73"/>
    <p:sldId id="323" r:id="rId75"/>
    <p:sldId id="324" r:id="rId76"/>
    <p:sldId id="325" r:id="rId77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7" r:id="rId109"/>
    <p:sldId id="358" r:id="rId110"/>
    <p:sldId id="365" r:id="rId59"/>
    <p:sldId id="366" r:id="rId5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3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8" Type="http://schemas.openxmlformats.org/officeDocument/2006/relationships/slide" Target="slides/slide21.xml"/><Relationship Id="rId49" Type="http://schemas.openxmlformats.org/officeDocument/2006/relationships/slide" Target="slides/slide22.xml"/><Relationship Id="rId51" Type="http://schemas.openxmlformats.org/officeDocument/2006/relationships/slide" Target="slides/slide23.xml"/><Relationship Id="rId52" Type="http://schemas.openxmlformats.org/officeDocument/2006/relationships/slide" Target="slides/slide24.xml"/><Relationship Id="rId53" Type="http://schemas.openxmlformats.org/officeDocument/2006/relationships/slide" Target="slides/slide25.xml"/><Relationship Id="rId54" Type="http://schemas.openxmlformats.org/officeDocument/2006/relationships/slide" Target="slides/slide26.xml"/><Relationship Id="rId56" Type="http://schemas.openxmlformats.org/officeDocument/2006/relationships/slide" Target="slides/slide27.xml"/><Relationship Id="rId58" Type="http://schemas.openxmlformats.org/officeDocument/2006/relationships/slide" Target="slides/slide77.xml"/><Relationship Id="rId59" Type="http://schemas.openxmlformats.org/officeDocument/2006/relationships/slide" Target="slides/slide76.xml"/><Relationship Id="rId60" Type="http://schemas.openxmlformats.org/officeDocument/2006/relationships/slide" Target="slides/slide28.xml"/><Relationship Id="rId61" Type="http://schemas.openxmlformats.org/officeDocument/2006/relationships/slide" Target="slides/slide29.xml"/><Relationship Id="rId62" Type="http://schemas.openxmlformats.org/officeDocument/2006/relationships/slide" Target="slides/slide30.xml"/><Relationship Id="rId63" Type="http://schemas.openxmlformats.org/officeDocument/2006/relationships/slide" Target="slides/slide31.xml"/><Relationship Id="rId64" Type="http://schemas.openxmlformats.org/officeDocument/2006/relationships/slide" Target="slides/slide37.xml"/><Relationship Id="rId65" Type="http://schemas.openxmlformats.org/officeDocument/2006/relationships/slide" Target="slides/slide75.xml"/><Relationship Id="rId66" Type="http://schemas.openxmlformats.org/officeDocument/2006/relationships/slide" Target="slides/slide38.xml"/><Relationship Id="rId67" Type="http://schemas.openxmlformats.org/officeDocument/2006/relationships/slide" Target="slides/slide36.xml"/><Relationship Id="rId68" Type="http://schemas.openxmlformats.org/officeDocument/2006/relationships/slide" Target="slides/slide39.xml"/><Relationship Id="rId69" Type="http://schemas.openxmlformats.org/officeDocument/2006/relationships/slide" Target="slides/slide35.xml"/><Relationship Id="rId70" Type="http://schemas.openxmlformats.org/officeDocument/2006/relationships/slide" Target="slides/slide40.xml"/><Relationship Id="rId71" Type="http://schemas.openxmlformats.org/officeDocument/2006/relationships/slide" Target="slides/slide34.xml"/><Relationship Id="rId72" Type="http://schemas.openxmlformats.org/officeDocument/2006/relationships/slide" Target="slides/slide41.xml"/><Relationship Id="rId73" Type="http://schemas.openxmlformats.org/officeDocument/2006/relationships/slide" Target="slides/slide42.xml"/><Relationship Id="rId74" Type="http://schemas.openxmlformats.org/officeDocument/2006/relationships/slide" Target="slides/slide32.xml"/><Relationship Id="rId75" Type="http://schemas.openxmlformats.org/officeDocument/2006/relationships/slide" Target="slides/slide43.xml"/><Relationship Id="rId76" Type="http://schemas.openxmlformats.org/officeDocument/2006/relationships/slide" Target="slides/slide44.xml"/><Relationship Id="rId77" Type="http://schemas.openxmlformats.org/officeDocument/2006/relationships/slide" Target="slides/slide45.xml"/><Relationship Id="rId78" Type="http://schemas.openxmlformats.org/officeDocument/2006/relationships/slide" Target="slides/slide33.xml"/><Relationship Id="rId79" Type="http://schemas.openxmlformats.org/officeDocument/2006/relationships/slide" Target="slides/slide46.xml"/><Relationship Id="rId80" Type="http://schemas.openxmlformats.org/officeDocument/2006/relationships/slide" Target="slides/slide47.xml"/><Relationship Id="rId81" Type="http://schemas.openxmlformats.org/officeDocument/2006/relationships/slide" Target="slides/slide48.xml"/><Relationship Id="rId82" Type="http://schemas.openxmlformats.org/officeDocument/2006/relationships/slide" Target="slides/slide49.xml"/><Relationship Id="rId83" Type="http://schemas.openxmlformats.org/officeDocument/2006/relationships/slide" Target="slides/slide50.xml"/><Relationship Id="rId84" Type="http://schemas.openxmlformats.org/officeDocument/2006/relationships/slide" Target="slides/slide51.xml"/><Relationship Id="rId85" Type="http://schemas.openxmlformats.org/officeDocument/2006/relationships/slide" Target="slides/slide52.xml"/><Relationship Id="rId86" Type="http://schemas.openxmlformats.org/officeDocument/2006/relationships/slide" Target="slides/slide53.xml"/><Relationship Id="rId87" Type="http://schemas.openxmlformats.org/officeDocument/2006/relationships/slide" Target="slides/slide54.xml"/><Relationship Id="rId88" Type="http://schemas.openxmlformats.org/officeDocument/2006/relationships/slide" Target="slides/slide55.xml"/><Relationship Id="rId89" Type="http://schemas.openxmlformats.org/officeDocument/2006/relationships/slide" Target="slides/slide56.xml"/><Relationship Id="rId90" Type="http://schemas.openxmlformats.org/officeDocument/2006/relationships/slide" Target="slides/slide57.xml"/><Relationship Id="rId91" Type="http://schemas.openxmlformats.org/officeDocument/2006/relationships/slide" Target="slides/slide58.xml"/><Relationship Id="rId92" Type="http://schemas.openxmlformats.org/officeDocument/2006/relationships/slide" Target="slides/slide59.xml"/><Relationship Id="rId93" Type="http://schemas.openxmlformats.org/officeDocument/2006/relationships/slide" Target="slides/slide60.xml"/><Relationship Id="rId94" Type="http://schemas.openxmlformats.org/officeDocument/2006/relationships/slide" Target="slides/slide61.xml"/><Relationship Id="rId95" Type="http://schemas.openxmlformats.org/officeDocument/2006/relationships/slide" Target="slides/slide62.xml"/><Relationship Id="rId96" Type="http://schemas.openxmlformats.org/officeDocument/2006/relationships/slide" Target="slides/slide63.xml"/><Relationship Id="rId97" Type="http://schemas.openxmlformats.org/officeDocument/2006/relationships/slide" Target="slides/slide64.xml"/><Relationship Id="rId98" Type="http://schemas.openxmlformats.org/officeDocument/2006/relationships/slide" Target="slides/slide65.xml"/><Relationship Id="rId99" Type="http://schemas.openxmlformats.org/officeDocument/2006/relationships/slide" Target="slides/slide66.xml"/><Relationship Id="rId100" Type="http://schemas.openxmlformats.org/officeDocument/2006/relationships/slide" Target="slides/slide67.xml"/><Relationship Id="rId101" Type="http://schemas.openxmlformats.org/officeDocument/2006/relationships/slide" Target="slides/slide68.xml"/><Relationship Id="rId102" Type="http://schemas.openxmlformats.org/officeDocument/2006/relationships/slide" Target="slides/slide69.xml"/><Relationship Id="rId103" Type="http://schemas.openxmlformats.org/officeDocument/2006/relationships/slide" Target="slides/slide70.xml"/><Relationship Id="rId104" Type="http://schemas.openxmlformats.org/officeDocument/2006/relationships/slide" Target="slides/slide71.xml"/><Relationship Id="rId105" Type="http://schemas.openxmlformats.org/officeDocument/2006/relationships/slide" Target="slides/slide72.xml"/><Relationship Id="rId109" Type="http://schemas.openxmlformats.org/officeDocument/2006/relationships/slide" Target="slides/slide73.xml"/><Relationship Id="rId110" Type="http://schemas.openxmlformats.org/officeDocument/2006/relationships/slide" Target="slides/slide7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开场30秒：本次课《让机器读懂故障报告》，80分钟＝2课时×40分钟。课前已发工单+starter+微课知识卡，资讯·计划线上完成。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分支详解一：基础两条线各点一个产线例子，说明'为什么先学这个'。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情境说书（30秒，口头讲，不必逐字念）：运维知识库积压了三年故障报修单，派单全靠调度员经验。老周要'让文字自己找到主人'——工单M4.1：训练一个把故障文本自动分到五个专业组的分类器。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现场演示《文本分类管线》：三步走——先整段跑通看结果，再逐行讲关键语句，最后现场改一个参数看输出变化（演10分钟的核心素材）。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现场演示《Top关键词》：三步走——先整段跑通看结果，再逐行讲关键语句，最后现场改一个参数看输出变化（演10分钟的核心素材）。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工单发布话术：'设备智能运维中心发来工单M4.1《工业故障报告自动分类系统》，及格线是准，优秀线看A层标准'——念完发starter。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错误速查：现场演示第一条——制造「Top10全是虚词」，带着学生按'现象→原因→解决'三步排查。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课后任务逐条念，说明下次课的衔接关系；预告下次课前微课与导学单。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让机器读懂故障报告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第十周 · 第7次课（2课时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本课主用：Jupyter（实训/演示）+ PyCharm CE（编码）+ Git/GitHub（每周提交）</a:t>
            </a:r>
          </a:p>
        </p:txBody>
      </p:sp>
      <p:pic>
        <p:nvPicPr>
          <p:cNvPr id="7" name="Picture 6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专业核心能力进阶课：无代码体验→轻代码实现→工业级应用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AI应用实践（中级）、工业互联网平台运维、计算机视觉工程师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前：无Python先修（零基础入门） → 本课(第4-11周，与Python基础并行) → 后：项目实战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让机器读懂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故障报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NLP：让机器处理自然语言文本 · 分词：jieba精确模式切词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停用词：的/了等无信息词需过滤 · 词袋模型：文本→词频向量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jieba分词+停用词过滤管线 · TF-IDF向量化(Pipeline防泄漏)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知识地图分支详解（一）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基础知识线：NLP：让机器处理自然语言文本；分词：jieba精确模式切词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继续夯实线：停用词：的/了等无信息词需过滤；词袋模型：文本→词频向量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两条线的关系：先打地基（概念/类型），再上楼层（组合应用）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学法提示：每条知识都配'车间例子'，先例后理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技能线：jieba分词+停用词过滤管线；TF-IDF向量化(Pipeline防泄漏)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M4.1《工业故障报告自动分类系统》——本课工单即考核单元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目标：理解文本预处理、分词、向量化（TF-IDF）的基本原理；掌握文本分类的完整流程；理解大语言模型（LLM）的基本概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目标：能够使用jieba与TF-IDF完成工业故障报告自动分类（准确率≥0.75，优秀≥0.85）；能够解释关键词对分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目标：认识非结构化文本数据的价值，培养将现场经验沉淀为知识库的数据资产意识。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TF-IDF中的IDF让什么样的词权重更高？停用词不滤会怎样？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导学单+预习自测已完成；data/数据已就位、starter可运行（--check环境OK）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题目：TF-IDF中的IDF让什么样的词权重更高？停用词不滤会怎样？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运维知识库积压了三年故障报修单，派单全靠调度员经验。老周要'让文字自己找到主人'——工单M4.1：训练一个把故障文本自动分到五个专业组的分类器。</a:t>
            </a:r>
          </a:p>
        </p:txBody>
      </p:sp>
      <p:pic>
        <p:nvPicPr>
          <p:cNvPr id="9" name="Picture 8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任务背景：运维知识库积压了三年故障报修单，派单全靠调度员经验。老周要'让文字自己找到主人'——工单M4.1：训练一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理解文本预处理、分词、向量化（TF-IDF）的基本原理；掌握文本分类的完整流程；理解大语言模型（LLM）的基本概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能够使用jieba与TF-IDF完成工业故障报告自动分类（准确率≥0.75，优秀≥0.85）；能够解释关键词对分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认识非结构化文本数据的价值，培养将现场经验沉淀为知识库的数据资产意识。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对应工单M4.1评分：功能40%+技术25%+规范20%+素养15%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jieba分词+停用词过滤管线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TF-IDF向量化(Pipeline防泄漏)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NB与LR双分类器对比评估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输出Top关键词并解释贡献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评估指标公式卡（贴在显示器上）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0000" y="191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准确率 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0000" y="247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对的 / 全部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0000" y="300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总体把握, 不均衡时会骗人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000" y="185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000" y="185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10000" y="191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精确率 Precision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0000" y="247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报的真 / 全部报的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0000" y="3000000"/>
            <a:ext cx="4600000" cy="4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误报成本高时看它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70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70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0000" y="376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召回率 Recall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000" y="43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抓到的真 / 全部真的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000" y="485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漏报(漏检)代价高时看它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0" y="3700000"/>
            <a:ext cx="4900000" cy="165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60000" y="3700000"/>
            <a:ext cx="4900000" cy="54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10000" y="3760000"/>
            <a:ext cx="4600000" cy="45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F1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10000" y="43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5670F"/>
                </a:solidFill>
                <a:latin typeface="微软雅黑"/>
              </a:rPr>
              <a:t>2PR / (P+R)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10000" y="4850000"/>
            <a:ext cx="46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精确与召回的调和平均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让机器读懂故障报告（1）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NLP基础理论（30分钟）：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自然语言处理概述与工业应用（故障说明分类、工程文档管理）；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文本预处理：分词（jieba）、去停用词；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文本向量化：词袋模型、TF-IDF；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文本分类与情感分析的基本流程。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让机器读懂故障报告（2）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演示与工单项目M4.1实验：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演示NLP模型处理中文故障报告的效果；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使用jieba对工业故障说明文本进行中文分词；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TF-IDF特征提取与分类模型训练（≥5类故障）；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评估分类准确率并解释关键词贡献；知识补充：TextVectorizer类与TextClassifier类的OOP设计。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关键代码：文本分类管线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sklearn.pipeline import make_pipeline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sklearn.feature_extraction.text import TfidfVectorizer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def cut(t): return " ".join(w for w in jieba.cut(t)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             if w not in STOP and len(w)&gt;1)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pipe = make_pipeline(TfidfVectorizer(max_features=2000),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      LogisticRegression(max_iter=1000))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pipe.fit([cut(t) for t in texts_train], labels_train)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关键代码：Top关键词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import jieba.analyse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print(jieba.analyse.extract_tags(" ".join(all_texts), topK=10,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                   withWeight=True))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决策：分类器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分类器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准确率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速度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朴素贝叶斯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0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逻辑回归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0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000" y="406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本课决策题：决策：分类器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实施任务：工单M4.1《工业故障报告自动分类系统》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jieba分词+停用词过滤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TF-IDF向量化(2000维)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训练两分类器并对比指标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预测自收集新文本+Top10关键词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准确率≥0.75；能预测新文本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≥0.85；混淆矩阵分析+关键词解释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终模型准确率 1.0000 ｜ 库外新文本预测 6 条(命中 5) ｜ 对比模型 4 个 ｜ 关键词覆盖 5/5 类 ｜ 易混类对: 仪表气动↔电气系统×5（预测正确时的第二选择近误计数） ｜ 调优Δacc +0.0000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规范率门槛≥60% [达标] ｜ 功能OK ｜ 准确率≥门槛 + 库外新文本实测预测命中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规范率门槛≥70% [达标] ｜ 功能OK ｜ 准确率≥门槛 + 朴素贝叶斯/逻辑回归同切分对比完整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规范率门槛≥80% [达标] ｜ 功能OK ｜ 准确率≥门槛 + 每类 Top10 关键词表全类覆盖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规范率门槛≥90% [达标] ｜ 功能OK ｜ 达 B 且：混淆矩阵实测定位最易混类对；自建词典+ngram 实测调优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人工答辩项 3 条（不自动判达标，教师答辩时确认）: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1. 关键词贡献解释清晰：能指出决定「电气系统」类的关键词并口述依据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2. 混淆矩阵「为何易混」归因分析（共用词/工况相似）可口述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3. 决策矩阵权衡（准确率/训练速度/可解释性）能口述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工程化项目/m41_fault_text_clf/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src/fault_text_clf/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m41_fault_text_clf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终模型准确率 1.0000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库外新文本预测 6 条(命中 5)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对比模型 4 个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关键词覆盖 5/5 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易混类对: 仪表气动↔电气系统×5（预测正确时的第二选择近误计数）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准确率≥门槛 + 库外新文本实测预测命中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规范率门槛≥60%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准确率≥门槛 + 朴素贝叶斯/逻辑回归同切分对比完整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准确率≥门槛 + 每类 Top10 关键词表全类覆盖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 B 且：混淆矩阵实测定位最易混类对；自建词典+ngram 实测调优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3 条（代码不代判，答辩现场确认）：. 关键词贡献解释清晰：能指出决定「电气系统」类的关键词并口述依据；. 混淆矩阵「为何易混」归因分析（共用词/工况相似）可口述；. 决策矩阵权衡（准确率/训练速度/可解释性）能口述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m41_fault_text_clf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项目：01-AI应用基础/工程化项目/m41_fault_text_clf/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10:46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工具/ppt97/evidence/m41_fault_text_clf/（capture97.py 真跑捕获，未改写数字）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m41_fault_text_clf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11356848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confusion_matrix.png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1755648"/>
            <a:ext cx="112105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output/confusion_matrix.png ｜ 35 KB ｜ run.py 本次落盘</a:t>
            </a:r>
          </a:p>
        </p:txBody>
      </p:sp>
      <p:pic>
        <p:nvPicPr>
          <p:cNvPr id="19" name="Picture 18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5764" y="1993392"/>
            <a:ext cx="4819719" cy="40782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分词体验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jieba.cut两句故障描述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对比去停用词前后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看Top10词表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能看懂词云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规范率门槛≥60%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单分类器管线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完成分词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TF-IDF+NB训练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预测3条新文本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准确率≥0.75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双分类器完整对比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分词+停用词过滤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Pipeline(NB/LR)训练对比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预测自收集新文本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准确率≥0.80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混淆矩阵+词典调优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混淆矩阵找易混两类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加自定义词典或ngram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解释关键词贡献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准确率≥0.85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混淆矩阵分析哪两类易混并给出词表级解释（如液压vs传动共享词）)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jieba分词+停用词过滤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TF-IDF向量化(2000维)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训练两分类器并对比指标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预测自收集新文本+Top10关键词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停用词不滤则“的/了”霸榜Top10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Pipeline组合向量化与分类器可自动避免泄漏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新文本预测要过同一个cut()预处理函数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Top10全是虚词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停用词没滤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扩充STOP表再统计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测试指标虚高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向量化fit了全量(泄漏)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Pipeline只在训练集fit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中文乱码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编码不一致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统一encoding='utf-8'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D·学徒（≥60）：分词体验——跟做保底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C·操作员（≥70）：单分类器管线——基础完成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B·组长（≥80）：双分类器完整对比——标准达成+帮带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A·师傅（≥90）：混淆矩阵+词典调优——进阶拓展+费曼讲解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步骤1：jieba分词+停用词过滤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步骤2：TF-IDF向量化(2000维)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步骤3：训练两分类器并对比指标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步骤4：预测自收集新文本+Top10关键词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conda环境正确（提示符显示(ai01）再运行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提交物与评分（工单M4.1）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学号_姓名_M4.1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完成工单项目M4.1《工业故障报告自动分类系统》：准确率≥0.75，优秀标准≥0.85且能解释关键词贡献、结果可视化；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每人收集10条真实风格的设备故障描述，扩充班级语料库；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预习Prompt工程与大模型API调用方式。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模型可解释与数据伦理：不迷信黑盒, 尊重隐私与合规红线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工程化思维：从模型精度到系统可用, 版本可管理、结果可复现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持续学习：追踪大模型前沿, 用工单沉淀个人知识资产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=== 工单 M4.1 故障报告文本分类 · 完成态 ===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语料: data/fault_reports.csv  225 条 · 5 类（仪表气动/传动系统/冷却系统/液压系统/电气系…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流水线: jieba分词+停用词 → TF-IDF → 线性分类器　划分 训练180/测试45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  NB(朴素贝叶斯)      accuracy=1.000   macro-F1=1.000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  LR(逻辑回归)       accuracy=1.000   macro-F1=1.000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对比结论: NB(朴素贝叶斯) macro-F1 最高（1.000）—— 短文本上线性模型已足够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在线演示: 「3号注塑机液压油温升高报警」→ 预测类别「液压系统」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结论: TF-IDF+线性模型即可高精度归类工业短文本；LLM 的价值在开放问答与生成解释（见 M4.2 RAG），二者互补而…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[明细] 分类报告（测试集）: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              precision    recall  f1-score   support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        仪表气动       1.00      1.00      1.00        10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        传动系统       1.00      1.00      1.00         7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ONNX推理结果不一致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对齐预处理（同一scaler/归一化参数）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M4.1任务书——步骤/及格线/评分细则都在里面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分类模型+阈值规则，先自动化易判样本，人只复核疑难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M4.1的技能点即其最小实现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74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微课知识卡：jieba分词+停用词过滤管线（5分钟视频+导学单）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NLP：让机器处理自然语言文本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分词：jieba精确模式切词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停用词：的/了等无信息词需过滤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让机器读懂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故障报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NLP：让机器处理自然语言文本 · 分词：jieba精确模式切词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jieba分词+停用词过滤管线 · TF-IDF向量化(Pipeline防泄漏)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Top10全是虚词 · 测试指标虚高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工单M4.1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74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本周主题：jieba分词+停用词过滤管线——5分钟视频+导学单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74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74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74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TF-IDF中的IDF让什么样的词权重更高？停用词不滤会怎样？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排错题：出现「Top10全是虚词」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原因：停用词没滤；解决：扩充STOP表再统计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NLP：让机器处理自然语言文本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74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知识：NLP：让机器处理自然语言文本；分词：jieba精确模式切词；停用词：的/了等无信息词需过滤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技能：jieba分词+停用词过滤管线；TF-IDF向量化(Pipeline防泄漏)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交付：工单M4.1《工业故障报告自动分类系统》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74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74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下次课预告（第11周）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三版Prompt对比实验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RAG相比纯LLM回答的优势是什么？企业数据合规要注意什么？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