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298" r:id="rId50"/>
    <p:sldId id="303" r:id="rId55"/>
    <p:sldId id="305" r:id="rId57"/>
    <p:sldId id="306" r:id="rId58"/>
    <p:sldId id="307" r:id="rId59"/>
    <p:sldId id="308" r:id="rId60"/>
    <p:sldId id="310" r:id="rId62"/>
    <p:sldId id="314" r:id="rId66"/>
    <p:sldId id="315" r:id="rId67"/>
    <p:sldId id="316" r:id="rId68"/>
    <p:sldId id="317" r:id="rId69"/>
    <p:sldId id="365" r:id="rId80"/>
    <p:sldId id="366" r:id="rId84"/>
    <p:sldId id="318" r:id="rId70"/>
    <p:sldId id="320" r:id="rId72"/>
    <p:sldId id="322" r:id="rId74"/>
    <p:sldId id="324" r:id="rId76"/>
    <p:sldId id="326" r:id="rId78"/>
    <p:sldId id="327" r:id="rId79"/>
    <p:sldId id="329" r:id="rId81"/>
    <p:sldId id="330" r:id="rId82"/>
    <p:sldId id="331" r:id="rId83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3" r:id="rId115"/>
    <p:sldId id="364" r:id="rId1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3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50" Type="http://schemas.openxmlformats.org/officeDocument/2006/relationships/slide" Target="slides/slide27.xml"/><Relationship Id="rId55" Type="http://schemas.openxmlformats.org/officeDocument/2006/relationships/slide" Target="slides/slide28.xml"/><Relationship Id="rId57" Type="http://schemas.openxmlformats.org/officeDocument/2006/relationships/slide" Target="slides/slide29.xml"/><Relationship Id="rId58" Type="http://schemas.openxmlformats.org/officeDocument/2006/relationships/slide" Target="slides/slide30.xml"/><Relationship Id="rId59" Type="http://schemas.openxmlformats.org/officeDocument/2006/relationships/slide" Target="slides/slide31.xml"/><Relationship Id="rId60" Type="http://schemas.openxmlformats.org/officeDocument/2006/relationships/slide" Target="slides/slide32.xml"/><Relationship Id="rId62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37.xml"/><Relationship Id="rId70" Type="http://schemas.openxmlformats.org/officeDocument/2006/relationships/slide" Target="slides/slide40.xml"/><Relationship Id="rId72" Type="http://schemas.openxmlformats.org/officeDocument/2006/relationships/slide" Target="slides/slide41.xml"/><Relationship Id="rId74" Type="http://schemas.openxmlformats.org/officeDocument/2006/relationships/slide" Target="slides/slide42.xml"/><Relationship Id="rId76" Type="http://schemas.openxmlformats.org/officeDocument/2006/relationships/slide" Target="slides/slide43.xml"/><Relationship Id="rId78" Type="http://schemas.openxmlformats.org/officeDocument/2006/relationships/slide" Target="slides/slide44.xml"/><Relationship Id="rId79" Type="http://schemas.openxmlformats.org/officeDocument/2006/relationships/slide" Target="slides/slide45.xml"/><Relationship Id="rId80" Type="http://schemas.openxmlformats.org/officeDocument/2006/relationships/slide" Target="slides/slide38.xml"/><Relationship Id="rId81" Type="http://schemas.openxmlformats.org/officeDocument/2006/relationships/slide" Target="slides/slide46.xml"/><Relationship Id="rId82" Type="http://schemas.openxmlformats.org/officeDocument/2006/relationships/slide" Target="slides/slide47.xml"/><Relationship Id="rId83" Type="http://schemas.openxmlformats.org/officeDocument/2006/relationships/slide" Target="slides/slide48.xml"/><Relationship Id="rId84" Type="http://schemas.openxmlformats.org/officeDocument/2006/relationships/slide" Target="slides/slide39.xml"/><Relationship Id="rId85" Type="http://schemas.openxmlformats.org/officeDocument/2006/relationships/slide" Target="slides/slide49.xml"/><Relationship Id="rId86" Type="http://schemas.openxmlformats.org/officeDocument/2006/relationships/slide" Target="slides/slide50.xml"/><Relationship Id="rId87" Type="http://schemas.openxmlformats.org/officeDocument/2006/relationships/slide" Target="slides/slide51.xml"/><Relationship Id="rId88" Type="http://schemas.openxmlformats.org/officeDocument/2006/relationships/slide" Target="slides/slide52.xml"/><Relationship Id="rId89" Type="http://schemas.openxmlformats.org/officeDocument/2006/relationships/slide" Target="slides/slide53.xml"/><Relationship Id="rId90" Type="http://schemas.openxmlformats.org/officeDocument/2006/relationships/slide" Target="slides/slide54.xml"/><Relationship Id="rId91" Type="http://schemas.openxmlformats.org/officeDocument/2006/relationships/slide" Target="slides/slide55.xml"/><Relationship Id="rId92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5" Type="http://schemas.openxmlformats.org/officeDocument/2006/relationships/slide" Target="slides/slide59.xml"/><Relationship Id="rId96" Type="http://schemas.openxmlformats.org/officeDocument/2006/relationships/slide" Target="slides/slide60.xml"/><Relationship Id="rId97" Type="http://schemas.openxmlformats.org/officeDocument/2006/relationships/slide" Target="slides/slide61.xml"/><Relationship Id="rId98" Type="http://schemas.openxmlformats.org/officeDocument/2006/relationships/slide" Target="slides/slide62.xml"/><Relationship Id="rId99" Type="http://schemas.openxmlformats.org/officeDocument/2006/relationships/slide" Target="slides/slide63.xml"/><Relationship Id="rId100" Type="http://schemas.openxmlformats.org/officeDocument/2006/relationships/slide" Target="slides/slide64.xml"/><Relationship Id="rId101" Type="http://schemas.openxmlformats.org/officeDocument/2006/relationships/slide" Target="slides/slide65.xml"/><Relationship Id="rId102" Type="http://schemas.openxmlformats.org/officeDocument/2006/relationships/slide" Target="slides/slide66.xml"/><Relationship Id="rId103" Type="http://schemas.openxmlformats.org/officeDocument/2006/relationships/slide" Target="slides/slide67.xml"/><Relationship Id="rId104" Type="http://schemas.openxmlformats.org/officeDocument/2006/relationships/slide" Target="slides/slide68.xml"/><Relationship Id="rId105" Type="http://schemas.openxmlformats.org/officeDocument/2006/relationships/slide" Target="slides/slide69.xml"/><Relationship Id="rId106" Type="http://schemas.openxmlformats.org/officeDocument/2006/relationships/slide" Target="slides/slide70.xml"/><Relationship Id="rId107" Type="http://schemas.openxmlformats.org/officeDocument/2006/relationships/slide" Target="slides/slide71.xml"/><Relationship Id="rId108" Type="http://schemas.openxmlformats.org/officeDocument/2006/relationships/slide" Target="slides/slide72.xml"/><Relationship Id="rId109" Type="http://schemas.openxmlformats.org/officeDocument/2006/relationships/slide" Target="slides/slide73.xml"/><Relationship Id="rId110" Type="http://schemas.openxmlformats.org/officeDocument/2006/relationships/slide" Target="slides/slide74.xml"/><Relationship Id="rId111" Type="http://schemas.openxmlformats.org/officeDocument/2006/relationships/slide" Target="slides/slide75.xml"/><Relationship Id="rId115" Type="http://schemas.openxmlformats.org/officeDocument/2006/relationships/slide" Target="slides/slide76.xml"/><Relationship Id="rId116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开场30秒：本次课《给产品做一次视觉体检》，80分钟＝2课时×40分钟。课前已发工单+starter+微课知识卡，资讯·计划线上完成。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质检线来了新任务：一批精密结构件表面划痕/凹坑要全检，卡尺抽检跟不上节拍。林工给你一台工业相机和标定好的像素当量——工单M3.1：让OpenCV自动量出缺陷的毫米数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详解B1·建模五步流：先读定义→场景为什么用它→看代码实例→扩展给A层。C/D层掌握前三格，A层加扩展格。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详解B2·混淆矩阵业务化：先读定义→场景为什么用它→看代码实例→扩展给A层。C/D层掌握前三格，A层加扩展格。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详解B3·F1与交叉验证：先读定义→场景为什么用它→看代码实例→扩展给A层。C/D层掌握前三格，A层加扩展格。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详解B4·推理服务化：先读定义→场景为什么用它→看代码实例→扩展给A层。C/D层掌握前三格，A层加扩展格。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详解B5·warmup与p95：先读定义→场景为什么用它→看代码实例→扩展给A层。C/D层掌握前三格，A层加扩展格。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详解B6·服务健康自检：先读定义→场景为什么用它→看代码实例→扩展给A层。C/D层掌握前三格，A层加扩展格。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现场演示《测量链路核心》：三步走——先整段跑通看结果，再逐行讲关键语句，最后现场改一个参数看输出变化（演10分钟的核心素材）。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现场演示《面积换算(平方!)》：三步走——先整段跑通看结果，再逐行讲关键语句，最后现场改一个参数看输出变化（演10分钟的核心素材）。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工单发布话术：'设备智能运维中心发来工单M3.1《产品表面缺陷尺寸测量系统》，及格线是正，优秀线看A层标准'——念完发starter。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错误速查：现场演示第一条——制造「面积大10倍」，带着学生按'现象→原因→解决'三步排查。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给产品做一次视觉体检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给产品做一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次视觉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数字图像=二维矩阵；灰度图单通道0-255 · 色彩空间：GRAY/RGB/HSV及转换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高斯滤波：抑制噪声、平滑图像 · 阈值分割：灰度差→二值前景/背景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构建预处理链条并可视化中间图 · 阈值策略对比实验(全局/Otsu/自适应)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基础知识线：数字图像=二维矩阵；灰度图单通道0-255；色彩空间：GRAY/RGB/HSV及转换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继续夯实线：高斯滤波：抑制噪声、平滑图像；阈值分割：灰度差→二值前景/背景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技能线：构建预处理链条并可视化中间图；阈值策略对比实验(全局/Otsu/自适应)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M3.1《产品表面缺陷尺寸测量系统》——本课工单即考核单元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目标：理解像素、色彩空间、直方图等图像基础概念；掌握滤波、边缘检测、形态学操作的原理与用途；理解工业视觉系统的架构。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目标：能够使用OpenCV完成图像预处理与缺陷检测，尺寸测量误差&lt;10%（优秀&lt;5%）；能够对检测结果进行标注与可视化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目标：体会机器视觉替代人工目检的质量与效率价值，培养精益求精的检测标准意识。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像素面积350px²、当量0.1mm/px，物理面积是多少mm²？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题目：像素面积350px²、当量0.1mm/px，物理面积是多少mm²？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质检线来了新任务：一批精密结构件表面划痕/凹坑要全检，卡尺抽检跟不上节拍。林工给你一台工业相机和标定好的像素当量——工单M3.1：让OpenCV自动量出缺陷的毫米数。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任务背景：质检线来了新任务：一批精密结构件表面划痕/凹坑要全检，卡尺抽检跟不上节拍。林工给你一台工业相机和标定好的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理解像素、色彩空间、直方图等图像基础概念；掌握滤波、边缘检测、形态学操作的原理与用途；理解工业视觉系统的架构。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能够使用OpenCV完成图像预处理与缺陷检测，尺寸测量误差&lt;10%（优秀&lt;5%）；能够对检测结果进行标注与可视化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体会机器视觉替代人工目检的质量与效率价值，培养精益求精的检测标准意识。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对应工单M3.1评分：功能40%+技术25%+规范20%+素养15%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知识详解：建模五步流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建模五步流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五步流=产线SOP：划分→训练→交叉验证→调参→joblib保存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scikit-learn标准作业程序——顺序即纪律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joblib.dump(model, 'model_v20260926.joblib')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误区：模型文件叫model.pkl——带版本/日期命名，回滚审计全靠它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知识详解：混淆矩阵业务化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混淆矩阵业务化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混淆矩阵=体检报告四格：对角线判对；FN漏检与FP误报代价不对称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故障诊断评估不能只看准确率——错在哪类才关键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FN=漏报真故障(代价高) → 阈值向召回偏移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误区：把混淆矩阵翻译成钱——漏检损失vs误报停机损失，算给业务听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知识详解：F1与交叉验证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F1与交叉验证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F1=精确与召回的调和平均（谁短谁说了算）；CV=5防一次划分运气好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类别不平衡(故障样本少)时的诚实指标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cross_val_score(model, X, y, cv=5).mean()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误区：单次划分90%就报喜——五折均值才有说服力，方差也要报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知识详解：推理服务化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推理服务化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服务化=模型坐上窗口：POST JSON特征进→predict→JSON结论出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模型从notebook走向服务——部署第一步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http.server处理POST /predict，标准库即可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误区：接口没schema约定——请求字段错一个静默出错结论，契约先行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知识详解：warmup与p95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warmup与p95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warmup=发动机热车：首次调用加载模型慢，预热后再测；p95=95%请求的耗时线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延迟验收口径：p95不是平均值——体感由慢请求决定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先curl一次预热，再压100次取95分位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误区：只报平均延迟——1次10秒卡住用户体感，均值全被掩盖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知识详解：服务健康自检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服务健康自检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/health=服务的心电监护：GET返回模型版本与状态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部署后'活着吗'的标准问法——运维可见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{'status':'ok','model':'v20260926'}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误区：health与metrics混一谈——health管活没活，metrics管好不好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构建预处理链条并可视化中间图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阈值策略对比实验(全局/Otsu/自适应)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findContours提取并过滤轮廓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缺陷判型+尺寸换算+画框标注输出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给产品做一次视觉体检（1）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数字图像处理理论（30分钟）：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数字图像基础：像素、分辨率、色彩空间（RGB/GRAY/HSV）；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图像处理操作：滤波去噪、边缘检测（Canny）、形态学操作（腐蚀/膨胀）；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特征提取与描述子概念（HOG、SIFT）；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工业应用：产线自动化检测的典型流程（采集→预处理→分割→测量→判定）。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给产品做一次视觉体检（2）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演示与工单项目M3.1实验：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演示边缘检测、轮廓提取在产线检测中的实时应用；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使用OpenCV读取产品表面图像，进行灰度化、滤波、阈值分割；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轮廓检测与缺陷尺寸（长度、面积）计算，结果标注输出。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关键代码：测量链路核心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blur = cv2.GaussianBlur(img, (5,5), 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_, bw = cv2.threshold(blur, 0, 255,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cv2.THRESH_BINARY_INV + cv2.THRESH_OTSU)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cnts, _ = cv2.findContours(bw, cv2.RETR_EXTERNAL,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cv2.CHAIN_APPROX_SIMPLE)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c in cnts: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cv2.contourArea(c) &lt; 15: continue     # 滤噪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w, h = sorted(cv2.minAreaRect(c)[1])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length_mm = w * 0.1                      # 当量换算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关键代码：面积换算(平方!)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area_px = cv2.contourArea(c)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area_mm2 = area_px * 0.1 ** 2     # 350px²→3.5mm²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决策：阈值策略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划痕检出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凹坑检出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噪点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全局阈值(100)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Otsu自动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自适应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本课决策题：决策：阈值策略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实施任务：工单M3.1《产品表面缺陷尺寸测量系统》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灰度化→滤波→阈值分割→开运算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findContours提取轮廓并过滤噪点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判型(划痕/凹坑)并按当量换算尺寸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画框+文字标注输出结果图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正确检出标注；误差&lt;10%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误差&lt;5%；多缺陷全检出且美观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part_000.png pit 2.24mm2  ×3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工程化项目/m31_surface_vision/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src/surface_vision/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阈值实验体验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改阈值100→80→120看结果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记录检出变化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口述当量换算公式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能说出参数影响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单缺陷测量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跑通预处理链条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测一个缺陷尺寸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输出标注图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误差&lt;10%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完整测量链路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预处理→分割→轮廓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划痕长度/凹坑面积换算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标注图输出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误差&lt;8%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多缺陷全检出+误检归零分析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三种阈值策略各测5件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多缺陷件逐一检出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每个误检写成因分析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误差&lt;5%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多缺陷件全检出+误检率归零，并分析每个误检的成因)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灰度化→滤波→阈值分割→开运算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findContours提取轮廓并过滤噪点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判型(划痕/凹坑)并按当量换算尺寸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画框+文字标注输出结果图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面积换算记得平方：350px²→3.5mm²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轮廓用RETR_EXTERNAL避免内轮廓重复计数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阈值方向：缺陷暗背景亮→用THRESH_BINARY_INV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面积大10倍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当量没平方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×0.1²而不是×0.1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轮廓重复计数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用了RETR_TREE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改RETR_EXTERNAL只要外轮廓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阈值后全黑/全白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方向反了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暗缺陷用BINARY_INV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D·学徒（≥60）：阈值实验体验——跟做保底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C·操作员（≥70）：单缺陷测量——基础完成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B·组长（≥80）：完整测量链路——标准达成+帮带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A·师傅（≥90）：多缺陷全检出+误检归零分析——进阶拓展+费曼讲解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步骤1：灰度化→滤波→阈值分割→开运算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步骤2：findContours提取轮廓并过滤噪点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步骤3：判型(划痕/凹坑)并按当量换算尺寸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步骤4：画框+文字标注输出结果图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完成工单项目M3.1《产品表面缺陷尺寸测量系统》：正确检测并标注缺陷，测量误差&lt;10%，优秀标准&lt;5%且结果美观清晰；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记录不同滤波参数下的处理效果对比；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预习YOLO物体检测的基本概念。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part_000.png pit 2.24mm2  ×3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微课知识卡：构建预处理链条并可视化中间图（5分钟视频+导学单）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数字图像=二维矩阵；灰度图单通道0-255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色彩空间：GRAY/RGB/HSV及转换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高斯滤波：抑制噪声、平滑图像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给产品做一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次视觉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数字图像=二维矩阵；灰度图单通道0-255 · 色彩空间：GRAY/RGB/HSV及转换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构建预处理链条并可视化中间图 · 阈值策略对比实验(全局/Otsu/自适应)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面积大10倍 · 轮廓重复计数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工单M3.1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本周主题：构建预处理链条并可视化中间图——5分钟视频+导学单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像素面积350px²、当量0.1mm/px，物理面积是多少mm²？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排错题：出现「面积大10倍」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原因：当量没平方；解决：×0.1²而不是×0.1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数字图像=二维矩阵；灰度图单通道0-255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知识：数字图像=二维矩阵；灰度图单通道0-25；色彩空间：GRAY/RGB/HSV及转换；高斯滤波：抑制噪声、平滑图像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技能：构建预处理链条并可视化中间图；阈值策略对比实验(全局/Otsu/自适应)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交付：工单M3.1《产品表面缺陷尺寸测量系统》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加载本地权重执行CPU推理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置信度阈值调高，漏检与误检各怎么变？你的机器CPU单帧约多少ms？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