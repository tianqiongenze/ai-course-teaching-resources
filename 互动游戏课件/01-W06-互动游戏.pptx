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914400"/>
            <a:ext cx="10515600" cy="1737360"/>
          </a:xfrm>
          <a:prstGeom prst="roundRect">
            <a:avLst/>
          </a:prstGeom>
          <a:solidFill>
            <a:srgbClr val="3D2E8C"/>
          </a:solidFill>
          <a:ln w="15240">
            <a:solidFill>
              <a:srgbClr val="3D2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1143000"/>
            <a:ext cx="9875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微软雅黑"/>
              </a:rPr>
              <a:t>01 · W06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1783080"/>
            <a:ext cx="9875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微软雅黑"/>
              </a:rPr>
              <a:t>互动游戏课件 · 看得懂缺陷的神经网络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2608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3D2E8C"/>
                </a:solidFill>
                <a:latin typeface="微软雅黑"/>
              </a:rPr>
              <a:t>本课重难点：CNN看图三要素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49039"/>
            <a:ext cx="105156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>本册含 2 个课堂互动游戏 + 答案讲评 + 复盘口诀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>教师操作要点见右侧提示（每题标注时间与计分）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7607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44546A"/>
                </a:solidFill>
                <a:latin typeface="微软雅黑"/>
              </a:rPr>
              <a:t>配套教师手册：互动游戏教师手册.md ｜ 与工单、工程化项目同一载体：重庆两江智造集团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3D2E8C"/>
          </a:solidFill>
          <a:ln w="15240">
            <a:solidFill>
              <a:srgbClr val="3D2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游戏1 · ?  课前快问｜W06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10328"/>
                </a:solidFill>
                <a:latin typeface="微软雅黑"/>
              </a:rPr>
              <a:t>CNN '看图'的核心步骤顺序是？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34640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微软雅黑"/>
              </a:rPr>
              <a:t>选项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004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A 卷积→池化→全连接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858768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B 全连接→卷积→池化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517136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C 池化→全连接→卷积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175504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D 卷积→全连接→池化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760720"/>
            <a:ext cx="10515600" cy="822960"/>
          </a:xfrm>
          <a:prstGeom prst="roundRect">
            <a:avLst/>
          </a:prstGeom>
          <a:solidFill>
            <a:srgbClr val="FAEEDA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5216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010328"/>
                </a:solidFill>
                <a:latin typeface="微软雅黑"/>
              </a:rPr>
              <a:t>教师操作：快问快答，答错不扣分只纠正——新课引入不宜打击。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F5670F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游戏1 答案与讲评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993C1D"/>
                </a:solidFill>
                <a:latin typeface="微软雅黑"/>
              </a:rPr>
              <a:t>正确答案：A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60320"/>
            <a:ext cx="10515600" cy="2011680"/>
          </a:xfrm>
          <a:prstGeom prst="roundRect">
            <a:avLst/>
          </a:prstGeom>
          <a:solidFill>
            <a:srgbClr val="EAF3DE"/>
          </a:solidFill>
          <a:ln w="15240">
            <a:solidFill>
              <a:srgbClr val="3B6D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743200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为什么是这个答案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卷积提取局部特征→池化降维→全连接分类。本课用块统计特征模拟'看图'下限。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93776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4546A"/>
                </a:solidFill>
                <a:latin typeface="微软雅黑"/>
              </a:rPr>
              <a:t>评分建议：答对+2分；答错不扣分但需说出理由；思路对一半+1分。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3D2E8C"/>
          </a:solidFill>
          <a:ln w="15240">
            <a:solidFill>
              <a:srgbClr val="3D2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游戏2 · ↔ 连线配对｜W06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10328"/>
                </a:solidFill>
                <a:latin typeface="微软雅黑"/>
              </a:rPr>
              <a:t>把'缺陷类型'与'视觉特征'连线：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34640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微软雅黑"/>
              </a:rPr>
              <a:t>选项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004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A 气孔↔亮块比例高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858768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B 裂纹↔暗线比例高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517136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C 正常↔特征均衡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175504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D 以上全对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760720"/>
            <a:ext cx="10515600" cy="822960"/>
          </a:xfrm>
          <a:prstGeom prst="roundRect">
            <a:avLst/>
          </a:prstGeom>
          <a:solidFill>
            <a:srgbClr val="FAEEDA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5216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010328"/>
                </a:solidFill>
                <a:latin typeface="微软雅黑"/>
              </a:rPr>
              <a:t>教师操作：口述连线：先让2组抢答，再全班核对。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F5670F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游戏2 答案与讲评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993C1D"/>
                </a:solidFill>
                <a:latin typeface="微软雅黑"/>
              </a:rPr>
              <a:t>正确答案：D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60320"/>
            <a:ext cx="10515600" cy="2011680"/>
          </a:xfrm>
          <a:prstGeom prst="roundRect">
            <a:avLst/>
          </a:prstGeom>
          <a:solidFill>
            <a:srgbClr val="EAF3DE"/>
          </a:solidFill>
          <a:ln w="15240">
            <a:solidFill>
              <a:srgbClr val="3B6D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743200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为什么是这个答案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亮块/暗线/最大亮值三特征正好对应气孔/裂纹/正常——这就是特征设计的起点。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93776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4546A"/>
                </a:solidFill>
                <a:latin typeface="微软雅黑"/>
              </a:rPr>
              <a:t>评分建议：答对+2分；答错不扣分但需说出理由；思路对一半+1分。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3D2E8C"/>
          </a:solidFill>
          <a:ln w="15240">
            <a:solidFill>
              <a:srgbClr val="3D2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复盘口诀｜W06 看得懂缺陷的神经网络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37360"/>
            <a:ext cx="10515600" cy="3108960"/>
          </a:xfrm>
          <a:prstGeom prst="roundRect">
            <a:avLst/>
          </a:prstGeom>
          <a:solidFill>
            <a:srgbClr val="F1EFE8"/>
          </a:solidFill>
          <a:ln w="15240">
            <a:solidFill>
              <a:srgbClr val="3D2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920240"/>
            <a:ext cx="100584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一句话记住本课：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CNN看图三要素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课堂节奏建议：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游戏A（5分钟）→ 精讲 → 游戏B（5分钟）→ 复盘口诀（2分钟）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全班计分：小组积分累计到工单评分（游戏加分≤5分，教师自定义）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>
                <a:solidFill>
                  <a:srgbClr val="3D2E8C"/>
                </a:solidFill>
                <a:latin typeface="微软雅黑"/>
              </a:rPr>
              <a:t>玩中学 · 学中做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749039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>重庆两江智造集团 · 01-AI应用基础 · W06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432000"/>
            <a:ext cx="8100000" cy="57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1"/>
              <a:t>安全与合规警示（操作前必读）</a:t>
            </a:r>
          </a:p>
          <a:p>
            <a:pPr>
              <a:spcAft>
                <a:spcPts val="800"/>
              </a:spcAft>
            </a:pPr>
            <a:r>
              <a:rPr sz="1400" b="0"/>
              <a:t>1. 上机前确认本工位电源开关与急停位置，确认设备处于安全状态。</a:t>
            </a:r>
          </a:p>
          <a:p>
            <a:pPr>
              <a:spcAft>
                <a:spcPts val="800"/>
              </a:spcAft>
            </a:pPr>
            <a:r>
              <a:rPr sz="1400" b="0"/>
              <a:t>2. 涉及接线的操作一律先断电、后验电、再作业，禁止带电插拔。</a:t>
            </a:r>
          </a:p>
          <a:p>
            <a:pPr>
              <a:spcAft>
                <a:spcPts val="800"/>
              </a:spcAft>
            </a:pPr>
            <a:r>
              <a:rPr sz="1400" b="0"/>
              <a:t>3. 身体任何部位不进入设备运动/散热区域，长发束起，不佩戴悬垂饰物。</a:t>
            </a:r>
          </a:p>
          <a:p>
            <a:pPr>
              <a:spcAft>
                <a:spcPts val="800"/>
              </a:spcAft>
            </a:pPr>
            <a:r>
              <a:rPr sz="1400" b="0"/>
              <a:t>4. 调试程序前先静态检查、再低速小样本试运行，确认无异常后放大规模。</a:t>
            </a:r>
          </a:p>
          <a:p>
            <a:pPr>
              <a:spcAft>
                <a:spcPts val="800"/>
              </a:spcAft>
            </a:pPr>
            <a:r>
              <a:rPr sz="1400" b="0"/>
              <a:t>5. 任何不确定或异常情况，立即停止操作并报告指导教师，不擅自处置。</a:t>
            </a:r>
          </a:p>
          <a:p>
            <a:pPr>
              <a:spcAft>
                <a:spcPts val="800"/>
              </a:spcAft>
            </a:pPr>
            <a:r>
              <a:rPr sz="1400" b="0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