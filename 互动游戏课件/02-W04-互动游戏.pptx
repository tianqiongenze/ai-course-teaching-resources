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914400"/>
            <a:ext cx="10515600" cy="1737360"/>
          </a:xfrm>
          <a:prstGeom prst="roundRect">
            <a:avLst/>
          </a:prstGeom>
          <a:solidFill>
            <a:srgbClr val="14477D"/>
          </a:solidFill>
          <a:ln w="15240">
            <a:solidFill>
              <a:srgbClr val="144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1143000"/>
            <a:ext cx="9875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微软雅黑"/>
              </a:rPr>
              <a:t>02 · W04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783080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互动游戏课件 · 从图纸到对象：设备建模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14477D"/>
                </a:solidFill>
                <a:latin typeface="微软雅黑"/>
              </a:rPr>
              <a:t>本课重难点：对象=数据+行为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49039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本册含 2 个课堂互动游戏 + 答案讲评 + 复盘口诀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教师操作要点见右侧提示（每题标注时间与计分）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4546A"/>
                </a:solidFill>
                <a:latin typeface="微软雅黑"/>
              </a:rPr>
              <a:t>配套教师手册：互动游戏教师手册.md ｜ 与工单、工程化项目同一载体：重庆两江智造集团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14477D"/>
          </a:solidFill>
          <a:ln w="15240">
            <a:solidFill>
              <a:srgbClr val="144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· ?  课前快问｜W04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把'温度/压力/转速'和'启动/停止/巡检'放进一个类，分别属于？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温度等是属性(数据)，启动等是方法(行为)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全是方法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全是属性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放不进去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教师操作：快问；追问：为什么禁止重复启动？→业务规则进类。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对象=状态(属性)+行为(方法)。这是面向对象的第一性原理。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14477D"/>
          </a:solidFill>
          <a:ln w="15240">
            <a:solidFill>
              <a:srgbClr val="144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· ✓✗ 举牌判断｜W04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设备已运行，再调 start() 应被拒绝（业务规则）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对——类内实现业务校验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错——随便调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只在main里检查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无所谓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教师操作：表决后强调：规则进类，而不是散落在调用处。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把'禁止重复启动'写进方法=行为与状态自洽，调用方无需记忆规则。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14477D"/>
          </a:solidFill>
          <a:ln w="15240">
            <a:solidFill>
              <a:srgbClr val="144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复盘口诀｜W04 从图纸到对象：设备建模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37360"/>
            <a:ext cx="10515600" cy="3108960"/>
          </a:xfrm>
          <a:prstGeom prst="roundRect">
            <a:avLst/>
          </a:prstGeom>
          <a:solidFill>
            <a:srgbClr val="F1EFE8"/>
          </a:solidFill>
          <a:ln w="15240">
            <a:solidFill>
              <a:srgbClr val="144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100584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一句话记住本课：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对象=数据+行为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课堂节奏建议：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游戏A（5分钟）→ 精讲 → 游戏B（5分钟）→ 复盘口诀（2分钟）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全班计分：小组积分累计到工单评分（游戏加分≤5分，教师自定义）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14477D"/>
                </a:solidFill>
                <a:latin typeface="微软雅黑"/>
              </a:rPr>
              <a:t>玩中学 · 学中做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749039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重庆两江智造集团 · 02-程序设计基础 · W04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432000"/>
            <a:ext cx="8100000" cy="5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/>
              <a:t>安全与合规警示（操作前必读）</a:t>
            </a:r>
          </a:p>
          <a:p>
            <a:pPr>
              <a:spcAft>
                <a:spcPts val="800"/>
              </a:spcAft>
            </a:pPr>
            <a:r>
              <a:rPr sz="1400" b="0"/>
              <a:t>1. 上机前确认本工位电源开关与急停位置，确认设备处于安全状态。</a:t>
            </a:r>
          </a:p>
          <a:p>
            <a:pPr>
              <a:spcAft>
                <a:spcPts val="800"/>
              </a:spcAft>
            </a:pPr>
            <a:r>
              <a:rPr sz="1400" b="0"/>
              <a:t>2. 涉及接线的操作一律先断电、后验电、再作业，禁止带电插拔。</a:t>
            </a:r>
          </a:p>
          <a:p>
            <a:pPr>
              <a:spcAft>
                <a:spcPts val="800"/>
              </a:spcAft>
            </a:pPr>
            <a:r>
              <a:rPr sz="1400" b="0"/>
              <a:t>3. 身体任何部位不进入设备运动/散热区域，长发束起，不佩戴悬垂饰物。</a:t>
            </a:r>
          </a:p>
          <a:p>
            <a:pPr>
              <a:spcAft>
                <a:spcPts val="800"/>
              </a:spcAft>
            </a:pPr>
            <a:r>
              <a:rPr sz="1400" b="0"/>
              <a:t>4. 调试程序前先静态检查、再低速小样本试运行，确认无异常后放大规模。</a:t>
            </a:r>
          </a:p>
          <a:p>
            <a:pPr>
              <a:spcAft>
                <a:spcPts val="800"/>
              </a:spcAft>
            </a:pPr>
            <a:r>
              <a:rPr sz="1400" b="0"/>
              <a:t>5. 任何不确定或异常情况，立即停止操作并报告指导教师，不擅自处置。</a:t>
            </a:r>
          </a:p>
          <a:p>
            <a:pPr>
              <a:spcAft>
                <a:spcPts val="800"/>
              </a:spcAft>
            </a:pPr>
            <a:r>
              <a:rPr sz="1400" b="0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