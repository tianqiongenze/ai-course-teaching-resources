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914400"/>
            <a:ext cx="10515600" cy="173736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88720" y="1143000"/>
            <a:ext cx="9875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03 · W03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9875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互动游戏课件 · 用Pandas清洗数据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0B5E54"/>
                </a:solidFill>
                <a:latin typeface="微软雅黑"/>
              </a:rPr>
              <a:t>本课重难点：分层·规则外置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本册含 2 个课堂互动游戏 + 答案讲评 + 复盘口诀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教师操作要点见右侧提示（每题标注时间与计分）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4546A"/>
                </a:solidFill>
                <a:latin typeface="微软雅黑"/>
              </a:rPr>
              <a:t>配套教师手册：互动游戏教师手册.md ｜ 与工单、工程化项目同一载体：重庆两江智造集团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· ?  课前快问｜W03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清洗规则（如'温度上限85'）应该放在哪里？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5E54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config/rules.yaml（规则外置）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散落在清洗函数里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写在注释里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不写出来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教师操作：追问：需求方想改上限，改哪里最安全？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游戏1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改规则只改1行YAML=规则外置，代码不动。可配置化=工程化。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· ◎ 火眼找茬｜W03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10328"/>
                </a:solidFill>
                <a:latin typeface="微软雅黑"/>
              </a:rPr>
              <a:t>下面哪处'重复'是清洗该做的？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5E54"/>
                </a:solidFill>
                <a:latin typeface="微软雅黑"/>
              </a:rPr>
              <a:t>选项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A 同秒同值重复采集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587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B 两个传感器量纲不同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C 正常噪声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D 缺测一条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760720"/>
            <a:ext cx="10515600" cy="822960"/>
          </a:xfrm>
          <a:prstGeom prst="roundRect">
            <a:avLst/>
          </a:prstGeom>
          <a:solidFill>
            <a:srgbClr val="FAEEDA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教师操作：找茬+2分，讲清'去重'与'换算'分工。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F5670F"/>
          </a:solidFill>
          <a:ln w="15240">
            <a:solidFill>
              <a:srgbClr val="F567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游戏2 答案与讲评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93C1D"/>
                </a:solidFill>
                <a:latin typeface="微软雅黑"/>
              </a:rPr>
              <a:t>正确答案：A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60320"/>
            <a:ext cx="10515600" cy="2011680"/>
          </a:xfrm>
          <a:prstGeom prst="roundRect">
            <a:avLst/>
          </a:prstGeom>
          <a:solidFill>
            <a:srgbClr val="EAF3DE"/>
          </a:solidFill>
          <a:ln w="15240">
            <a:solidFill>
              <a:srgbClr val="3B6D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74320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为什么是这个答案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010328"/>
                </a:solidFill>
                <a:latin typeface="微软雅黑"/>
              </a:rPr>
              <a:t>重复=信息冗余可去重；量纲不同要换算不是清洗。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4546A"/>
                </a:solidFill>
                <a:latin typeface="微软雅黑"/>
              </a:rPr>
              <a:t>评分建议：答对+2分；答错不扣分但需说出理由；思路对一半+1分。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64240" cy="914400"/>
          </a:xfrm>
          <a:prstGeom prst="roundRect">
            <a:avLst/>
          </a:prstGeom>
          <a:solidFill>
            <a:srgbClr val="0B5E54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复盘口诀｜W03 用Pandas清洗数据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37360"/>
            <a:ext cx="10515600" cy="3108960"/>
          </a:xfrm>
          <a:prstGeom prst="roundRect">
            <a:avLst/>
          </a:prstGeom>
          <a:solidFill>
            <a:srgbClr val="F1EFE8"/>
          </a:solidFill>
          <a:ln w="15240">
            <a:solidFill>
              <a:srgbClr val="0B5E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100584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一句话记住本课：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分层·规则外置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课堂节奏建议：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游戏A（5分钟）→ 精讲 → 游戏B（5分钟）→ 复盘口诀（2分钟）</a:t>
            </a:r>
          </a:p>
          <a:p>
            <a:pPr algn="l">
              <a:lnSpc>
                <a:spcPct val="100000"/>
              </a:lnSpc>
            </a:pPr>
            <a:r>
              <a:rPr sz="1600" b="0">
                <a:solidFill>
                  <a:srgbClr val="010328"/>
                </a:solidFill>
                <a:latin typeface="微软雅黑"/>
              </a:rPr>
              <a:t>全班计分：小组积分累计到工单评分（游戏加分≤5分，教师自定义）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F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B5E54"/>
                </a:solidFill>
                <a:latin typeface="微软雅黑"/>
              </a:rPr>
              <a:t>玩中学 · 学中做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4546A"/>
                </a:solidFill>
                <a:latin typeface="微软雅黑"/>
              </a:rPr>
              <a:t>重庆两江智造集团 · 03-Python程序设计-项目实战 · W03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8100000" cy="5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/>
              <a:t>安全与合规警示（操作前必读）</a:t>
            </a:r>
          </a:p>
          <a:p>
            <a:pPr>
              <a:spcAft>
                <a:spcPts val="800"/>
              </a:spcAft>
            </a:pPr>
            <a:r>
              <a:rPr sz="1400" b="0"/>
              <a:t>1. 上机前确认本工位电源开关与急停位置，确认设备处于安全状态。</a:t>
            </a:r>
          </a:p>
          <a:p>
            <a:pPr>
              <a:spcAft>
                <a:spcPts val="800"/>
              </a:spcAft>
            </a:pPr>
            <a:r>
              <a:rPr sz="1400" b="0"/>
              <a:t>2. 涉及接线的操作一律先断电、后验电、再作业，禁止带电插拔。</a:t>
            </a:r>
          </a:p>
          <a:p>
            <a:pPr>
              <a:spcAft>
                <a:spcPts val="800"/>
              </a:spcAft>
            </a:pPr>
            <a:r>
              <a:rPr sz="1400" b="0"/>
              <a:t>3. 身体任何部位不进入设备运动/散热区域，长发束起，不佩戴悬垂饰物。</a:t>
            </a:r>
          </a:p>
          <a:p>
            <a:pPr>
              <a:spcAft>
                <a:spcPts val="800"/>
              </a:spcAft>
            </a:pPr>
            <a:r>
              <a:rPr sz="1400" b="0"/>
              <a:t>4. 调试程序前先静态检查、再低速小样本试运行，确认无异常后放大规模。</a:t>
            </a:r>
          </a:p>
          <a:p>
            <a:pPr>
              <a:spcAft>
                <a:spcPts val="800"/>
              </a:spcAft>
            </a:pPr>
            <a:r>
              <a:rPr sz="1400" b="0"/>
              <a:t>5. 任何不确定或异常情况，立即停止操作并报告指导教师，不擅自处置。</a:t>
            </a:r>
          </a:p>
          <a:p>
            <a:pPr>
              <a:spcAft>
                <a:spcPts val="800"/>
              </a:spcAft>
            </a:pPr>
            <a:r>
              <a:rPr sz="1400" b="0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