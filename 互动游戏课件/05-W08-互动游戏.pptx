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914400"/>
            <a:ext cx="10515600" cy="1737360"/>
          </a:xfrm>
          <a:prstGeom prst="roundRect">
            <a:avLst/>
          </a:prstGeom>
          <a:solidFill>
            <a:srgbClr val="00A6A6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14300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05 · W08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830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互动游戏课件 · MLP神经网络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00A6A6"/>
                </a:solidFill>
                <a:latin typeface="微软雅黑"/>
              </a:rPr>
              <a:t>本课重难点：收敛·过拟合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本册含 2 个课堂互动游戏 + 答案讲评 + 复盘口诀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教师操作要点见右侧提示（每题标注时间与计分）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4546A"/>
                </a:solidFill>
                <a:latin typeface="微软雅黑"/>
              </a:rPr>
              <a:t>配套教师手册：互动游戏教师手册.md ｜ 与工单、工程化项目同一载体：重庆两江智造集团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0A6A6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· ?  课前快问｜W08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训练损失降、验证损失反升，是？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A6A6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过拟合（泛化变差）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欠拟合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正常现象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数据错了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教师操作：先给曲线图让判断，再揭晓'早停'。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验证升=模型记住训练集细节，泛化下降——早停的正当时机。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0A6A6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· ⚡ 抢答风暴｜W08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快速抢答：防止过拟合的两种手段？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A6A6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早停/正则化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多训练几轮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加大学习率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换更多层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教师操作：抢答+2分，强调'看曲线不是看准确率'。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早停=验证不再降就停；正则=惩罚过大的权重。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0A6A6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复盘口诀｜W08 MLP神经网络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0515600" cy="3108960"/>
          </a:xfrm>
          <a:prstGeom prst="roundRect">
            <a:avLst/>
          </a:prstGeom>
          <a:solidFill>
            <a:srgbClr val="F1EFE8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一句话记住本课：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收敛·过拟合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课堂节奏建议：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游戏A（5分钟）→ 精讲 → 游戏B（5分钟）→ 复盘口诀（2分钟）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全班计分：小组积分累计到工单评分（游戏加分≤5分，教师自定义）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00A6A6"/>
                </a:solidFill>
                <a:latin typeface="微软雅黑"/>
              </a:rPr>
              <a:t>玩中学 · 学中做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重庆两江智造集团 · 05-AI应用基础48课时版 · W08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432000"/>
            <a:ext cx="8100000" cy="5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/>
              <a:t>安全与合规警示（操作前必读）</a:t>
            </a:r>
          </a:p>
          <a:p>
            <a:pPr>
              <a:spcAft>
                <a:spcPts val="800"/>
              </a:spcAft>
            </a:pPr>
            <a:r>
              <a:rPr sz="1400" b="0"/>
              <a:t>1. 上机前确认本工位电源开关与急停位置，确认设备处于安全状态。</a:t>
            </a:r>
          </a:p>
          <a:p>
            <a:pPr>
              <a:spcAft>
                <a:spcPts val="800"/>
              </a:spcAft>
            </a:pPr>
            <a:r>
              <a:rPr sz="1400" b="0"/>
              <a:t>2. 涉及接线的操作一律先断电、后验电、再作业，禁止带电插拔。</a:t>
            </a:r>
          </a:p>
          <a:p>
            <a:pPr>
              <a:spcAft>
                <a:spcPts val="800"/>
              </a:spcAft>
            </a:pPr>
            <a:r>
              <a:rPr sz="1400" b="0"/>
              <a:t>3. 身体任何部位不进入设备运动/散热区域，长发束起，不佩戴悬垂饰物。</a:t>
            </a:r>
          </a:p>
          <a:p>
            <a:pPr>
              <a:spcAft>
                <a:spcPts val="800"/>
              </a:spcAft>
            </a:pPr>
            <a:r>
              <a:rPr sz="1400" b="0"/>
              <a:t>4. 调试程序前先静态检查、再低速小样本试运行，确认无异常后放大规模。</a:t>
            </a:r>
          </a:p>
          <a:p>
            <a:pPr>
              <a:spcAft>
                <a:spcPts val="800"/>
              </a:spcAft>
            </a:pPr>
            <a:r>
              <a:rPr sz="1400" b="0"/>
              <a:t>5. 任何不确定或异常情况，立即停止操作并报告指导教师，不擅自处置。</a:t>
            </a:r>
          </a:p>
          <a:p>
            <a:pPr>
              <a:spcAft>
                <a:spcPts val="800"/>
              </a:spcAft>
            </a:pPr>
            <a:r>
              <a:rPr sz="1400" b="0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