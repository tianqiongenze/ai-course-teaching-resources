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EF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822960" y="914400"/>
            <a:ext cx="10515600" cy="1737360"/>
          </a:xfrm>
          <a:prstGeom prst="roundRect">
            <a:avLst/>
          </a:prstGeom>
          <a:solidFill>
            <a:srgbClr val="00A6A6"/>
          </a:solidFill>
          <a:ln w="15240"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88720" y="1143000"/>
            <a:ext cx="98755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微软雅黑"/>
              </a:rPr>
              <a:t>05 · W04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1783080"/>
            <a:ext cx="98755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FFFFFF"/>
                </a:solidFill>
                <a:latin typeface="微软雅黑"/>
              </a:rPr>
              <a:t>互动游戏课件 · 数据清洗与质量评估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926080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>
                <a:solidFill>
                  <a:srgbClr val="00A6A6"/>
                </a:solidFill>
                <a:latin typeface="微软雅黑"/>
              </a:rPr>
              <a:t>本课重难点：双解互验·质量分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749039"/>
            <a:ext cx="10515600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44546A"/>
                </a:solidFill>
                <a:latin typeface="微软雅黑"/>
              </a:rPr>
              <a:t>本册含 2 个课堂互动游戏 + 答案讲评 + 复盘口诀</a:t>
            </a:r>
          </a:p>
          <a:p>
            <a:pPr algn="l">
              <a:lnSpc>
                <a:spcPct val="100000"/>
              </a:lnSpc>
            </a:pPr>
            <a:r>
              <a:rPr sz="1400" b="0">
                <a:solidFill>
                  <a:srgbClr val="44546A"/>
                </a:solidFill>
                <a:latin typeface="微软雅黑"/>
              </a:rPr>
              <a:t/>
            </a:r>
          </a:p>
          <a:p>
            <a:pPr algn="l">
              <a:lnSpc>
                <a:spcPct val="100000"/>
              </a:lnSpc>
            </a:pPr>
            <a:r>
              <a:rPr sz="1400" b="0">
                <a:solidFill>
                  <a:srgbClr val="44546A"/>
                </a:solidFill>
                <a:latin typeface="微软雅黑"/>
              </a:rPr>
              <a:t>教师操作要点见右侧提示（每题标注时间与计分）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576072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44546A"/>
                </a:solidFill>
                <a:latin typeface="微软雅黑"/>
              </a:rPr>
              <a:t>配套教师手册：互动游戏教师手册.md ｜ 与工单、工程化项目同一载体：重庆两江智造集团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EF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457200"/>
            <a:ext cx="11064240" cy="914400"/>
          </a:xfrm>
          <a:prstGeom prst="roundRect">
            <a:avLst/>
          </a:prstGeom>
          <a:solidFill>
            <a:srgbClr val="00A6A6"/>
          </a:solidFill>
          <a:ln w="15240"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94360"/>
            <a:ext cx="8686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微软雅黑"/>
              </a:rPr>
              <a:t>游戏1 · ?  课前快问｜W04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645920"/>
            <a:ext cx="105156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010328"/>
                </a:solidFill>
                <a:latin typeface="微软雅黑"/>
              </a:rPr>
              <a:t>同一份脏数据，纯Python和Pandas两种写法，结果应？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834640"/>
            <a:ext cx="3657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0A6A6"/>
                </a:solidFill>
                <a:latin typeface="微软雅黑"/>
              </a:rPr>
              <a:t>选项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200400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>
                <a:solidFill>
                  <a:srgbClr val="010328"/>
                </a:solidFill>
                <a:latin typeface="微软雅黑"/>
              </a:rPr>
              <a:t>A 同口径同结果（双解互验）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858768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>
                <a:solidFill>
                  <a:srgbClr val="010328"/>
                </a:solidFill>
                <a:latin typeface="微软雅黑"/>
              </a:rPr>
              <a:t>B 必须不同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4517136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>
                <a:solidFill>
                  <a:srgbClr val="010328"/>
                </a:solidFill>
                <a:latin typeface="微软雅黑"/>
              </a:rPr>
              <a:t>C 只信Pandas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5175504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>
                <a:solidFill>
                  <a:srgbClr val="010328"/>
                </a:solidFill>
                <a:latin typeface="微软雅黑"/>
              </a:rPr>
              <a:t>D 无所谓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5760720"/>
            <a:ext cx="10515600" cy="822960"/>
          </a:xfrm>
          <a:prstGeom prst="roundRect">
            <a:avLst/>
          </a:prstGeom>
          <a:solidFill>
            <a:srgbClr val="FAEEDA"/>
          </a:solidFill>
          <a:ln w="15240">
            <a:solidFill>
              <a:srgbClr val="F567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5852160"/>
            <a:ext cx="100584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010328"/>
                </a:solidFill>
                <a:latin typeface="微软雅黑"/>
              </a:rPr>
              <a:t>教师操作：追问：结果不一致时信谁？→先找口径差异。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EF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457200"/>
            <a:ext cx="11064240" cy="914400"/>
          </a:xfrm>
          <a:prstGeom prst="roundRect">
            <a:avLst/>
          </a:prstGeom>
          <a:solidFill>
            <a:srgbClr val="F5670F"/>
          </a:solidFill>
          <a:ln w="15240">
            <a:solidFill>
              <a:srgbClr val="F567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94360"/>
            <a:ext cx="8686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微软雅黑"/>
              </a:rPr>
              <a:t>游戏1 答案与讲评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645920"/>
            <a:ext cx="105156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993C1D"/>
                </a:solidFill>
                <a:latin typeface="微软雅黑"/>
              </a:rPr>
              <a:t>正确答案：A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2560320"/>
            <a:ext cx="10515600" cy="2011680"/>
          </a:xfrm>
          <a:prstGeom prst="roundRect">
            <a:avLst/>
          </a:prstGeom>
          <a:solidFill>
            <a:srgbClr val="EAF3DE"/>
          </a:solidFill>
          <a:ln w="15240">
            <a:solidFill>
              <a:srgbClr val="3B6D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743200"/>
            <a:ext cx="10058400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010328"/>
                </a:solidFill>
                <a:latin typeface="微软雅黑"/>
              </a:rPr>
              <a:t>为什么是这个答案</a:t>
            </a:r>
          </a:p>
          <a:p>
            <a:pPr algn="l">
              <a:lnSpc>
                <a:spcPct val="100000"/>
              </a:lnSpc>
            </a:pPr>
            <a:r>
              <a:rPr sz="1500" b="0">
                <a:solidFill>
                  <a:srgbClr val="010328"/>
                </a:solidFill>
                <a:latin typeface="微软雅黑"/>
              </a:rPr>
              <a:t/>
            </a:r>
          </a:p>
          <a:p>
            <a:pPr algn="l">
              <a:lnSpc>
                <a:spcPct val="100000"/>
              </a:lnSpc>
            </a:pPr>
            <a:r>
              <a:rPr sz="1500" b="0">
                <a:solidFill>
                  <a:srgbClr val="010328"/>
                </a:solidFill>
                <a:latin typeface="微软雅黑"/>
              </a:rPr>
              <a:t>双解互验=两种实现结果一致才可信，防止单实现暗坑。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937760"/>
            <a:ext cx="105156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44546A"/>
                </a:solidFill>
                <a:latin typeface="微软雅黑"/>
              </a:rPr>
              <a:t>评分建议：答对+2分；答错不扣分但需说出理由；思路对一半+1分。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EF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457200"/>
            <a:ext cx="11064240" cy="914400"/>
          </a:xfrm>
          <a:prstGeom prst="roundRect">
            <a:avLst/>
          </a:prstGeom>
          <a:solidFill>
            <a:srgbClr val="00A6A6"/>
          </a:solidFill>
          <a:ln w="15240"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94360"/>
            <a:ext cx="8686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微软雅黑"/>
              </a:rPr>
              <a:t>游戏2 · ◎ 火眼找茬｜W04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645920"/>
            <a:ext cx="105156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010328"/>
                </a:solidFill>
                <a:latin typeface="微软雅黑"/>
              </a:rPr>
              <a:t>清洗完要交付的'质量分'应包含什么？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834640"/>
            <a:ext cx="3657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0A6A6"/>
                </a:solidFill>
                <a:latin typeface="微软雅黑"/>
              </a:rPr>
              <a:t>选项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200400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>
                <a:solidFill>
                  <a:srgbClr val="010328"/>
                </a:solidFill>
                <a:latin typeface="微软雅黑"/>
              </a:rPr>
              <a:t>A 完整率×合理率（可量化）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858768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>
                <a:solidFill>
                  <a:srgbClr val="010328"/>
                </a:solidFill>
                <a:latin typeface="微软雅黑"/>
              </a:rPr>
              <a:t>B 只写'已清洗'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4517136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>
                <a:solidFill>
                  <a:srgbClr val="010328"/>
                </a:solidFill>
                <a:latin typeface="微软雅黑"/>
              </a:rPr>
              <a:t>C 清洗行数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5175504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>
                <a:solidFill>
                  <a:srgbClr val="010328"/>
                </a:solidFill>
                <a:latin typeface="微软雅黑"/>
              </a:rPr>
              <a:t>D 清洗耗时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5760720"/>
            <a:ext cx="10515600" cy="822960"/>
          </a:xfrm>
          <a:prstGeom prst="roundRect">
            <a:avLst/>
          </a:prstGeom>
          <a:solidFill>
            <a:srgbClr val="FAEEDA"/>
          </a:solidFill>
          <a:ln w="15240">
            <a:solidFill>
              <a:srgbClr val="F567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5852160"/>
            <a:ext cx="100584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010328"/>
                </a:solidFill>
                <a:latin typeface="微软雅黑"/>
              </a:rPr>
              <a:t>教师操作：快问+2分，强调'可量化'。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EF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457200"/>
            <a:ext cx="11064240" cy="914400"/>
          </a:xfrm>
          <a:prstGeom prst="roundRect">
            <a:avLst/>
          </a:prstGeom>
          <a:solidFill>
            <a:srgbClr val="F5670F"/>
          </a:solidFill>
          <a:ln w="15240">
            <a:solidFill>
              <a:srgbClr val="F567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94360"/>
            <a:ext cx="8686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微软雅黑"/>
              </a:rPr>
              <a:t>游戏2 答案与讲评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645920"/>
            <a:ext cx="105156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993C1D"/>
                </a:solidFill>
                <a:latin typeface="微软雅黑"/>
              </a:rPr>
              <a:t>正确答案：A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2560320"/>
            <a:ext cx="10515600" cy="2011680"/>
          </a:xfrm>
          <a:prstGeom prst="roundRect">
            <a:avLst/>
          </a:prstGeom>
          <a:solidFill>
            <a:srgbClr val="EAF3DE"/>
          </a:solidFill>
          <a:ln w="15240">
            <a:solidFill>
              <a:srgbClr val="3B6D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743200"/>
            <a:ext cx="10058400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010328"/>
                </a:solidFill>
                <a:latin typeface="微软雅黑"/>
              </a:rPr>
              <a:t>为什么是这个答案</a:t>
            </a:r>
          </a:p>
          <a:p>
            <a:pPr algn="l">
              <a:lnSpc>
                <a:spcPct val="100000"/>
              </a:lnSpc>
            </a:pPr>
            <a:r>
              <a:rPr sz="1500" b="0">
                <a:solidFill>
                  <a:srgbClr val="010328"/>
                </a:solidFill>
                <a:latin typeface="微软雅黑"/>
              </a:rPr>
              <a:t/>
            </a:r>
          </a:p>
          <a:p>
            <a:pPr algn="l">
              <a:lnSpc>
                <a:spcPct val="100000"/>
              </a:lnSpc>
            </a:pPr>
            <a:r>
              <a:rPr sz="1500" b="0">
                <a:solidFill>
                  <a:srgbClr val="010328"/>
                </a:solidFill>
                <a:latin typeface="微软雅黑"/>
              </a:rPr>
              <a:t>质量分=完整率×合理率，把'洗得多干净'变成可比较的数字。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937760"/>
            <a:ext cx="105156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44546A"/>
                </a:solidFill>
                <a:latin typeface="微软雅黑"/>
              </a:rPr>
              <a:t>评分建议：答对+2分；答错不扣分但需说出理由；思路对一半+1分。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EF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457200"/>
            <a:ext cx="11064240" cy="914400"/>
          </a:xfrm>
          <a:prstGeom prst="roundRect">
            <a:avLst/>
          </a:prstGeom>
          <a:solidFill>
            <a:srgbClr val="00A6A6"/>
          </a:solidFill>
          <a:ln w="15240"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94360"/>
            <a:ext cx="8686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微软雅黑"/>
              </a:rPr>
              <a:t>复盘口诀｜W04 数据清洗与质量评估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737360"/>
            <a:ext cx="10515600" cy="3108960"/>
          </a:xfrm>
          <a:prstGeom prst="roundRect">
            <a:avLst/>
          </a:prstGeom>
          <a:solidFill>
            <a:srgbClr val="F1EFE8"/>
          </a:solidFill>
          <a:ln w="15240"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920240"/>
            <a:ext cx="10058400" cy="2743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>
                <a:solidFill>
                  <a:srgbClr val="010328"/>
                </a:solidFill>
                <a:latin typeface="微软雅黑"/>
              </a:rPr>
              <a:t>一句话记住本课：</a:t>
            </a:r>
          </a:p>
          <a:p>
            <a:pPr algn="l">
              <a:lnSpc>
                <a:spcPct val="100000"/>
              </a:lnSpc>
            </a:pPr>
            <a:r>
              <a:rPr sz="1600" b="0">
                <a:solidFill>
                  <a:srgbClr val="010328"/>
                </a:solidFill>
                <a:latin typeface="微软雅黑"/>
              </a:rPr>
              <a:t>双解互验·质量分</a:t>
            </a:r>
          </a:p>
          <a:p>
            <a:pPr algn="l">
              <a:lnSpc>
                <a:spcPct val="100000"/>
              </a:lnSpc>
            </a:pPr>
            <a:r>
              <a:rPr sz="1600" b="0">
                <a:solidFill>
                  <a:srgbClr val="010328"/>
                </a:solidFill>
                <a:latin typeface="微软雅黑"/>
              </a:rPr>
              <a:t/>
            </a:r>
          </a:p>
          <a:p>
            <a:pPr algn="l">
              <a:lnSpc>
                <a:spcPct val="100000"/>
              </a:lnSpc>
            </a:pPr>
            <a:r>
              <a:rPr sz="1600" b="0">
                <a:solidFill>
                  <a:srgbClr val="010328"/>
                </a:solidFill>
                <a:latin typeface="微软雅黑"/>
              </a:rPr>
              <a:t>课堂节奏建议：</a:t>
            </a:r>
          </a:p>
          <a:p>
            <a:pPr algn="l">
              <a:lnSpc>
                <a:spcPct val="100000"/>
              </a:lnSpc>
            </a:pPr>
            <a:r>
              <a:rPr sz="1600" b="0">
                <a:solidFill>
                  <a:srgbClr val="010328"/>
                </a:solidFill>
                <a:latin typeface="微软雅黑"/>
              </a:rPr>
              <a:t>游戏A（5分钟）→ 精讲 → 游戏B（5分钟）→ 复盘口诀（2分钟）</a:t>
            </a:r>
          </a:p>
          <a:p>
            <a:pPr algn="l">
              <a:lnSpc>
                <a:spcPct val="100000"/>
              </a:lnSpc>
            </a:pPr>
            <a:r>
              <a:rPr sz="1600" b="0">
                <a:solidFill>
                  <a:srgbClr val="010328"/>
                </a:solidFill>
                <a:latin typeface="微软雅黑"/>
              </a:rPr>
              <a:t>全班计分：小组积分累计到工单评分（游戏加分≤5分，教师自定义）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EF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743200"/>
            <a:ext cx="105156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3000" b="1">
                <a:solidFill>
                  <a:srgbClr val="00A6A6"/>
                </a:solidFill>
                <a:latin typeface="微软雅黑"/>
              </a:rPr>
              <a:t>玩中学 · 学中做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3749039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>
                <a:solidFill>
                  <a:srgbClr val="44546A"/>
                </a:solidFill>
                <a:latin typeface="微软雅黑"/>
              </a:rPr>
              <a:t>重庆两江智造集团 · 05-AI应用基础48课时版 · W04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