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914400"/>
            <a:ext cx="10515600" cy="1737360"/>
          </a:xfrm>
          <a:prstGeom prst="roundRect">
            <a:avLst/>
          </a:prstGeom>
          <a:solidFill>
            <a:srgbClr val="3D2E8C"/>
          </a:solidFill>
          <a:ln w="15240">
            <a:solidFill>
              <a:srgbClr val="3D2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1143000"/>
            <a:ext cx="9875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微软雅黑"/>
              </a:rPr>
              <a:t>01 · W04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1783080"/>
            <a:ext cx="9875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微软雅黑"/>
              </a:rPr>
              <a:t>互动游戏课件 · 让机器学会判断设备是否故障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2608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3D2E8C"/>
                </a:solidFill>
                <a:latin typeface="微软雅黑"/>
              </a:rPr>
              <a:t>本课重难点：混淆矩阵·漏报代价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49039"/>
            <a:ext cx="105156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44546A"/>
                </a:solidFill>
                <a:latin typeface="微软雅黑"/>
              </a:rPr>
              <a:t>本册含 2 个课堂互动游戏 + 答案讲评 + 复盘口诀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44546A"/>
                </a:solidFill>
                <a:latin typeface="微软雅黑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44546A"/>
                </a:solidFill>
                <a:latin typeface="微软雅黑"/>
              </a:rPr>
              <a:t>教师操作要点见右侧提示（每题标注时间与计分）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7607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44546A"/>
                </a:solidFill>
                <a:latin typeface="微软雅黑"/>
              </a:rPr>
              <a:t>配套教师手册：互动游戏教师手册.md ｜ 与工单、工程化项目同一载体：重庆两江智造集团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1064240" cy="914400"/>
          </a:xfrm>
          <a:prstGeom prst="roundRect">
            <a:avLst/>
          </a:prstGeom>
          <a:solidFill>
            <a:srgbClr val="3D2E8C"/>
          </a:solidFill>
          <a:ln w="15240">
            <a:solidFill>
              <a:srgbClr val="3D2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游戏1 · ?  课前快问｜W04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10328"/>
                </a:solidFill>
                <a:latin typeface="微软雅黑"/>
              </a:rPr>
              <a:t>监督学习中'分类'与'回归'的区别是什么？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834640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D2E8C"/>
                </a:solidFill>
                <a:latin typeface="微软雅黑"/>
              </a:rPr>
              <a:t>选项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004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A 分类输出离散类别，回归输出连续数值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858768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B 分类需要GPU，回归不需要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517136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C 分类只能二选一，回归可以多选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175504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D 没有区别，叫法不同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760720"/>
            <a:ext cx="10515600" cy="822960"/>
          </a:xfrm>
          <a:prstGeom prst="roundRect">
            <a:avLst/>
          </a:prstGeom>
          <a:solidFill>
            <a:srgbClr val="FAEEDA"/>
          </a:solidFill>
          <a:ln w="15240">
            <a:solidFill>
              <a:srgbClr val="F567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85216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010328"/>
                </a:solidFill>
                <a:latin typeface="微软雅黑"/>
              </a:rPr>
              <a:t>教师操作：全班举手投票 A/B/C/D，公布答案后追问：本课工单是分类还是回归？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1064240" cy="914400"/>
          </a:xfrm>
          <a:prstGeom prst="roundRect">
            <a:avLst/>
          </a:prstGeom>
          <a:solidFill>
            <a:srgbClr val="F5670F"/>
          </a:solidFill>
          <a:ln w="15240">
            <a:solidFill>
              <a:srgbClr val="F567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游戏1 答案与讲评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993C1D"/>
                </a:solidFill>
                <a:latin typeface="微软雅黑"/>
              </a:rPr>
              <a:t>正确答案：A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560320"/>
            <a:ext cx="10515600" cy="2011680"/>
          </a:xfrm>
          <a:prstGeom prst="roundRect">
            <a:avLst/>
          </a:prstGeom>
          <a:solidFill>
            <a:srgbClr val="EAF3DE"/>
          </a:solidFill>
          <a:ln w="15240">
            <a:solidFill>
              <a:srgbClr val="3B6D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743200"/>
            <a:ext cx="100584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010328"/>
                </a:solidFill>
                <a:latin typeface="微软雅黑"/>
              </a:rPr>
              <a:t>为什么是这个答案</a:t>
            </a:r>
          </a:p>
          <a:p>
            <a:pPr algn="l">
              <a:lnSpc>
                <a:spcPct val="100000"/>
              </a:lnSpc>
            </a:pPr>
            <a:r>
              <a:rPr sz="1500" b="0">
                <a:solidFill>
                  <a:srgbClr val="010328"/>
                </a:solidFill>
                <a:latin typeface="微软雅黑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500" b="0">
                <a:solidFill>
                  <a:srgbClr val="010328"/>
                </a:solidFill>
                <a:latin typeface="微软雅黑"/>
              </a:rPr>
              <a:t>分类=贴标签（故障/正常），回归=预测数值（剩余寿命）。识别区别是选模型第一步。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93776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44546A"/>
                </a:solidFill>
                <a:latin typeface="微软雅黑"/>
              </a:rPr>
              <a:t>评分建议：答对+2分；答错不扣分但需说出理由；思路对一半+1分。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1064240" cy="914400"/>
          </a:xfrm>
          <a:prstGeom prst="roundRect">
            <a:avLst/>
          </a:prstGeom>
          <a:solidFill>
            <a:srgbClr val="3D2E8C"/>
          </a:solidFill>
          <a:ln w="15240">
            <a:solidFill>
              <a:srgbClr val="3D2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游戏2 · ✓✗ 举牌判断｜W04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10328"/>
                </a:solidFill>
                <a:latin typeface="微软雅黑"/>
              </a:rPr>
              <a:t>漏报（故障判为正常）比误报（正常判为故障）更贵——产线场景你同意吗？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834640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D2E8C"/>
                </a:solidFill>
                <a:latin typeface="微软雅黑"/>
              </a:rPr>
              <a:t>选项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004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A 对——漏检坏件流入下游，代价是批量返工与停机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858768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B 错——误报停机检查更贵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517136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C 视设备而定，没有绝对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175504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D 两个都便宜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760720"/>
            <a:ext cx="10515600" cy="822960"/>
          </a:xfrm>
          <a:prstGeom prst="roundRect">
            <a:avLst/>
          </a:prstGeom>
          <a:solidFill>
            <a:srgbClr val="FAEEDA"/>
          </a:solidFill>
          <a:ln w="15240">
            <a:solidFill>
              <a:srgbClr val="F567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85216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010328"/>
                </a:solidFill>
                <a:latin typeface="微软雅黑"/>
              </a:rPr>
              <a:t>教师操作：先让'反对派'发言2分钟，再揭晓——漏报是产线最贵的错误。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1064240" cy="914400"/>
          </a:xfrm>
          <a:prstGeom prst="roundRect">
            <a:avLst/>
          </a:prstGeom>
          <a:solidFill>
            <a:srgbClr val="F5670F"/>
          </a:solidFill>
          <a:ln w="15240">
            <a:solidFill>
              <a:srgbClr val="F567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游戏2 答案与讲评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993C1D"/>
                </a:solidFill>
                <a:latin typeface="微软雅黑"/>
              </a:rPr>
              <a:t>正确答案：A（课堂讨论，可给B合理分）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560320"/>
            <a:ext cx="10515600" cy="2011680"/>
          </a:xfrm>
          <a:prstGeom prst="roundRect">
            <a:avLst/>
          </a:prstGeom>
          <a:solidFill>
            <a:srgbClr val="EAF3DE"/>
          </a:solidFill>
          <a:ln w="15240">
            <a:solidFill>
              <a:srgbClr val="3B6D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743200"/>
            <a:ext cx="100584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010328"/>
                </a:solidFill>
                <a:latin typeface="微软雅黑"/>
              </a:rPr>
              <a:t>为什么是这个答案</a:t>
            </a:r>
          </a:p>
          <a:p>
            <a:pPr algn="l">
              <a:lnSpc>
                <a:spcPct val="100000"/>
              </a:lnSpc>
            </a:pPr>
            <a:r>
              <a:rPr sz="1500" b="0">
                <a:solidFill>
                  <a:srgbClr val="010328"/>
                </a:solidFill>
                <a:latin typeface="微软雅黑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500" b="0">
                <a:solidFill>
                  <a:srgbClr val="010328"/>
                </a:solidFill>
                <a:latin typeface="微软雅黑"/>
              </a:rPr>
              <a:t>漏报=问题藏进系统里（最贵），误报=多一次检查（较便宜）。本课把漏报单独统计即为此。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93776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44546A"/>
                </a:solidFill>
                <a:latin typeface="微软雅黑"/>
              </a:rPr>
              <a:t>评分建议：答对+2分；答错不扣分但需说出理由；思路对一半+1分。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1064240" cy="914400"/>
          </a:xfrm>
          <a:prstGeom prst="roundRect">
            <a:avLst/>
          </a:prstGeom>
          <a:solidFill>
            <a:srgbClr val="3D2E8C"/>
          </a:solidFill>
          <a:ln w="15240">
            <a:solidFill>
              <a:srgbClr val="3D2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复盘口诀｜W04 让机器学会判断设备是否故障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737360"/>
            <a:ext cx="10515600" cy="3108960"/>
          </a:xfrm>
          <a:prstGeom prst="roundRect">
            <a:avLst/>
          </a:prstGeom>
          <a:solidFill>
            <a:srgbClr val="F1EFE8"/>
          </a:solidFill>
          <a:ln w="15240">
            <a:solidFill>
              <a:srgbClr val="3D2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920240"/>
            <a:ext cx="100584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一句话记住本课：</a:t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混淆矩阵·漏报代价</a:t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课堂节奏建议：</a:t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游戏A（5分钟）→ 精讲 → 游戏B（5分钟）→ 复盘口诀（2分钟）</a:t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全班计分：小组积分累计到工单评分（游戏加分≤5分，教师自定义）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3D2E8C"/>
                </a:solidFill>
                <a:latin typeface="微软雅黑"/>
              </a:rPr>
              <a:t>玩中学 · 学中做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749039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44546A"/>
                </a:solidFill>
                <a:latin typeface="微软雅黑"/>
              </a:rPr>
              <a:t>重庆两江智造集团 · 01-AI应用基础 · W04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