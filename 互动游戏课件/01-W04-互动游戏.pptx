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914400"/>
            <a:ext cx="10515600" cy="1737360"/>
          </a:xfrm>
          <a:prstGeom prst="roundRect">
            <a:avLst/>
          </a:prstGeom>
          <a:solidFill>
            <a:srgbClr val="3D2E8C"/>
          </a:solidFill>
          <a:ln w="15240">
            <a:solidFill>
              <a:srgbClr val="3D2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430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01 · W04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互动游戏课件 · 让机器学会判断设备是否故障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3D2E8C"/>
                </a:solidFill>
                <a:latin typeface="微软雅黑"/>
              </a:rPr>
              <a:t>本课重难点：混淆矩阵·漏报代价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本册含 2 个课堂互动游戏 + 答案讲评 + 复盘口诀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教师操作要点见右侧提示（每题标注时间与计分）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4546A"/>
                </a:solidFill>
                <a:latin typeface="微软雅黑"/>
              </a:rPr>
              <a:t>配套教师手册：互动游戏教师手册.md ｜ 与工单、工程化项目同一载体：重庆两江智造集团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3D2E8C"/>
          </a:solidFill>
          <a:ln w="15240">
            <a:solidFill>
              <a:srgbClr val="3D2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· ?  课前快问｜W04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监督学习中'分类'与'回归'的区别是什么？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分类输出离散类别，回归输出连续数值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分类需要GPU，回归不需要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分类只能二选一，回归可以多选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没有区别，叫法不同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教师操作：全班举手投票 A/B/C/D，公布答案后追问：本课工单是分类还是回归？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分类=贴标签（故障/正常），回归=预测数值（剩余寿命）。识别区别是选模型第一步。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3D2E8C"/>
          </a:solidFill>
          <a:ln w="15240">
            <a:solidFill>
              <a:srgbClr val="3D2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· ✓✗ 举牌判断｜W04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漏报（故障判为正常）比误报（正常判为故障）更贵——产线场景你同意吗？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对——漏检坏件流入下游，代价是批量返工与停机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错——误报停机检查更贵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视设备而定，没有绝对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两个都便宜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教师操作：先让'反对派'发言2分钟，再揭晓——漏报是产线最贵的错误。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正确答案：A（课堂讨论，可给B合理分）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漏报=问题藏进系统里（最贵），误报=多一次检查（较便宜）。本课把漏报单独统计即为此。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3D2E8C"/>
          </a:solidFill>
          <a:ln w="15240">
            <a:solidFill>
              <a:srgbClr val="3D2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复盘口诀｜W04 让机器学会判断设备是否故障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3108960"/>
          </a:xfrm>
          <a:prstGeom prst="roundRect">
            <a:avLst/>
          </a:prstGeom>
          <a:solidFill>
            <a:srgbClr val="F1EFE8"/>
          </a:solidFill>
          <a:ln w="15240">
            <a:solidFill>
              <a:srgbClr val="3D2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一句话记住本课：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混淆矩阵·漏报代价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课堂节奏建议：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游戏A（5分钟）→ 精讲 → 游戏B（5分钟）→ 复盘口诀（2分钟）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全班计分：小组积分累计到工单评分（游戏加分≤5分，教师自定义）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3D2E8C"/>
                </a:solidFill>
                <a:latin typeface="微软雅黑"/>
              </a:rPr>
              <a:t>玩中学 · 学中做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重庆两江智造集团 · 01-AI应用基础 · W04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432000"/>
            <a:ext cx="8100000" cy="5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/>
              <a:t>安全与合规警示（操作前必读）</a:t>
            </a:r>
          </a:p>
          <a:p>
            <a:pPr>
              <a:spcAft>
                <a:spcPts val="800"/>
              </a:spcAft>
            </a:pPr>
            <a:r>
              <a:rPr sz="1400" b="0"/>
              <a:t>1. 上机前确认本工位电源开关与急停位置，确认设备处于安全状态。</a:t>
            </a:r>
          </a:p>
          <a:p>
            <a:pPr>
              <a:spcAft>
                <a:spcPts val="800"/>
              </a:spcAft>
            </a:pPr>
            <a:r>
              <a:rPr sz="1400" b="0"/>
              <a:t>2. 涉及接线的操作一律先断电、后验电、再作业，禁止带电插拔。</a:t>
            </a:r>
          </a:p>
          <a:p>
            <a:pPr>
              <a:spcAft>
                <a:spcPts val="800"/>
              </a:spcAft>
            </a:pPr>
            <a:r>
              <a:rPr sz="1400" b="0"/>
              <a:t>3. 身体任何部位不进入设备运动/散热区域，长发束起，不佩戴悬垂饰物。</a:t>
            </a:r>
          </a:p>
          <a:p>
            <a:pPr>
              <a:spcAft>
                <a:spcPts val="800"/>
              </a:spcAft>
            </a:pPr>
            <a:r>
              <a:rPr sz="1400" b="0"/>
              <a:t>4. 调试程序前先静态检查、再低速小样本试运行，确认无异常后放大规模。</a:t>
            </a:r>
          </a:p>
          <a:p>
            <a:pPr>
              <a:spcAft>
                <a:spcPts val="800"/>
              </a:spcAft>
            </a:pPr>
            <a:r>
              <a:rPr sz="1400" b="0"/>
              <a:t>5. 任何不确定或异常情况，立即停止操作并报告指导教师，不擅自处置。</a:t>
            </a:r>
          </a:p>
          <a:p>
            <a:pPr>
              <a:spcAft>
                <a:spcPts val="800"/>
              </a:spcAft>
            </a:pPr>
            <a:r>
              <a:rPr sz="1400" b="0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