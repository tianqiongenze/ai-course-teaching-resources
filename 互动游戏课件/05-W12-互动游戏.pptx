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914400"/>
            <a:ext cx="10515600" cy="1737360"/>
          </a:xfrm>
          <a:prstGeom prst="roundRect">
            <a:avLst/>
          </a:prstGeom>
          <a:solidFill>
            <a:srgbClr val="00A6A6"/>
          </a:solidFill>
          <a:ln w="1524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1143000"/>
            <a:ext cx="9875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微软雅黑"/>
              </a:rPr>
              <a:t>05 · W12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1783080"/>
            <a:ext cx="9875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微软雅黑"/>
              </a:rPr>
              <a:t>互动游戏课件 · LLM故障诊断·三版Prompt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2608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00A6A6"/>
                </a:solidFill>
                <a:latin typeface="微软雅黑"/>
              </a:rPr>
              <a:t>本课重难点：Prompt价值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49039"/>
            <a:ext cx="105156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44546A"/>
                </a:solidFill>
                <a:latin typeface="微软雅黑"/>
              </a:rPr>
              <a:t>本册含 2 个课堂互动游戏 + 答案讲评 + 复盘口诀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44546A"/>
                </a:solidFill>
                <a:latin typeface="微软雅黑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44546A"/>
                </a:solidFill>
                <a:latin typeface="微软雅黑"/>
              </a:rPr>
              <a:t>教师操作要点见右侧提示（每题标注时间与计分）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76072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44546A"/>
                </a:solidFill>
                <a:latin typeface="微软雅黑"/>
              </a:rPr>
              <a:t>配套教师手册：互动游戏教师手册.md ｜ 与工单、工程化项目同一载体：重庆两江智造集团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1064240" cy="914400"/>
          </a:xfrm>
          <a:prstGeom prst="roundRect">
            <a:avLst/>
          </a:prstGeom>
          <a:solidFill>
            <a:srgbClr val="00A6A6"/>
          </a:solidFill>
          <a:ln w="1524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8686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游戏1 · ?  课前快问｜W12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10328"/>
                </a:solidFill>
                <a:latin typeface="微软雅黑"/>
              </a:rPr>
              <a:t>同一个问题，朴素/角色/示例三种问法，哪种效果最好？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834640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0A6A6"/>
                </a:solidFill>
                <a:latin typeface="微软雅黑"/>
              </a:rPr>
              <a:t>选项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0040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A 示例(Few-shot)通常最好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858768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B 朴素最好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517136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C 完全一样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175504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D 角色最差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760720"/>
            <a:ext cx="10515600" cy="822960"/>
          </a:xfrm>
          <a:prstGeom prst="roundRect">
            <a:avLst/>
          </a:prstGeom>
          <a:solidFill>
            <a:srgbClr val="FAEEDA"/>
          </a:solidFill>
          <a:ln w="15240">
            <a:solidFill>
              <a:srgbClr val="F567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85216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010328"/>
                </a:solidFill>
                <a:latin typeface="微软雅黑"/>
              </a:rPr>
              <a:t>教师操作：现场跑三版对比（工单可注入LLM通道）。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1064240" cy="914400"/>
          </a:xfrm>
          <a:prstGeom prst="roundRect">
            <a:avLst/>
          </a:prstGeom>
          <a:solidFill>
            <a:srgbClr val="F5670F"/>
          </a:solidFill>
          <a:ln w="15240">
            <a:solidFill>
              <a:srgbClr val="F567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8686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游戏1 答案与讲评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993C1D"/>
                </a:solidFill>
                <a:latin typeface="微软雅黑"/>
              </a:rPr>
              <a:t>正确答案：A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560320"/>
            <a:ext cx="10515600" cy="2011680"/>
          </a:xfrm>
          <a:prstGeom prst="roundRect">
            <a:avLst/>
          </a:prstGeom>
          <a:solidFill>
            <a:srgbClr val="EAF3DE"/>
          </a:solidFill>
          <a:ln w="15240">
            <a:solidFill>
              <a:srgbClr val="3B6D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743200"/>
            <a:ext cx="100584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010328"/>
                </a:solidFill>
                <a:latin typeface="微软雅黑"/>
              </a:rPr>
              <a:t>为什么是这个答案</a:t>
            </a:r>
          </a:p>
          <a:p>
            <a:pPr algn="l">
              <a:lnSpc>
                <a:spcPct val="100000"/>
              </a:lnSpc>
            </a:pPr>
            <a:r>
              <a:rPr sz="1500" b="0">
                <a:solidFill>
                  <a:srgbClr val="010328"/>
                </a:solidFill>
                <a:latin typeface="微软雅黑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500" b="0">
                <a:solidFill>
                  <a:srgbClr val="010328"/>
                </a:solidFill>
                <a:latin typeface="微软雅黑"/>
              </a:rPr>
              <a:t>示例=给'标准答案的样子'，模型模仿更稳——Prompt工程核心。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93776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44546A"/>
                </a:solidFill>
                <a:latin typeface="微软雅黑"/>
              </a:rPr>
              <a:t>评分建议：答对+2分；答错不扣分但需说出理由；思路对一半+1分。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1064240" cy="914400"/>
          </a:xfrm>
          <a:prstGeom prst="roundRect">
            <a:avLst/>
          </a:prstGeom>
          <a:solidFill>
            <a:srgbClr val="00A6A6"/>
          </a:solidFill>
          <a:ln w="1524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8686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游戏2 · ✎ 动手小实验｜W12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10328"/>
                </a:solidFill>
                <a:latin typeface="微软雅黑"/>
              </a:rPr>
              <a:t>2分钟：给'电机异响发热'写一个'角色式'Prompt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834640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0A6A6"/>
                </a:solidFill>
                <a:latin typeface="微软雅黑"/>
              </a:rPr>
              <a:t>选项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0040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44546A"/>
                </a:solidFill>
                <a:latin typeface="微软雅黑"/>
              </a:rPr>
              <a:t>（自由作答：白板/纸面/口头均可）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5760720"/>
            <a:ext cx="10515600" cy="822960"/>
          </a:xfrm>
          <a:prstGeom prst="roundRect">
            <a:avLst/>
          </a:prstGeom>
          <a:solidFill>
            <a:srgbClr val="FAEEDA"/>
          </a:solidFill>
          <a:ln w="15240">
            <a:solidFill>
              <a:srgbClr val="F567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585216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010328"/>
                </a:solidFill>
                <a:latin typeface="微软雅黑"/>
              </a:rPr>
              <a:t>教师操作：各组念自己的Prompt，互评谁最'专业'。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1064240" cy="914400"/>
          </a:xfrm>
          <a:prstGeom prst="roundRect">
            <a:avLst/>
          </a:prstGeom>
          <a:solidFill>
            <a:srgbClr val="F5670F"/>
          </a:solidFill>
          <a:ln w="15240">
            <a:solidFill>
              <a:srgbClr val="F567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8686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游戏2 答案与讲评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993C1D"/>
                </a:solidFill>
                <a:latin typeface="微软雅黑"/>
              </a:rPr>
              <a:t>正确答案：例：你是设备运维工程师，请基于振动知识给出处置建议…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560320"/>
            <a:ext cx="10515600" cy="2011680"/>
          </a:xfrm>
          <a:prstGeom prst="roundRect">
            <a:avLst/>
          </a:prstGeom>
          <a:solidFill>
            <a:srgbClr val="EAF3DE"/>
          </a:solidFill>
          <a:ln w="15240">
            <a:solidFill>
              <a:srgbClr val="3B6D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743200"/>
            <a:ext cx="100584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010328"/>
                </a:solidFill>
                <a:latin typeface="微软雅黑"/>
              </a:rPr>
              <a:t>为什么是这个答案</a:t>
            </a:r>
          </a:p>
          <a:p>
            <a:pPr algn="l">
              <a:lnSpc>
                <a:spcPct val="100000"/>
              </a:lnSpc>
            </a:pPr>
            <a:r>
              <a:rPr sz="1500" b="0">
                <a:solidFill>
                  <a:srgbClr val="010328"/>
                </a:solidFill>
                <a:latin typeface="微软雅黑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500" b="0">
                <a:solidFill>
                  <a:srgbClr val="010328"/>
                </a:solidFill>
                <a:latin typeface="微软雅黑"/>
              </a:rPr>
              <a:t>角色=约束输出视角；动手写才有体感。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93776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44546A"/>
                </a:solidFill>
                <a:latin typeface="微软雅黑"/>
              </a:rPr>
              <a:t>评分建议：答对+2分；答错不扣分但需说出理由；思路对一半+1分。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1064240" cy="914400"/>
          </a:xfrm>
          <a:prstGeom prst="roundRect">
            <a:avLst/>
          </a:prstGeom>
          <a:solidFill>
            <a:srgbClr val="00A6A6"/>
          </a:solidFill>
          <a:ln w="1524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8686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复盘口诀｜W12 LLM故障诊断·三版Prompt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737360"/>
            <a:ext cx="10515600" cy="3108960"/>
          </a:xfrm>
          <a:prstGeom prst="roundRect">
            <a:avLst/>
          </a:prstGeom>
          <a:solidFill>
            <a:srgbClr val="F1EFE8"/>
          </a:solidFill>
          <a:ln w="1524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920240"/>
            <a:ext cx="1005840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一句话记住本课：</a:t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Prompt价值</a:t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课堂节奏建议：</a:t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游戏A（5分钟）→ 精讲 → 游戏B（5分钟）→ 复盘口诀（2分钟）</a:t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全班计分：小组积分累计到工单评分（游戏加分≤5分，教师自定义）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74320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00A6A6"/>
                </a:solidFill>
                <a:latin typeface="微软雅黑"/>
              </a:rPr>
              <a:t>玩中学 · 学中做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749039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44546A"/>
                </a:solidFill>
                <a:latin typeface="微软雅黑"/>
              </a:rPr>
              <a:t>重庆两江智造集团 · 05-AI应用基础48课时版 · W12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2000" y="432000"/>
            <a:ext cx="8100000" cy="57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/>
              <a:t>安全与合规警示（操作前必读）</a:t>
            </a:r>
          </a:p>
          <a:p>
            <a:pPr>
              <a:spcAft>
                <a:spcPts val="800"/>
              </a:spcAft>
            </a:pPr>
            <a:r>
              <a:rPr sz="1400" b="0"/>
              <a:t>1. 上机前确认本工位电源开关与急停位置，确认设备处于安全状态。</a:t>
            </a:r>
          </a:p>
          <a:p>
            <a:pPr>
              <a:spcAft>
                <a:spcPts val="800"/>
              </a:spcAft>
            </a:pPr>
            <a:r>
              <a:rPr sz="1400" b="0"/>
              <a:t>2. 涉及接线的操作一律先断电、后验电、再作业，禁止带电插拔。</a:t>
            </a:r>
          </a:p>
          <a:p>
            <a:pPr>
              <a:spcAft>
                <a:spcPts val="800"/>
              </a:spcAft>
            </a:pPr>
            <a:r>
              <a:rPr sz="1400" b="0"/>
              <a:t>3. 身体任何部位不进入设备运动/散热区域，长发束起，不佩戴悬垂饰物。</a:t>
            </a:r>
          </a:p>
          <a:p>
            <a:pPr>
              <a:spcAft>
                <a:spcPts val="800"/>
              </a:spcAft>
            </a:pPr>
            <a:r>
              <a:rPr sz="1400" b="0"/>
              <a:t>4. 调试程序前先静态检查、再低速小样本试运行，确认无异常后放大规模。</a:t>
            </a:r>
          </a:p>
          <a:p>
            <a:pPr>
              <a:spcAft>
                <a:spcPts val="800"/>
              </a:spcAft>
            </a:pPr>
            <a:r>
              <a:rPr sz="1400" b="0"/>
              <a:t>5. 任何不确定或异常情况，立即停止操作并报告指导教师，不擅自处置。</a:t>
            </a:r>
          </a:p>
          <a:p>
            <a:pPr>
              <a:spcAft>
                <a:spcPts val="800"/>
              </a:spcAft>
            </a:pPr>
            <a:r>
              <a:rPr sz="1400" b="0"/>
              <a:t>以上任一条违反，本次任务按课程标准「安全规范一票否决」条款记 0 分并中止实训。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